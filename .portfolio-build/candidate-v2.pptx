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2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Mandali" charset="1" panose="02000600000000000000"/>
      <p:regular r:id="rId15"/>
    </p:embeddedFont>
    <p:embeddedFont>
      <p:font typeface="Noto Sans Kr" charset="1" panose="020B02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notesMasters/notesMaster1.xml" Type="http://schemas.openxmlformats.org/officeDocument/2006/relationships/notesMaster"/><Relationship Id="rId13" Target="theme/theme2.xml" Type="http://schemas.openxmlformats.org/officeDocument/2006/relationships/theme"/><Relationship Id="rId14" Target="notesSlides/notesSlide1.xml" Type="http://schemas.openxmlformats.org/officeDocument/2006/relationships/notesSlide"/><Relationship Id="rId15" Target="fonts/font15.fntdata" Type="http://schemas.openxmlformats.org/officeDocument/2006/relationships/font"/><Relationship Id="rId16" Target="notesSlides/notesSlide2.xml" Type="http://schemas.openxmlformats.org/officeDocument/2006/relationships/notesSlide"/><Relationship Id="rId17" Target="notesSlides/notesSlide3.xml" Type="http://schemas.openxmlformats.org/officeDocument/2006/relationships/notesSlide"/><Relationship Id="rId18" Target="notesSlides/notesSlide4.xml" Type="http://schemas.openxmlformats.org/officeDocument/2006/relationships/notesSlide"/><Relationship Id="rId19" Target="notesSlides/notesSlide5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6.xml" Type="http://schemas.openxmlformats.org/officeDocument/2006/relationships/notesSlide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구성 자료: 이정민 전공소개서 원본(표지·프로필·석사 연구·시스템 개발·모델 실험).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학력·연구 실적·현재 교육: 전공소개서 원본 2p. 연구실 활동·Python·PyTorch 경험: 기존 Notion 포트폴리오.</a:t>
            </a:r>
          </a:p>
          <a:p>
            <a:r>
              <a:rPr lang="en-US"/>
              <a:t>https://momentous-loaf-283.notion.site/ML-bc41a73cf20b833c85b90151bffc455d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자료: 전공소개서 원본 3p의 석사 연구 제목, 설명, 확산식, 세 가지 물리량의 분포 그래프. 그래프의 축·데이터점·회귀선은 원본과 동일함.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구조 참고: A2A-MCP / Code_Vulnerability. 수치 출처: 전공소개서 원본 4p의 프로토타입 시험 기록. 분석 23/23개 파일, 3,524줄, 정적 분석 신호 18개(위험 호출 8·Secret 후보 10), 로컬 LLM 리뷰 18개. 개발 구조 요약과 프로토타입 시험 결과는 구분하여 제시함.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수치 출처: 전공소개서 원본 5p의 1차·재설계·2차 실험 기록. 1차는 DiverseVul 기반 평가, 2차는 NIST SARD/Juliet 기반 C/C++ 함수 및 지정 CWE 평가. 평가 데이터셋이 달라 직접적인 향상률 비교가 아님. 재설계 화면의 모델은 Qwen3-Coder-Next 80B, B200 2장. 원본의 진행 상태 문구는 데이터셋 구축 후 실증 테스트 예정으로 기재되어 있음.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표시한 변경 전후는 docs/API-SPEC.md의 Quick Start와 RandomForestGPU 상태 항목에서 발췌했다. Markdown 서식과 줄바꿈을 조정했으며, GitHub 화면 캡처가 아닌 편집 가능한 원문 발췌이다.</a:t>
            </a:r>
          </a:p>
          <a:p>
            <a:r>
              <a:t>출처: https://github.com/ModulabsRAPIDSLAB/GUAM/pull/213</a:t>
            </a:r>
          </a:p>
          <a:p>
            <a:r>
              <a:t>[DOC-05] 2026-08-19 저장소 문서 정합성 감사 (JEY-225). 작성자 jeongminllee. 2026-09-01 병합.</a:t>
            </a:r>
          </a:p>
          <a:p>
            <a:r>
              <a:t>병합 커밋: 71402104961eaef3dea24f8f93f385f30be1143a. PR HEAD: cc3e321f1c4037c966e49183bdfc50dc79cc5670.</a:t>
            </a:r>
          </a:p>
          <a:p>
            <a:r>
              <a:t>최종 병합 diff: 31개 파일, 380줄 추가, 143줄 삭제. 코드 변경은 주석·docstring이며 기능 구현 실적으로 제시하지 않는다.</a:t>
            </a:r>
          </a:p>
          <a:p>
            <a:r>
              <a:t>비GPU 테스트 1,595개 통과는 PR 본문의 2026-08-25 검증 기록이다. 최종 병합 HEAD에 대한 이번 재실행 결과가 아니며 GPU 성능 검증을 뜻하지 않는다.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https://github.com/gilbutITbook/080493/tree/main/Code_Vulnerability" TargetMode="External" Type="http://schemas.openxmlformats.org/officeDocument/2006/relationships/hyperlink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238863" y="-9525"/>
            <a:ext cx="6058662" cy="10306050"/>
            <a:chOff x="0" y="0"/>
            <a:chExt cx="8078216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078216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8078216">
                  <a:moveTo>
                    <a:pt x="0" y="0"/>
                  </a:moveTo>
                  <a:lnTo>
                    <a:pt x="8078216" y="0"/>
                  </a:lnTo>
                  <a:lnTo>
                    <a:pt x="8078216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162B4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905256"/>
            <a:ext cx="10424160" cy="516318"/>
            <a:chOff x="0" y="0"/>
            <a:chExt cx="13898880" cy="68842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898880" cy="688424"/>
            </a:xfrm>
            <a:custGeom>
              <a:avLst/>
              <a:gdLst/>
              <a:ahLst/>
              <a:cxnLst/>
              <a:rect r="r" b="b" t="t" l="l"/>
              <a:pathLst>
                <a:path h="688424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688424"/>
                  </a:lnTo>
                  <a:lnTo>
                    <a:pt x="0" y="6884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185" r="0" b="-32659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3898880" cy="7074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49"/>
                </a:lnSpc>
              </a:pPr>
              <a:r>
                <a:rPr lang="en-US" sz="1889" spc="7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목재 물리학</a:t>
              </a:r>
              <a:r>
                <a:rPr lang="en-US" sz="1889" spc="7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|  시스템 개발  |  LLM  | AutoML </a:t>
              </a:r>
            </a:p>
          </p:txBody>
        </p:sp>
      </p:grpSp>
      <p:sp>
        <p:nvSpPr>
          <p:cNvPr name="AutoShape 7" id="7"/>
          <p:cNvSpPr/>
          <p:nvPr/>
        </p:nvSpPr>
        <p:spPr>
          <a:xfrm>
            <a:off x="1013840" y="1740791"/>
            <a:ext cx="5541741" cy="0"/>
          </a:xfrm>
          <a:prstGeom prst="line">
            <a:avLst/>
          </a:prstGeom>
          <a:ln cap="rnd" w="28575">
            <a:solidFill>
              <a:srgbClr val="2859A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960120" y="2510028"/>
            <a:ext cx="10835640" cy="1941521"/>
            <a:chOff x="0" y="0"/>
            <a:chExt cx="14447520" cy="258869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447520" cy="2588695"/>
            </a:xfrm>
            <a:custGeom>
              <a:avLst/>
              <a:gdLst/>
              <a:ahLst/>
              <a:cxnLst/>
              <a:rect r="r" b="b" t="t" l="l"/>
              <a:pathLst>
                <a:path h="2588695" w="14447520">
                  <a:moveTo>
                    <a:pt x="0" y="0"/>
                  </a:moveTo>
                  <a:lnTo>
                    <a:pt x="14447520" y="0"/>
                  </a:lnTo>
                  <a:lnTo>
                    <a:pt x="14447520" y="2588695"/>
                  </a:lnTo>
                  <a:lnTo>
                    <a:pt x="0" y="25886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662" r="0" b="-3983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4447520" cy="2645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136"/>
                </a:lnSpc>
              </a:pPr>
              <a:r>
                <a:rPr lang="en-US" sz="7050" spc="2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포트폴리오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56132" y="4059936"/>
            <a:ext cx="9052560" cy="644652"/>
            <a:chOff x="0" y="0"/>
            <a:chExt cx="12070080" cy="85953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070080" cy="859536"/>
            </a:xfrm>
            <a:custGeom>
              <a:avLst/>
              <a:gdLst/>
              <a:ahLst/>
              <a:cxnLst/>
              <a:rect r="r" b="b" t="t" l="l"/>
              <a:pathLst>
                <a:path h="859536" w="12070080">
                  <a:moveTo>
                    <a:pt x="0" y="0"/>
                  </a:moveTo>
                  <a:lnTo>
                    <a:pt x="12070080" y="0"/>
                  </a:lnTo>
                  <a:lnTo>
                    <a:pt x="12070080" y="859536"/>
                  </a:lnTo>
                  <a:lnTo>
                    <a:pt x="0" y="8595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3619" r="0" b="-223619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2070080" cy="8976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3750" spc="14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이정민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69848" y="5678424"/>
            <a:ext cx="10081260" cy="1591056"/>
            <a:chOff x="0" y="0"/>
            <a:chExt cx="13441680" cy="212140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441680" cy="2121408"/>
            </a:xfrm>
            <a:custGeom>
              <a:avLst/>
              <a:gdLst/>
              <a:ahLst/>
              <a:cxnLst/>
              <a:rect r="r" b="b" t="t" l="l"/>
              <a:pathLst>
                <a:path h="2121408" w="13441680">
                  <a:moveTo>
                    <a:pt x="0" y="0"/>
                  </a:moveTo>
                  <a:lnTo>
                    <a:pt x="13441680" y="0"/>
                  </a:lnTo>
                  <a:lnTo>
                    <a:pt x="13441680" y="2121408"/>
                  </a:lnTo>
                  <a:lnTo>
                    <a:pt x="0" y="21214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61" r="0" b="-7346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13441680" cy="21880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11"/>
                </a:lnSpc>
              </a:pPr>
              <a:r>
                <a:rPr lang="en-US" sz="3600" spc="13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실험 데이터 분석에서</a:t>
              </a:r>
            </a:p>
            <a:p>
              <a:pPr algn="l">
                <a:lnSpc>
                  <a:spcPts val="5011"/>
                </a:lnSpc>
              </a:pPr>
              <a:r>
                <a:rPr lang="en-US" sz="3600" spc="13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로컬 LLM 개발·검증까지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83564" y="8778240"/>
            <a:ext cx="10012680" cy="397764"/>
            <a:chOff x="0" y="0"/>
            <a:chExt cx="13350240" cy="5303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350239" cy="530352"/>
            </a:xfrm>
            <a:custGeom>
              <a:avLst/>
              <a:gdLst/>
              <a:ahLst/>
              <a:cxnLst/>
              <a:rect r="r" b="b" t="t" l="l"/>
              <a:pathLst>
                <a:path h="530352" w="13350239">
                  <a:moveTo>
                    <a:pt x="0" y="0"/>
                  </a:moveTo>
                  <a:lnTo>
                    <a:pt x="13350239" y="0"/>
                  </a:lnTo>
                  <a:lnTo>
                    <a:pt x="13350239" y="530352"/>
                  </a:lnTo>
                  <a:lnTo>
                    <a:pt x="0" y="5303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0485" r="0" b="-44048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13350240" cy="5494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9"/>
                </a:lnSpc>
              </a:pPr>
              <a:r>
                <a:rPr lang="en-US" sz="2160" spc="8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임산공학 · 목재 물리학 석사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83564" y="9354312"/>
            <a:ext cx="10012680" cy="467599"/>
            <a:chOff x="0" y="0"/>
            <a:chExt cx="13350240" cy="62346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350239" cy="623465"/>
            </a:xfrm>
            <a:custGeom>
              <a:avLst/>
              <a:gdLst/>
              <a:ahLst/>
              <a:cxnLst/>
              <a:rect r="r" b="b" t="t" l="l"/>
              <a:pathLst>
                <a:path h="623465" w="13350239">
                  <a:moveTo>
                    <a:pt x="0" y="0"/>
                  </a:moveTo>
                  <a:lnTo>
                    <a:pt x="13350239" y="0"/>
                  </a:lnTo>
                  <a:lnTo>
                    <a:pt x="13350239" y="623465"/>
                  </a:lnTo>
                  <a:lnTo>
                    <a:pt x="0" y="6234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4966" r="0" b="-34949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13350240" cy="642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16"/>
                </a:lnSpc>
              </a:pPr>
              <a:r>
                <a:rPr lang="en-US" sz="1710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연구 · 시스템 구현 · 모델 개선, 프레임워크 개발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030200" y="946404"/>
            <a:ext cx="4457700" cy="1110996"/>
            <a:chOff x="0" y="0"/>
            <a:chExt cx="5943600" cy="148132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943600" cy="1481328"/>
            </a:xfrm>
            <a:custGeom>
              <a:avLst/>
              <a:gdLst/>
              <a:ahLst/>
              <a:cxnLst/>
              <a:rect r="r" b="b" t="t" l="l"/>
              <a:pathLst>
                <a:path h="1481328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481328"/>
                  </a:lnTo>
                  <a:lnTo>
                    <a:pt x="0" y="14813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180" r="0" b="-2818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5943600" cy="15003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17"/>
                </a:lnSpc>
              </a:pPr>
              <a:r>
                <a:rPr lang="en-US" sz="3029" spc="11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RESEARCH &amp;</a:t>
              </a:r>
            </a:p>
            <a:p>
              <a:pPr algn="l">
                <a:lnSpc>
                  <a:spcPts val="3817"/>
                </a:lnSpc>
              </a:pPr>
              <a:r>
                <a:rPr lang="en-US" sz="3029" spc="11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ENGINEERING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042685" y="2166180"/>
            <a:ext cx="3977640" cy="836639"/>
            <a:chOff x="0" y="0"/>
            <a:chExt cx="5303520" cy="111551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303520" cy="1115519"/>
            </a:xfrm>
            <a:custGeom>
              <a:avLst/>
              <a:gdLst/>
              <a:ahLst/>
              <a:cxnLst/>
              <a:rect r="r" b="b" t="t" l="l"/>
              <a:pathLst>
                <a:path h="1115519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1115519"/>
                  </a:lnTo>
                  <a:lnTo>
                    <a:pt x="0" y="11155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128" r="0" b="-2214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5303520" cy="11440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52"/>
                </a:lnSpc>
              </a:pPr>
              <a:r>
                <a:rPr lang="en-US" sz="3050" spc="11">
                  <a:solidFill>
                    <a:srgbClr val="C8D7E6"/>
                  </a:solidFill>
                  <a:latin typeface="Mandali"/>
                  <a:ea typeface="Mandali"/>
                  <a:cs typeface="Mandali"/>
                  <a:sym typeface="Mandali"/>
                </a:rPr>
                <a:t>01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042685" y="2778080"/>
            <a:ext cx="4457700" cy="705041"/>
            <a:chOff x="0" y="0"/>
            <a:chExt cx="5943600" cy="94005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943600" cy="940055"/>
            </a:xfrm>
            <a:custGeom>
              <a:avLst/>
              <a:gdLst/>
              <a:ahLst/>
              <a:cxnLst/>
              <a:rect r="r" b="b" t="t" l="l"/>
              <a:pathLst>
                <a:path h="940055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940055"/>
                  </a:lnTo>
                  <a:lnTo>
                    <a:pt x="0" y="9400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096" r="0" b="-5529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5943600" cy="959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11"/>
                </a:lnSpc>
              </a:pPr>
              <a:r>
                <a:rPr lang="en-US" sz="2555" spc="9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목재 물리학 연구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042685" y="3398309"/>
            <a:ext cx="4457700" cy="451918"/>
            <a:chOff x="0" y="0"/>
            <a:chExt cx="5943600" cy="60255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943600" cy="602558"/>
            </a:xfrm>
            <a:custGeom>
              <a:avLst/>
              <a:gdLst/>
              <a:ahLst/>
              <a:cxnLst/>
              <a:rect r="r" b="b" t="t" l="l"/>
              <a:pathLst>
                <a:path h="602558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602558"/>
                  </a:lnTo>
                  <a:lnTo>
                    <a:pt x="0" y="6025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778" r="0" b="-12862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5943600" cy="621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44"/>
                </a:lnSpc>
              </a:pPr>
              <a:r>
                <a:rPr lang="en-US" sz="1655" spc="6">
                  <a:solidFill>
                    <a:srgbClr val="C8D7E6"/>
                  </a:solidFill>
                  <a:latin typeface="Mandali"/>
                  <a:ea typeface="Mandali"/>
                  <a:cs typeface="Mandali"/>
                  <a:sym typeface="Mandali"/>
                </a:rPr>
                <a:t>수분 분포 · 회귀분석</a:t>
              </a:r>
            </a:p>
          </p:txBody>
        </p:sp>
      </p:grpSp>
      <p:sp>
        <p:nvSpPr>
          <p:cNvPr name="AutoShape 35" id="35"/>
          <p:cNvSpPr/>
          <p:nvPr/>
        </p:nvSpPr>
        <p:spPr>
          <a:xfrm>
            <a:off x="13036018" y="3818936"/>
            <a:ext cx="4457318" cy="12473"/>
          </a:xfrm>
          <a:prstGeom prst="line">
            <a:avLst/>
          </a:prstGeom>
          <a:ln cap="rnd" w="9525">
            <a:solidFill>
              <a:srgbClr val="3A4C6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6" id="36"/>
          <p:cNvGrpSpPr/>
          <p:nvPr/>
        </p:nvGrpSpPr>
        <p:grpSpPr>
          <a:xfrm rot="0">
            <a:off x="13042685" y="4017331"/>
            <a:ext cx="3977640" cy="836639"/>
            <a:chOff x="0" y="0"/>
            <a:chExt cx="5303520" cy="111551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303520" cy="1115519"/>
            </a:xfrm>
            <a:custGeom>
              <a:avLst/>
              <a:gdLst/>
              <a:ahLst/>
              <a:cxnLst/>
              <a:rect r="r" b="b" t="t" l="l"/>
              <a:pathLst>
                <a:path h="1115519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1115519"/>
                  </a:lnTo>
                  <a:lnTo>
                    <a:pt x="0" y="11155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128" r="0" b="-22147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5303520" cy="11440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52"/>
                </a:lnSpc>
              </a:pPr>
              <a:r>
                <a:rPr lang="en-US" sz="3050" spc="11">
                  <a:solidFill>
                    <a:srgbClr val="C8D7E6"/>
                  </a:solidFill>
                  <a:latin typeface="Mandali"/>
                  <a:ea typeface="Mandali"/>
                  <a:cs typeface="Mandali"/>
                  <a:sym typeface="Mandali"/>
                </a:rPr>
                <a:t>02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3042685" y="4681421"/>
            <a:ext cx="4457700" cy="705041"/>
            <a:chOff x="0" y="0"/>
            <a:chExt cx="5943600" cy="94005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943600" cy="940055"/>
            </a:xfrm>
            <a:custGeom>
              <a:avLst/>
              <a:gdLst/>
              <a:ahLst/>
              <a:cxnLst/>
              <a:rect r="r" b="b" t="t" l="l"/>
              <a:pathLst>
                <a:path h="940055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940055"/>
                  </a:lnTo>
                  <a:lnTo>
                    <a:pt x="0" y="9400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096" r="0" b="-55295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5943600" cy="959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11"/>
                </a:lnSpc>
              </a:pPr>
              <a:r>
                <a:rPr lang="en-US" sz="2555" spc="9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로컬 LLM 시스템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042685" y="5301650"/>
            <a:ext cx="4457700" cy="451918"/>
            <a:chOff x="0" y="0"/>
            <a:chExt cx="5943600" cy="60255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943600" cy="602558"/>
            </a:xfrm>
            <a:custGeom>
              <a:avLst/>
              <a:gdLst/>
              <a:ahLst/>
              <a:cxnLst/>
              <a:rect r="r" b="b" t="t" l="l"/>
              <a:pathLst>
                <a:path h="602558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602558"/>
                  </a:lnTo>
                  <a:lnTo>
                    <a:pt x="0" y="6025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778" r="0" b="-12862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5943600" cy="621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44"/>
                </a:lnSpc>
              </a:pPr>
              <a:r>
                <a:rPr lang="en-US" sz="1655" spc="6">
                  <a:solidFill>
                    <a:srgbClr val="C8D7E6"/>
                  </a:solidFill>
                  <a:latin typeface="Mandali"/>
                  <a:ea typeface="Mandali"/>
                  <a:cs typeface="Mandali"/>
                  <a:sym typeface="Mandali"/>
                </a:rPr>
                <a:t>악성 코드 분석 · 프로토타입</a:t>
              </a:r>
            </a:p>
          </p:txBody>
        </p:sp>
      </p:grpSp>
      <p:sp>
        <p:nvSpPr>
          <p:cNvPr name="AutoShape 45" id="45"/>
          <p:cNvSpPr/>
          <p:nvPr/>
        </p:nvSpPr>
        <p:spPr>
          <a:xfrm>
            <a:off x="13036018" y="5722276"/>
            <a:ext cx="4457318" cy="12473"/>
          </a:xfrm>
          <a:prstGeom prst="line">
            <a:avLst/>
          </a:prstGeom>
          <a:ln cap="rnd" w="9525">
            <a:solidFill>
              <a:srgbClr val="3A4C6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6" id="46"/>
          <p:cNvGrpSpPr/>
          <p:nvPr/>
        </p:nvGrpSpPr>
        <p:grpSpPr>
          <a:xfrm rot="0">
            <a:off x="13042685" y="5920672"/>
            <a:ext cx="3977640" cy="836639"/>
            <a:chOff x="0" y="0"/>
            <a:chExt cx="5303520" cy="111551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303520" cy="1115519"/>
            </a:xfrm>
            <a:custGeom>
              <a:avLst/>
              <a:gdLst/>
              <a:ahLst/>
              <a:cxnLst/>
              <a:rect r="r" b="b" t="t" l="l"/>
              <a:pathLst>
                <a:path h="1115519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1115519"/>
                  </a:lnTo>
                  <a:lnTo>
                    <a:pt x="0" y="11155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128" r="0" b="-22147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28575"/>
              <a:ext cx="5303520" cy="11440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52"/>
                </a:lnSpc>
              </a:pPr>
              <a:r>
                <a:rPr lang="en-US" sz="3050" spc="11">
                  <a:solidFill>
                    <a:srgbClr val="C8D7E6"/>
                  </a:solidFill>
                  <a:latin typeface="Mandali"/>
                  <a:ea typeface="Mandali"/>
                  <a:cs typeface="Mandali"/>
                  <a:sym typeface="Mandali"/>
                </a:rPr>
                <a:t>03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3042685" y="6584761"/>
            <a:ext cx="4457700" cy="705041"/>
            <a:chOff x="0" y="0"/>
            <a:chExt cx="5943600" cy="940055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943600" cy="940055"/>
            </a:xfrm>
            <a:custGeom>
              <a:avLst/>
              <a:gdLst/>
              <a:ahLst/>
              <a:cxnLst/>
              <a:rect r="r" b="b" t="t" l="l"/>
              <a:pathLst>
                <a:path h="940055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940055"/>
                  </a:lnTo>
                  <a:lnTo>
                    <a:pt x="0" y="9400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096" r="0" b="-5529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5943600" cy="959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11"/>
                </a:lnSpc>
              </a:pPr>
              <a:r>
                <a:rPr lang="en-US" sz="2555" spc="9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보안 LLM 파인튜닝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3042685" y="7204990"/>
            <a:ext cx="4457700" cy="451918"/>
            <a:chOff x="0" y="0"/>
            <a:chExt cx="5943600" cy="60255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943600" cy="602558"/>
            </a:xfrm>
            <a:custGeom>
              <a:avLst/>
              <a:gdLst/>
              <a:ahLst/>
              <a:cxnLst/>
              <a:rect r="r" b="b" t="t" l="l"/>
              <a:pathLst>
                <a:path h="602558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602558"/>
                  </a:lnTo>
                  <a:lnTo>
                    <a:pt x="0" y="6025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778" r="0" b="-12862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5943600" cy="621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44"/>
                </a:lnSpc>
              </a:pPr>
              <a:r>
                <a:rPr lang="en-US" sz="1655" spc="6">
                  <a:solidFill>
                    <a:srgbClr val="C8D7E6"/>
                  </a:solidFill>
                  <a:latin typeface="Mandali"/>
                  <a:ea typeface="Mandali"/>
                  <a:cs typeface="Mandali"/>
                  <a:sym typeface="Mandali"/>
                </a:rPr>
                <a:t>실험 평가 · 데이터 재설계</a:t>
              </a:r>
            </a:p>
          </p:txBody>
        </p:sp>
      </p:grpSp>
      <p:sp>
        <p:nvSpPr>
          <p:cNvPr name="AutoShape 55" id="55"/>
          <p:cNvSpPr/>
          <p:nvPr/>
        </p:nvSpPr>
        <p:spPr>
          <a:xfrm>
            <a:off x="13042699" y="7817443"/>
            <a:ext cx="4457318" cy="12473"/>
          </a:xfrm>
          <a:prstGeom prst="line">
            <a:avLst/>
          </a:prstGeom>
          <a:ln cap="rnd" w="9525">
            <a:solidFill>
              <a:srgbClr val="3A4C6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6" id="56"/>
          <p:cNvGrpSpPr/>
          <p:nvPr/>
        </p:nvGrpSpPr>
        <p:grpSpPr>
          <a:xfrm rot="0">
            <a:off x="13049366" y="8015839"/>
            <a:ext cx="3977640" cy="836639"/>
            <a:chOff x="0" y="0"/>
            <a:chExt cx="5303520" cy="111551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303520" cy="1115519"/>
            </a:xfrm>
            <a:custGeom>
              <a:avLst/>
              <a:gdLst/>
              <a:ahLst/>
              <a:cxnLst/>
              <a:rect r="r" b="b" t="t" l="l"/>
              <a:pathLst>
                <a:path h="1115519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1115519"/>
                  </a:lnTo>
                  <a:lnTo>
                    <a:pt x="0" y="11155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128" r="0" b="-22147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28575"/>
              <a:ext cx="5303520" cy="11440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52"/>
                </a:lnSpc>
              </a:pPr>
              <a:r>
                <a:rPr lang="en-US" sz="3050" spc="11">
                  <a:solidFill>
                    <a:srgbClr val="C8D7E6"/>
                  </a:solidFill>
                  <a:latin typeface="Mandali"/>
                  <a:ea typeface="Mandali"/>
                  <a:cs typeface="Mandali"/>
                  <a:sym typeface="Mandali"/>
                </a:rPr>
                <a:t>04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3049366" y="8679929"/>
            <a:ext cx="4457700" cy="705041"/>
            <a:chOff x="0" y="0"/>
            <a:chExt cx="5943600" cy="940055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943600" cy="940055"/>
            </a:xfrm>
            <a:custGeom>
              <a:avLst/>
              <a:gdLst/>
              <a:ahLst/>
              <a:cxnLst/>
              <a:rect r="r" b="b" t="t" l="l"/>
              <a:pathLst>
                <a:path h="940055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940055"/>
                  </a:lnTo>
                  <a:lnTo>
                    <a:pt x="0" y="9400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096" r="0" b="-5529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5943600" cy="959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11"/>
                </a:lnSpc>
              </a:pPr>
              <a:r>
                <a:rPr lang="en-US" sz="2555" spc="9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GUAM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3049366" y="9300158"/>
            <a:ext cx="4457700" cy="451918"/>
            <a:chOff x="0" y="0"/>
            <a:chExt cx="5943600" cy="60255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943600" cy="602558"/>
            </a:xfrm>
            <a:custGeom>
              <a:avLst/>
              <a:gdLst/>
              <a:ahLst/>
              <a:cxnLst/>
              <a:rect r="r" b="b" t="t" l="l"/>
              <a:pathLst>
                <a:path h="602558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602558"/>
                  </a:lnTo>
                  <a:lnTo>
                    <a:pt x="0" y="6025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778" r="0" b="-12862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19050"/>
              <a:ext cx="5943600" cy="621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44"/>
                </a:lnSpc>
              </a:pPr>
              <a:r>
                <a:rPr lang="en-US" sz="1655" spc="6">
                  <a:solidFill>
                    <a:srgbClr val="C8D7E6"/>
                  </a:solidFill>
                  <a:latin typeface="Mandali"/>
                  <a:ea typeface="Mandali"/>
                  <a:cs typeface="Mandali"/>
                  <a:sym typeface="Mandali"/>
                </a:rPr>
                <a:t>모듈 구현, 문서 최신화, 테스트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93776"/>
            <a:ext cx="16596360" cy="301752"/>
            <a:chOff x="0" y="0"/>
            <a:chExt cx="22128480" cy="4023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402336"/>
            </a:xfrm>
            <a:custGeom>
              <a:avLst/>
              <a:gdLst/>
              <a:ahLst/>
              <a:cxnLst/>
              <a:rect r="r" b="b" t="t" l="l"/>
              <a:pathLst>
                <a:path h="402336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1677" r="0" b="-102167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12848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99"/>
                </a:lnSpc>
              </a:pPr>
              <a:r>
                <a:rPr lang="en-US" sz="1620" spc="126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01  /  PROFILE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124712"/>
            <a:ext cx="16596360" cy="685800"/>
            <a:chOff x="0" y="0"/>
            <a:chExt cx="22128480" cy="91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914400"/>
            </a:xfrm>
            <a:custGeom>
              <a:avLst/>
              <a:gdLst/>
              <a:ahLst/>
              <a:cxnLst/>
              <a:rect r="r" b="b" t="t" l="l"/>
              <a:pathLst>
                <a:path h="91440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1537" r="0" b="-42153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12848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48"/>
                </a:lnSpc>
              </a:pPr>
              <a:r>
                <a:rPr lang="en-US" sz="4050" spc="15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연구 경험을 AI 시스템 개발로 연결합니다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50392" y="1920240"/>
            <a:ext cx="16459200" cy="411480"/>
            <a:chOff x="0" y="0"/>
            <a:chExt cx="219456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548640"/>
            </a:xfrm>
            <a:custGeom>
              <a:avLst/>
              <a:gdLst/>
              <a:ahLst/>
              <a:cxnLst/>
              <a:rect r="r" b="b" t="t" l="l"/>
              <a:pathLst>
                <a:path h="5486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9401" r="0" b="-72940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19456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8"/>
                </a:lnSpc>
              </a:pPr>
              <a:r>
                <a:rPr lang="en-US" sz="1920" spc="7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실험 데이터의 해석, 분석 시스템 구현, 데이터·모델 개선으로 이어지는 경험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13435" y="2692527"/>
            <a:ext cx="5217414" cy="6698742"/>
            <a:chOff x="0" y="0"/>
            <a:chExt cx="6956552" cy="893165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956552" cy="8931656"/>
            </a:xfrm>
            <a:custGeom>
              <a:avLst/>
              <a:gdLst/>
              <a:ahLst/>
              <a:cxnLst/>
              <a:rect r="r" b="b" t="t" l="l"/>
              <a:pathLst>
                <a:path h="8931656" w="6956552">
                  <a:moveTo>
                    <a:pt x="0" y="0"/>
                  </a:moveTo>
                  <a:lnTo>
                    <a:pt x="6956552" y="0"/>
                  </a:lnTo>
                  <a:lnTo>
                    <a:pt x="6956552" y="8931656"/>
                  </a:lnTo>
                  <a:lnTo>
                    <a:pt x="0" y="8931656"/>
                  </a:lnTo>
                  <a:close/>
                </a:path>
              </a:pathLst>
            </a:custGeom>
            <a:solidFill>
              <a:srgbClr val="F0F3F6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68327" y="3044952"/>
            <a:ext cx="1490110" cy="1988820"/>
            <a:chOff x="0" y="0"/>
            <a:chExt cx="1986813" cy="2651760"/>
          </a:xfrm>
        </p:grpSpPr>
        <p:sp>
          <p:nvSpPr>
            <p:cNvPr name="Freeform 14" id="14" descr="/mnt/data/work_major/assets/original_1.png"/>
            <p:cNvSpPr/>
            <p:nvPr/>
          </p:nvSpPr>
          <p:spPr>
            <a:xfrm flipH="false" flipV="false" rot="0">
              <a:off x="0" y="0"/>
              <a:ext cx="1986788" cy="2651760"/>
            </a:xfrm>
            <a:custGeom>
              <a:avLst/>
              <a:gdLst/>
              <a:ahLst/>
              <a:cxnLst/>
              <a:rect r="r" b="b" t="t" l="l"/>
              <a:pathLst>
                <a:path h="2651760" w="1986788">
                  <a:moveTo>
                    <a:pt x="0" y="0"/>
                  </a:moveTo>
                  <a:lnTo>
                    <a:pt x="1986788" y="0"/>
                  </a:lnTo>
                  <a:lnTo>
                    <a:pt x="1986788" y="2651760"/>
                  </a:lnTo>
                  <a:lnTo>
                    <a:pt x="0" y="2651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907792" y="3236976"/>
            <a:ext cx="2729484" cy="534924"/>
            <a:chOff x="0" y="0"/>
            <a:chExt cx="3639312" cy="71323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639312" cy="713232"/>
            </a:xfrm>
            <a:custGeom>
              <a:avLst/>
              <a:gdLst/>
              <a:ahLst/>
              <a:cxnLst/>
              <a:rect r="r" b="b" t="t" l="l"/>
              <a:pathLst>
                <a:path h="713232" w="3639312">
                  <a:moveTo>
                    <a:pt x="0" y="0"/>
                  </a:moveTo>
                  <a:lnTo>
                    <a:pt x="3639312" y="0"/>
                  </a:lnTo>
                  <a:lnTo>
                    <a:pt x="3639312" y="713232"/>
                  </a:lnTo>
                  <a:lnTo>
                    <a:pt x="0" y="7132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423" r="0" b="-4942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3639312" cy="7418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4"/>
                </a:lnSpc>
              </a:pPr>
              <a:r>
                <a:rPr lang="en-US" sz="3375" spc="13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이정민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921508" y="4005072"/>
            <a:ext cx="2688336" cy="795528"/>
            <a:chOff x="0" y="0"/>
            <a:chExt cx="3584448" cy="106070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584448" cy="1060704"/>
            </a:xfrm>
            <a:custGeom>
              <a:avLst/>
              <a:gdLst/>
              <a:ahLst/>
              <a:cxnLst/>
              <a:rect r="r" b="b" t="t" l="l"/>
              <a:pathLst>
                <a:path h="1060704" w="3584448">
                  <a:moveTo>
                    <a:pt x="0" y="0"/>
                  </a:moveTo>
                  <a:lnTo>
                    <a:pt x="3584448" y="0"/>
                  </a:lnTo>
                  <a:lnTo>
                    <a:pt x="3584448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45" r="0" b="-1584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3584448" cy="10892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60"/>
                </a:lnSpc>
              </a:pPr>
              <a:r>
                <a:rPr lang="en-US" sz="2054" spc="7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임산공학 석사</a:t>
              </a:r>
            </a:p>
            <a:p>
              <a:pPr algn="l">
                <a:lnSpc>
                  <a:spcPts val="2860"/>
                </a:lnSpc>
              </a:pPr>
              <a:r>
                <a:rPr lang="en-US" sz="2054" spc="7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목재 물리학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11760">
            <a:off x="1185662" y="5399342"/>
            <a:ext cx="4445537" cy="0"/>
          </a:xfrm>
          <a:prstGeom prst="line">
            <a:avLst/>
          </a:prstGeom>
          <a:ln cap="rnd" w="9525">
            <a:solidFill>
              <a:srgbClr val="DDE3E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0">
            <a:off x="1193292" y="5692140"/>
            <a:ext cx="4306824" cy="329184"/>
            <a:chOff x="0" y="0"/>
            <a:chExt cx="5742432" cy="43891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42432" cy="438912"/>
            </a:xfrm>
            <a:custGeom>
              <a:avLst/>
              <a:gdLst/>
              <a:ahLst/>
              <a:cxnLst/>
              <a:rect r="r" b="b" t="t" l="l"/>
              <a:pathLst>
                <a:path h="438912" w="5742432">
                  <a:moveTo>
                    <a:pt x="0" y="0"/>
                  </a:moveTo>
                  <a:lnTo>
                    <a:pt x="5742432" y="0"/>
                  </a:lnTo>
                  <a:lnTo>
                    <a:pt x="574243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4929" r="0" b="-20492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5742432" cy="457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16"/>
                </a:lnSpc>
              </a:pPr>
              <a:r>
                <a:rPr lang="en-US" sz="1710" spc="6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학력 및 현재 교육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93292" y="6199632"/>
            <a:ext cx="4430268" cy="370332"/>
            <a:chOff x="0" y="0"/>
            <a:chExt cx="5907024" cy="49377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907024" cy="493776"/>
            </a:xfrm>
            <a:custGeom>
              <a:avLst/>
              <a:gdLst/>
              <a:ahLst/>
              <a:cxnLst/>
              <a:rect r="r" b="b" t="t" l="l"/>
              <a:pathLst>
                <a:path h="493776" w="5907024">
                  <a:moveTo>
                    <a:pt x="0" y="0"/>
                  </a:moveTo>
                  <a:lnTo>
                    <a:pt x="5907024" y="0"/>
                  </a:lnTo>
                  <a:lnTo>
                    <a:pt x="5907024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098" r="0" b="-18309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5907024" cy="5128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129" spc="8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경북대학교 대학원 · 석사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93292" y="6748272"/>
            <a:ext cx="4402836" cy="672084"/>
            <a:chOff x="0" y="0"/>
            <a:chExt cx="5870448" cy="89611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870448" cy="896112"/>
            </a:xfrm>
            <a:custGeom>
              <a:avLst/>
              <a:gdLst/>
              <a:ahLst/>
              <a:cxnLst/>
              <a:rect r="r" b="b" t="t" l="l"/>
              <a:pathLst>
                <a:path h="896112" w="5870448">
                  <a:moveTo>
                    <a:pt x="0" y="0"/>
                  </a:moveTo>
                  <a:lnTo>
                    <a:pt x="5870448" y="0"/>
                  </a:lnTo>
                  <a:lnTo>
                    <a:pt x="5870448" y="896112"/>
                  </a:lnTo>
                  <a:lnTo>
                    <a:pt x="0" y="896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646" r="0" b="-7764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5870448" cy="9151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8"/>
                </a:lnSpc>
              </a:pPr>
              <a:r>
                <a:rPr lang="en-US" sz="1770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임산공학(목재 물리학)</a:t>
              </a:r>
            </a:p>
            <a:p>
              <a:pPr algn="l">
                <a:lnSpc>
                  <a:spcPts val="2378"/>
                </a:lnSpc>
              </a:pPr>
              <a:r>
                <a:rPr lang="en-US" sz="1770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2017.03–2019.02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93292" y="7626096"/>
            <a:ext cx="4430268" cy="370332"/>
            <a:chOff x="0" y="0"/>
            <a:chExt cx="5907024" cy="49377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907024" cy="493776"/>
            </a:xfrm>
            <a:custGeom>
              <a:avLst/>
              <a:gdLst/>
              <a:ahLst/>
              <a:cxnLst/>
              <a:rect r="r" b="b" t="t" l="l"/>
              <a:pathLst>
                <a:path h="493776" w="5907024">
                  <a:moveTo>
                    <a:pt x="0" y="0"/>
                  </a:moveTo>
                  <a:lnTo>
                    <a:pt x="5907024" y="0"/>
                  </a:lnTo>
                  <a:lnTo>
                    <a:pt x="5907024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098" r="0" b="-183098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5907024" cy="5128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129" spc="8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경북대학교 · 학사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93292" y="8147304"/>
            <a:ext cx="4430268" cy="301752"/>
            <a:chOff x="0" y="0"/>
            <a:chExt cx="5907024" cy="40233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907024" cy="402336"/>
            </a:xfrm>
            <a:custGeom>
              <a:avLst/>
              <a:gdLst/>
              <a:ahLst/>
              <a:cxnLst/>
              <a:rect r="r" b="b" t="t" l="l"/>
              <a:pathLst>
                <a:path h="402336" w="5907024">
                  <a:moveTo>
                    <a:pt x="0" y="0"/>
                  </a:moveTo>
                  <a:lnTo>
                    <a:pt x="5907024" y="0"/>
                  </a:lnTo>
                  <a:lnTo>
                    <a:pt x="590702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075" r="0" b="-23607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5907024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93"/>
                </a:lnSpc>
              </a:pPr>
              <a:r>
                <a:rPr lang="en-US" sz="1770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임산공학  |  2011.03–2017.02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193292" y="8723376"/>
            <a:ext cx="4430268" cy="562356"/>
            <a:chOff x="0" y="0"/>
            <a:chExt cx="5907024" cy="74980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907024" cy="749808"/>
            </a:xfrm>
            <a:custGeom>
              <a:avLst/>
              <a:gdLst/>
              <a:ahLst/>
              <a:cxnLst/>
              <a:rect r="r" b="b" t="t" l="l"/>
              <a:pathLst>
                <a:path h="749808" w="5907024">
                  <a:moveTo>
                    <a:pt x="0" y="0"/>
                  </a:moveTo>
                  <a:lnTo>
                    <a:pt x="5907024" y="0"/>
                  </a:lnTo>
                  <a:lnTo>
                    <a:pt x="5907024" y="749808"/>
                  </a:lnTo>
                  <a:lnTo>
                    <a:pt x="0" y="749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504" r="0" b="-103504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5907024" cy="7593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0"/>
                </a:lnSpc>
              </a:pPr>
              <a:r>
                <a:rPr lang="en-US" sz="1785" spc="6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한국폴리텍대학 대구캠퍼스</a:t>
              </a:r>
            </a:p>
            <a:p>
              <a:pPr algn="l">
                <a:lnSpc>
                  <a:spcPts val="2270"/>
                </a:lnSpc>
              </a:pPr>
              <a:r>
                <a:rPr lang="en-US" sz="1785" spc="6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AI 엔지니어링 과정 수강 중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528816" y="2852928"/>
            <a:ext cx="2414016" cy="672084"/>
            <a:chOff x="0" y="0"/>
            <a:chExt cx="3218688" cy="89611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218688" cy="896112"/>
            </a:xfrm>
            <a:custGeom>
              <a:avLst/>
              <a:gdLst/>
              <a:ahLst/>
              <a:cxnLst/>
              <a:rect r="r" b="b" t="t" l="l"/>
              <a:pathLst>
                <a:path h="896112" w="3218688">
                  <a:moveTo>
                    <a:pt x="0" y="0"/>
                  </a:moveTo>
                  <a:lnTo>
                    <a:pt x="3218688" y="0"/>
                  </a:lnTo>
                  <a:lnTo>
                    <a:pt x="3218688" y="896112"/>
                  </a:lnTo>
                  <a:lnTo>
                    <a:pt x="0" y="896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87" r="0" b="-19987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3218688" cy="9342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43"/>
                </a:lnSpc>
              </a:pPr>
              <a:r>
                <a:rPr lang="en-US" sz="4200" spc="16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3편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6542532" y="3717036"/>
            <a:ext cx="3086100" cy="301752"/>
            <a:chOff x="0" y="0"/>
            <a:chExt cx="4114800" cy="40233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114800" cy="402336"/>
            </a:xfrm>
            <a:custGeom>
              <a:avLst/>
              <a:gdLst/>
              <a:ahLst/>
              <a:cxnLst/>
              <a:rect r="r" b="b" t="t" l="l"/>
              <a:pathLst>
                <a:path h="402336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278" r="0" b="-149278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411480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57"/>
                </a:lnSpc>
              </a:pPr>
              <a:r>
                <a:rPr lang="en-US" sz="1664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논문 · 학위논문 포함</a:t>
              </a:r>
            </a:p>
          </p:txBody>
        </p:sp>
      </p:grpSp>
      <p:sp>
        <p:nvSpPr>
          <p:cNvPr name="AutoShape 46" id="46"/>
          <p:cNvSpPr/>
          <p:nvPr/>
        </p:nvSpPr>
        <p:spPr>
          <a:xfrm rot="5358720">
            <a:off x="9292742" y="3437954"/>
            <a:ext cx="1110691" cy="0"/>
          </a:xfrm>
          <a:prstGeom prst="line">
            <a:avLst/>
          </a:prstGeom>
          <a:ln cap="rnd" w="9525">
            <a:solidFill>
              <a:srgbClr val="DDE3E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7" id="47"/>
          <p:cNvGrpSpPr/>
          <p:nvPr/>
        </p:nvGrpSpPr>
        <p:grpSpPr>
          <a:xfrm rot="0">
            <a:off x="10259568" y="2852928"/>
            <a:ext cx="2180844" cy="672084"/>
            <a:chOff x="0" y="0"/>
            <a:chExt cx="2907792" cy="89611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907792" cy="896112"/>
            </a:xfrm>
            <a:custGeom>
              <a:avLst/>
              <a:gdLst/>
              <a:ahLst/>
              <a:cxnLst/>
              <a:rect r="r" b="b" t="t" l="l"/>
              <a:pathLst>
                <a:path h="896112" w="2907792">
                  <a:moveTo>
                    <a:pt x="0" y="0"/>
                  </a:moveTo>
                  <a:lnTo>
                    <a:pt x="2907792" y="0"/>
                  </a:lnTo>
                  <a:lnTo>
                    <a:pt x="2907792" y="896112"/>
                  </a:lnTo>
                  <a:lnTo>
                    <a:pt x="0" y="896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226" r="0" b="-13226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2907792" cy="9342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43"/>
                </a:lnSpc>
              </a:pPr>
              <a:r>
                <a:rPr lang="en-US" sz="4200" spc="16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1회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273284" y="3717036"/>
            <a:ext cx="2441448" cy="301752"/>
            <a:chOff x="0" y="0"/>
            <a:chExt cx="3255264" cy="40233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255264" cy="402336"/>
            </a:xfrm>
            <a:custGeom>
              <a:avLst/>
              <a:gdLst/>
              <a:ahLst/>
              <a:cxnLst/>
              <a:rect r="r" b="b" t="t" l="l"/>
              <a:pathLst>
                <a:path h="402336" w="3255264">
                  <a:moveTo>
                    <a:pt x="0" y="0"/>
                  </a:moveTo>
                  <a:lnTo>
                    <a:pt x="3255264" y="0"/>
                  </a:lnTo>
                  <a:lnTo>
                    <a:pt x="325526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651" r="0" b="-107651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3255264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57"/>
                </a:lnSpc>
              </a:pPr>
              <a:r>
                <a:rPr lang="en-US" sz="1664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국제학회 발표</a:t>
              </a:r>
            </a:p>
          </p:txBody>
        </p:sp>
      </p:grpSp>
      <p:sp>
        <p:nvSpPr>
          <p:cNvPr name="AutoShape 53" id="53"/>
          <p:cNvSpPr/>
          <p:nvPr/>
        </p:nvSpPr>
        <p:spPr>
          <a:xfrm rot="5358720">
            <a:off x="12625730" y="3437954"/>
            <a:ext cx="1110691" cy="0"/>
          </a:xfrm>
          <a:prstGeom prst="line">
            <a:avLst/>
          </a:prstGeom>
          <a:ln cap="rnd" w="9525">
            <a:solidFill>
              <a:srgbClr val="DDE3E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4" id="54"/>
          <p:cNvGrpSpPr/>
          <p:nvPr/>
        </p:nvGrpSpPr>
        <p:grpSpPr>
          <a:xfrm rot="0">
            <a:off x="13606272" y="3017520"/>
            <a:ext cx="3607308" cy="411480"/>
            <a:chOff x="0" y="0"/>
            <a:chExt cx="4809744" cy="5486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809744" cy="548640"/>
            </a:xfrm>
            <a:custGeom>
              <a:avLst/>
              <a:gdLst/>
              <a:ahLst/>
              <a:cxnLst/>
              <a:rect r="r" b="b" t="t" l="l"/>
              <a:pathLst>
                <a:path h="548640" w="4809744">
                  <a:moveTo>
                    <a:pt x="0" y="0"/>
                  </a:moveTo>
                  <a:lnTo>
                    <a:pt x="4809744" y="0"/>
                  </a:lnTo>
                  <a:lnTo>
                    <a:pt x="480974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818" r="0" b="-120818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28575"/>
              <a:ext cx="4809744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38"/>
                </a:lnSpc>
              </a:pPr>
              <a:r>
                <a:rPr lang="en-US" sz="2729" spc="10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연구실 운영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3606272" y="3717036"/>
            <a:ext cx="3826764" cy="315468"/>
            <a:chOff x="0" y="0"/>
            <a:chExt cx="5102352" cy="42062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102352" cy="420624"/>
            </a:xfrm>
            <a:custGeom>
              <a:avLst/>
              <a:gdLst/>
              <a:ahLst/>
              <a:cxnLst/>
              <a:rect r="r" b="b" t="t" l="l"/>
              <a:pathLst>
                <a:path h="420624" w="5102352">
                  <a:moveTo>
                    <a:pt x="0" y="0"/>
                  </a:moveTo>
                  <a:lnTo>
                    <a:pt x="5102352" y="0"/>
                  </a:lnTo>
                  <a:lnTo>
                    <a:pt x="5102352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361" r="0" b="-186361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5102352" cy="4301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80"/>
                </a:lnSpc>
              </a:pPr>
              <a:r>
                <a:rPr lang="en-US" sz="1604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방장 · 학부생 졸업논문 지도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6528816" y="4608576"/>
            <a:ext cx="9326880" cy="329184"/>
            <a:chOff x="0" y="0"/>
            <a:chExt cx="12435840" cy="43891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2435840" cy="438912"/>
            </a:xfrm>
            <a:custGeom>
              <a:avLst/>
              <a:gdLst/>
              <a:ahLst/>
              <a:cxnLst/>
              <a:rect r="r" b="b" t="t" l="l"/>
              <a:pathLst>
                <a:path h="438912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2076" r="0" b="-502076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12435840" cy="457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16"/>
                </a:lnSpc>
              </a:pPr>
              <a:r>
                <a:rPr lang="en-US" sz="1710" spc="6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핵심 역량과 수행 근거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6528816" y="5417820"/>
            <a:ext cx="576072" cy="329184"/>
            <a:chOff x="0" y="0"/>
            <a:chExt cx="768096" cy="43891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68096" cy="438912"/>
            </a:xfrm>
            <a:custGeom>
              <a:avLst/>
              <a:gdLst/>
              <a:ahLst/>
              <a:cxnLst/>
              <a:rect r="r" b="b" t="t" l="l"/>
              <a:pathLst>
                <a:path h="438912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316" t="0" r="-23316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9525"/>
              <a:ext cx="768096" cy="448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6"/>
                </a:lnSpc>
              </a:pPr>
              <a:r>
                <a:rPr lang="en-US" sz="1695" spc="6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01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7296912" y="5349240"/>
            <a:ext cx="2427732" cy="521208"/>
            <a:chOff x="0" y="0"/>
            <a:chExt cx="3236976" cy="69494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236976" cy="694944"/>
            </a:xfrm>
            <a:custGeom>
              <a:avLst/>
              <a:gdLst/>
              <a:ahLst/>
              <a:cxnLst/>
              <a:rect r="r" b="b" t="t" l="l"/>
              <a:pathLst>
                <a:path h="694944" w="3236976">
                  <a:moveTo>
                    <a:pt x="0" y="0"/>
                  </a:moveTo>
                  <a:lnTo>
                    <a:pt x="3236976" y="0"/>
                  </a:lnTo>
                  <a:lnTo>
                    <a:pt x="3236976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759" r="0" b="-40759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3236976" cy="713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0"/>
                </a:lnSpc>
              </a:pPr>
              <a:r>
                <a:rPr lang="en-US" sz="2400" spc="9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연구·분석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9875520" y="5280660"/>
            <a:ext cx="6309360" cy="781812"/>
            <a:chOff x="0" y="0"/>
            <a:chExt cx="8412480" cy="1042416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412480" cy="1042416"/>
            </a:xfrm>
            <a:custGeom>
              <a:avLst/>
              <a:gdLst/>
              <a:ahLst/>
              <a:cxnLst/>
              <a:rect r="r" b="b" t="t" l="l"/>
              <a:pathLst>
                <a:path h="1042416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1042416"/>
                  </a:lnTo>
                  <a:lnTo>
                    <a:pt x="0" y="1042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247" r="0" b="-107247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28575"/>
              <a:ext cx="8412480" cy="1070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21"/>
                </a:lnSpc>
              </a:pPr>
              <a:r>
                <a:rPr lang="en-US" sz="2025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함수율 분포·경사 비교</a:t>
              </a:r>
            </a:p>
            <a:p>
              <a:pPr algn="l">
                <a:lnSpc>
                  <a:spcPts val="2721"/>
                </a:lnSpc>
              </a:pPr>
              <a:r>
                <a:rPr lang="en-US" sz="2025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회귀분석을 통한 연구 결과 해석</a:t>
              </a:r>
            </a:p>
          </p:txBody>
        </p:sp>
      </p:grpSp>
      <p:sp>
        <p:nvSpPr>
          <p:cNvPr name="AutoShape 72" id="72"/>
          <p:cNvSpPr/>
          <p:nvPr/>
        </p:nvSpPr>
        <p:spPr>
          <a:xfrm rot="4200">
            <a:off x="6522149" y="6236018"/>
            <a:ext cx="10931281" cy="0"/>
          </a:xfrm>
          <a:prstGeom prst="line">
            <a:avLst/>
          </a:prstGeom>
          <a:ln cap="rnd" w="9525">
            <a:solidFill>
              <a:srgbClr val="DDE3E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3" id="73"/>
          <p:cNvGrpSpPr/>
          <p:nvPr/>
        </p:nvGrpSpPr>
        <p:grpSpPr>
          <a:xfrm rot="0">
            <a:off x="6528816" y="6583680"/>
            <a:ext cx="576072" cy="329184"/>
            <a:chOff x="0" y="0"/>
            <a:chExt cx="768096" cy="43891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768096" cy="438912"/>
            </a:xfrm>
            <a:custGeom>
              <a:avLst/>
              <a:gdLst/>
              <a:ahLst/>
              <a:cxnLst/>
              <a:rect r="r" b="b" t="t" l="l"/>
              <a:pathLst>
                <a:path h="438912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316" t="0" r="-23316" b="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9525"/>
              <a:ext cx="768096" cy="448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6"/>
                </a:lnSpc>
              </a:pPr>
              <a:r>
                <a:rPr lang="en-US" sz="1695" spc="6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02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7296912" y="6515100"/>
            <a:ext cx="2427732" cy="521208"/>
            <a:chOff x="0" y="0"/>
            <a:chExt cx="3236976" cy="694944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236976" cy="694944"/>
            </a:xfrm>
            <a:custGeom>
              <a:avLst/>
              <a:gdLst/>
              <a:ahLst/>
              <a:cxnLst/>
              <a:rect r="r" b="b" t="t" l="l"/>
              <a:pathLst>
                <a:path h="694944" w="3236976">
                  <a:moveTo>
                    <a:pt x="0" y="0"/>
                  </a:moveTo>
                  <a:lnTo>
                    <a:pt x="3236976" y="0"/>
                  </a:lnTo>
                  <a:lnTo>
                    <a:pt x="3236976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759" r="0" b="-40759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19050"/>
              <a:ext cx="3236976" cy="713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0"/>
                </a:lnSpc>
              </a:pPr>
              <a:r>
                <a:rPr lang="en-US" sz="2400" spc="9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구현·검증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9875520" y="6446520"/>
            <a:ext cx="6309360" cy="781812"/>
            <a:chOff x="0" y="0"/>
            <a:chExt cx="8412480" cy="1042416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8412480" cy="1042416"/>
            </a:xfrm>
            <a:custGeom>
              <a:avLst/>
              <a:gdLst/>
              <a:ahLst/>
              <a:cxnLst/>
              <a:rect r="r" b="b" t="t" l="l"/>
              <a:pathLst>
                <a:path h="1042416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1042416"/>
                  </a:lnTo>
                  <a:lnTo>
                    <a:pt x="0" y="1042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247" r="0" b="-107247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28575"/>
              <a:ext cx="8412480" cy="1070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21"/>
                </a:lnSpc>
              </a:pPr>
              <a:r>
                <a:rPr lang="en-US" sz="2025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정적 분석과 로컬 LLM 연계</a:t>
              </a:r>
            </a:p>
            <a:p>
              <a:pPr algn="l">
                <a:lnSpc>
                  <a:spcPts val="2721"/>
                </a:lnSpc>
              </a:pPr>
              <a:r>
                <a:rPr lang="en-US" sz="2025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Python 코드 분석 프로토타입 시험</a:t>
              </a:r>
            </a:p>
          </p:txBody>
        </p:sp>
      </p:grpSp>
      <p:sp>
        <p:nvSpPr>
          <p:cNvPr name="AutoShape 82" id="82"/>
          <p:cNvSpPr/>
          <p:nvPr/>
        </p:nvSpPr>
        <p:spPr>
          <a:xfrm rot="4200">
            <a:off x="6522149" y="7401878"/>
            <a:ext cx="10931281" cy="0"/>
          </a:xfrm>
          <a:prstGeom prst="line">
            <a:avLst/>
          </a:prstGeom>
          <a:ln cap="rnd" w="9525">
            <a:solidFill>
              <a:srgbClr val="DDE3E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3" id="83"/>
          <p:cNvGrpSpPr/>
          <p:nvPr/>
        </p:nvGrpSpPr>
        <p:grpSpPr>
          <a:xfrm rot="0">
            <a:off x="6528816" y="7749540"/>
            <a:ext cx="576072" cy="329184"/>
            <a:chOff x="0" y="0"/>
            <a:chExt cx="768096" cy="43891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768096" cy="438912"/>
            </a:xfrm>
            <a:custGeom>
              <a:avLst/>
              <a:gdLst/>
              <a:ahLst/>
              <a:cxnLst/>
              <a:rect r="r" b="b" t="t" l="l"/>
              <a:pathLst>
                <a:path h="438912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316" t="0" r="-23316" b="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9525"/>
              <a:ext cx="768096" cy="448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6"/>
                </a:lnSpc>
              </a:pPr>
              <a:r>
                <a:rPr lang="en-US" sz="1695" spc="6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03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7296912" y="7680960"/>
            <a:ext cx="2427732" cy="521208"/>
            <a:chOff x="0" y="0"/>
            <a:chExt cx="3236976" cy="694944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236976" cy="694944"/>
            </a:xfrm>
            <a:custGeom>
              <a:avLst/>
              <a:gdLst/>
              <a:ahLst/>
              <a:cxnLst/>
              <a:rect r="r" b="b" t="t" l="l"/>
              <a:pathLst>
                <a:path h="694944" w="3236976">
                  <a:moveTo>
                    <a:pt x="0" y="0"/>
                  </a:moveTo>
                  <a:lnTo>
                    <a:pt x="3236976" y="0"/>
                  </a:lnTo>
                  <a:lnTo>
                    <a:pt x="3236976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759" r="0" b="-40759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19050"/>
              <a:ext cx="3236976" cy="713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0"/>
                </a:lnSpc>
              </a:pPr>
              <a:r>
                <a:rPr lang="en-US" sz="2400" spc="9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데이터·학습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9875520" y="7612380"/>
            <a:ext cx="6309360" cy="781812"/>
            <a:chOff x="0" y="0"/>
            <a:chExt cx="8412480" cy="1042416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8412480" cy="1042416"/>
            </a:xfrm>
            <a:custGeom>
              <a:avLst/>
              <a:gdLst/>
              <a:ahLst/>
              <a:cxnLst/>
              <a:rect r="r" b="b" t="t" l="l"/>
              <a:pathLst>
                <a:path h="1042416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1042416"/>
                  </a:lnTo>
                  <a:lnTo>
                    <a:pt x="0" y="1042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247" r="0" b="-107247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28575"/>
              <a:ext cx="8412480" cy="1070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21"/>
                </a:lnSpc>
              </a:pPr>
              <a:r>
                <a:rPr lang="en-US" sz="2025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파인튜닝 결과 분석</a:t>
              </a:r>
            </a:p>
            <a:p>
              <a:pPr algn="l">
                <a:lnSpc>
                  <a:spcPts val="2721"/>
                </a:lnSpc>
              </a:pPr>
              <a:r>
                <a:rPr lang="en-US" sz="2025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학습·평가 데이터셋 재구축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6505575" y="8892159"/>
            <a:ext cx="10950702" cy="499110"/>
            <a:chOff x="0" y="0"/>
            <a:chExt cx="14600936" cy="66548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4600937" cy="665480"/>
            </a:xfrm>
            <a:custGeom>
              <a:avLst/>
              <a:gdLst/>
              <a:ahLst/>
              <a:cxnLst/>
              <a:rect r="r" b="b" t="t" l="l"/>
              <a:pathLst>
                <a:path h="665480" w="14600937">
                  <a:moveTo>
                    <a:pt x="0" y="0"/>
                  </a:moveTo>
                  <a:lnTo>
                    <a:pt x="14600937" y="0"/>
                  </a:lnTo>
                  <a:lnTo>
                    <a:pt x="14600937" y="665480"/>
                  </a:lnTo>
                  <a:lnTo>
                    <a:pt x="0" y="665480"/>
                  </a:lnTo>
                  <a:close/>
                </a:path>
              </a:pathLst>
            </a:custGeom>
            <a:solidFill>
              <a:srgbClr val="EDF3FA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6761988" y="9011412"/>
            <a:ext cx="1522476" cy="233172"/>
            <a:chOff x="0" y="0"/>
            <a:chExt cx="2029968" cy="310896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029968" cy="310896"/>
            </a:xfrm>
            <a:custGeom>
              <a:avLst/>
              <a:gdLst/>
              <a:ahLst/>
              <a:cxnLst/>
              <a:rect r="r" b="b" t="t" l="l"/>
              <a:pathLst>
                <a:path h="310896" w="2029968">
                  <a:moveTo>
                    <a:pt x="0" y="0"/>
                  </a:moveTo>
                  <a:lnTo>
                    <a:pt x="2029968" y="0"/>
                  </a:lnTo>
                  <a:lnTo>
                    <a:pt x="2029968" y="310896"/>
                  </a:lnTo>
                  <a:lnTo>
                    <a:pt x="0" y="310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225" r="0" b="-77225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9525"/>
              <a:ext cx="2029968" cy="3204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99"/>
                </a:lnSpc>
              </a:pPr>
              <a:r>
                <a:rPr lang="en-US" sz="1620" spc="6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사용 도구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8490204" y="8983980"/>
            <a:ext cx="8627364" cy="496721"/>
            <a:chOff x="0" y="0"/>
            <a:chExt cx="11503152" cy="662294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1503152" cy="662294"/>
            </a:xfrm>
            <a:custGeom>
              <a:avLst/>
              <a:gdLst/>
              <a:ahLst/>
              <a:cxnLst/>
              <a:rect r="r" b="b" t="t" l="l"/>
              <a:pathLst>
                <a:path h="662294" w="11503152">
                  <a:moveTo>
                    <a:pt x="0" y="0"/>
                  </a:moveTo>
                  <a:lnTo>
                    <a:pt x="11503152" y="0"/>
                  </a:lnTo>
                  <a:lnTo>
                    <a:pt x="11503152" y="662294"/>
                  </a:lnTo>
                  <a:lnTo>
                    <a:pt x="0" y="66229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8054" r="0" b="-268802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19050"/>
              <a:ext cx="11503152" cy="6813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32"/>
                </a:lnSpc>
              </a:pPr>
              <a:r>
                <a:rPr lang="en-US" sz="1800" spc="6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Python  ·  PyTorch  ·  vLLM · Nvidia Rapids · GPU-based ML</a:t>
              </a:r>
            </a:p>
          </p:txBody>
        </p:sp>
      </p:grpSp>
      <p:sp>
        <p:nvSpPr>
          <p:cNvPr name="AutoShape 100" id="100"/>
          <p:cNvSpPr/>
          <p:nvPr/>
        </p:nvSpPr>
        <p:spPr>
          <a:xfrm rot="2760">
            <a:off x="816293" y="9706166"/>
            <a:ext cx="16650853" cy="0"/>
          </a:xfrm>
          <a:prstGeom prst="line">
            <a:avLst/>
          </a:prstGeom>
          <a:ln cap="rnd" w="9525">
            <a:solidFill>
              <a:srgbClr val="DDE3E9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93776"/>
            <a:ext cx="16596360" cy="301752"/>
            <a:chOff x="0" y="0"/>
            <a:chExt cx="22128480" cy="4023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402336"/>
            </a:xfrm>
            <a:custGeom>
              <a:avLst/>
              <a:gdLst/>
              <a:ahLst/>
              <a:cxnLst/>
              <a:rect r="r" b="b" t="t" l="l"/>
              <a:pathLst>
                <a:path h="402336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1677" r="0" b="-102167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12848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99"/>
                </a:lnSpc>
              </a:pPr>
              <a:r>
                <a:rPr lang="en-US" sz="1620" spc="126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02  /  MASTER’S RESEARCH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124712"/>
            <a:ext cx="16596360" cy="685800"/>
            <a:chOff x="0" y="0"/>
            <a:chExt cx="22128480" cy="91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914400"/>
            </a:xfrm>
            <a:custGeom>
              <a:avLst/>
              <a:gdLst/>
              <a:ahLst/>
              <a:cxnLst/>
              <a:rect r="r" b="b" t="t" l="l"/>
              <a:pathLst>
                <a:path h="91440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1537" r="0" b="-42153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12848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48"/>
                </a:lnSpc>
              </a:pPr>
              <a:r>
                <a:rPr lang="en-US" sz="4050" spc="15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섬유포화점 이하에서의 목재 내 함수율 분포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50392" y="1920240"/>
            <a:ext cx="16459200" cy="411480"/>
            <a:chOff x="0" y="0"/>
            <a:chExt cx="219456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548640"/>
            </a:xfrm>
            <a:custGeom>
              <a:avLst/>
              <a:gdLst/>
              <a:ahLst/>
              <a:cxnLst/>
              <a:rect r="r" b="b" t="t" l="l"/>
              <a:pathLst>
                <a:path h="5486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9401" r="0" b="-72940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19456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8"/>
                </a:lnSpc>
              </a:pPr>
              <a:r>
                <a:rPr lang="en-US" sz="1920" spc="7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경북대학교 대학원 · 임산공학(목재 물리학) · 석사 연구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91540" y="2811780"/>
            <a:ext cx="4183380" cy="329184"/>
            <a:chOff x="0" y="0"/>
            <a:chExt cx="5577840" cy="43891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577840" cy="438912"/>
            </a:xfrm>
            <a:custGeom>
              <a:avLst/>
              <a:gdLst/>
              <a:ahLst/>
              <a:cxnLst/>
              <a:rect r="r" b="b" t="t" l="l"/>
              <a:pathLst>
                <a:path h="438912" w="5577840">
                  <a:moveTo>
                    <a:pt x="0" y="0"/>
                  </a:moveTo>
                  <a:lnTo>
                    <a:pt x="5577840" y="0"/>
                  </a:lnTo>
                  <a:lnTo>
                    <a:pt x="55778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7622" r="0" b="-19762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5577840" cy="457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16"/>
                </a:lnSpc>
              </a:pPr>
              <a:r>
                <a:rPr lang="en-US" sz="1710" spc="6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연구 질문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91540" y="3374136"/>
            <a:ext cx="4155948" cy="1508760"/>
            <a:chOff x="0" y="0"/>
            <a:chExt cx="5541264" cy="20116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541264" cy="2011680"/>
            </a:xfrm>
            <a:custGeom>
              <a:avLst/>
              <a:gdLst/>
              <a:ahLst/>
              <a:cxnLst/>
              <a:rect r="r" b="b" t="t" l="l"/>
              <a:pathLst>
                <a:path h="2011680" w="5541264">
                  <a:moveTo>
                    <a:pt x="0" y="0"/>
                  </a:moveTo>
                  <a:lnTo>
                    <a:pt x="5541264" y="0"/>
                  </a:lnTo>
                  <a:lnTo>
                    <a:pt x="5541264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72" r="0" b="-367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5541264" cy="2040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93"/>
                </a:lnSpc>
              </a:pPr>
              <a:r>
                <a:rPr lang="en-US" sz="2700" spc="10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목재 내 수분 이동의 구동력에 대해서 발견할 수 있을까?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91540" y="5294376"/>
            <a:ext cx="4197096" cy="329184"/>
            <a:chOff x="0" y="0"/>
            <a:chExt cx="5596128" cy="43891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596128" cy="438912"/>
            </a:xfrm>
            <a:custGeom>
              <a:avLst/>
              <a:gdLst/>
              <a:ahLst/>
              <a:cxnLst/>
              <a:rect r="r" b="b" t="t" l="l"/>
              <a:pathLst>
                <a:path h="438912" w="5596128">
                  <a:moveTo>
                    <a:pt x="0" y="0"/>
                  </a:moveTo>
                  <a:lnTo>
                    <a:pt x="5596128" y="0"/>
                  </a:lnTo>
                  <a:lnTo>
                    <a:pt x="5596128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8434" r="0" b="-19843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5596128" cy="457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16"/>
                </a:lnSpc>
              </a:pPr>
              <a:r>
                <a:rPr lang="en-US" sz="1710" spc="6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분석 접근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91540" y="5801868"/>
            <a:ext cx="4238244" cy="1234440"/>
            <a:chOff x="0" y="0"/>
            <a:chExt cx="5650992" cy="16459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650992" cy="1645920"/>
            </a:xfrm>
            <a:custGeom>
              <a:avLst/>
              <a:gdLst/>
              <a:ahLst/>
              <a:cxnLst/>
              <a:rect r="r" b="b" t="t" l="l"/>
              <a:pathLst>
                <a:path h="1645920" w="5650992">
                  <a:moveTo>
                    <a:pt x="0" y="0"/>
                  </a:moveTo>
                  <a:lnTo>
                    <a:pt x="5650992" y="0"/>
                  </a:lnTo>
                  <a:lnTo>
                    <a:pt x="5650992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98" r="0" b="-1689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5650992" cy="16744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88"/>
                </a:lnSpc>
              </a:pPr>
              <a:r>
                <a:rPr lang="en-US" sz="1964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함수율·수증기압·화학 포텐셜</a:t>
              </a:r>
            </a:p>
            <a:p>
              <a:pPr algn="l">
                <a:lnSpc>
                  <a:spcPts val="2688"/>
                </a:lnSpc>
              </a:pPr>
              <a:r>
                <a:rPr lang="en-US" sz="1964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에너지 경사를 비교하고,</a:t>
              </a:r>
            </a:p>
            <a:p>
              <a:pPr algn="l">
                <a:lnSpc>
                  <a:spcPts val="2688"/>
                </a:lnSpc>
              </a:pPr>
              <a:r>
                <a:rPr lang="en-US" sz="1964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회귀분석을 통해 구동력 규명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57523" y="7255764"/>
            <a:ext cx="3892553" cy="1248156"/>
            <a:chOff x="0" y="0"/>
            <a:chExt cx="5190071" cy="1664208"/>
          </a:xfrm>
        </p:grpSpPr>
        <p:sp>
          <p:nvSpPr>
            <p:cNvPr name="Freeform 24" id="24" descr="/mnt/data/work_major/assets/original_2.png"/>
            <p:cNvSpPr/>
            <p:nvPr/>
          </p:nvSpPr>
          <p:spPr>
            <a:xfrm flipH="false" flipV="false" rot="0">
              <a:off x="0" y="0"/>
              <a:ext cx="5190109" cy="1664208"/>
            </a:xfrm>
            <a:custGeom>
              <a:avLst/>
              <a:gdLst/>
              <a:ahLst/>
              <a:cxnLst/>
              <a:rect r="r" b="b" t="t" l="l"/>
              <a:pathLst>
                <a:path h="1664208" w="5190109">
                  <a:moveTo>
                    <a:pt x="0" y="0"/>
                  </a:moveTo>
                  <a:lnTo>
                    <a:pt x="5190109" y="0"/>
                  </a:lnTo>
                  <a:lnTo>
                    <a:pt x="5190109" y="1664208"/>
                  </a:lnTo>
                  <a:lnTo>
                    <a:pt x="0" y="16642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87552" y="8599932"/>
            <a:ext cx="4306824" cy="329184"/>
            <a:chOff x="0" y="0"/>
            <a:chExt cx="5742432" cy="43891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742432" cy="438912"/>
            </a:xfrm>
            <a:custGeom>
              <a:avLst/>
              <a:gdLst/>
              <a:ahLst/>
              <a:cxnLst/>
              <a:rect r="r" b="b" t="t" l="l"/>
              <a:pathLst>
                <a:path h="438912" w="5742432">
                  <a:moveTo>
                    <a:pt x="0" y="0"/>
                  </a:moveTo>
                  <a:lnTo>
                    <a:pt x="5742432" y="0"/>
                  </a:lnTo>
                  <a:lnTo>
                    <a:pt x="574243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4929" r="0" b="-204929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5742432" cy="457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05"/>
                </a:lnSpc>
              </a:pPr>
              <a:r>
                <a:rPr lang="en-US" sz="1470" spc="5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D_c: 확산계수  ·  dc/dx: 농도경사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507164" y="2590714"/>
            <a:ext cx="3826383" cy="5033391"/>
            <a:chOff x="0" y="0"/>
            <a:chExt cx="5101844" cy="671118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101844" cy="6711188"/>
            </a:xfrm>
            <a:custGeom>
              <a:avLst/>
              <a:gdLst/>
              <a:ahLst/>
              <a:cxnLst/>
              <a:rect r="r" b="b" t="t" l="l"/>
              <a:pathLst>
                <a:path h="6711188" w="5101844">
                  <a:moveTo>
                    <a:pt x="0" y="0"/>
                  </a:moveTo>
                  <a:lnTo>
                    <a:pt x="5101844" y="0"/>
                  </a:lnTo>
                  <a:lnTo>
                    <a:pt x="5101844" y="6711188"/>
                  </a:lnTo>
                  <a:lnTo>
                    <a:pt x="0" y="6711188"/>
                  </a:ln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DE3E9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5637276" y="2871702"/>
            <a:ext cx="3566160" cy="438912"/>
            <a:chOff x="0" y="0"/>
            <a:chExt cx="4754880" cy="58521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754880" cy="585216"/>
            </a:xfrm>
            <a:custGeom>
              <a:avLst/>
              <a:gdLst/>
              <a:ahLst/>
              <a:cxnLst/>
              <a:rect r="r" b="b" t="t" l="l"/>
              <a:pathLst>
                <a:path h="585216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315" r="0" b="-10831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475488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13"/>
                </a:lnSpc>
              </a:pPr>
              <a:r>
                <a:rPr lang="en-US" sz="2325" spc="9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함수율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650992" y="4124963"/>
            <a:ext cx="3538728" cy="2650684"/>
            <a:chOff x="0" y="0"/>
            <a:chExt cx="4718304" cy="3534245"/>
          </a:xfrm>
        </p:grpSpPr>
        <p:sp>
          <p:nvSpPr>
            <p:cNvPr name="Freeform 34" id="34" descr="/mnt/data/work_major/assets/plot_5.png"/>
            <p:cNvSpPr/>
            <p:nvPr/>
          </p:nvSpPr>
          <p:spPr>
            <a:xfrm flipH="false" flipV="false" rot="0">
              <a:off x="0" y="0"/>
              <a:ext cx="4718304" cy="3534283"/>
            </a:xfrm>
            <a:custGeom>
              <a:avLst/>
              <a:gdLst/>
              <a:ahLst/>
              <a:cxnLst/>
              <a:rect r="r" b="b" t="t" l="l"/>
              <a:pathLst>
                <a:path h="3534283" w="4718304">
                  <a:moveTo>
                    <a:pt x="0" y="0"/>
                  </a:moveTo>
                  <a:lnTo>
                    <a:pt x="4718304" y="0"/>
                  </a:lnTo>
                  <a:lnTo>
                    <a:pt x="4718304" y="3534283"/>
                  </a:lnTo>
                  <a:lnTo>
                    <a:pt x="0" y="35342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1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553384" y="2590714"/>
            <a:ext cx="3826383" cy="5033391"/>
            <a:chOff x="0" y="0"/>
            <a:chExt cx="5101844" cy="671118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101844" cy="6711188"/>
            </a:xfrm>
            <a:custGeom>
              <a:avLst/>
              <a:gdLst/>
              <a:ahLst/>
              <a:cxnLst/>
              <a:rect r="r" b="b" t="t" l="l"/>
              <a:pathLst>
                <a:path h="6711188" w="5101844">
                  <a:moveTo>
                    <a:pt x="0" y="0"/>
                  </a:moveTo>
                  <a:lnTo>
                    <a:pt x="5101844" y="0"/>
                  </a:lnTo>
                  <a:lnTo>
                    <a:pt x="5101844" y="6711188"/>
                  </a:lnTo>
                  <a:lnTo>
                    <a:pt x="0" y="6711188"/>
                  </a:ln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DE3E9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9683496" y="2871702"/>
            <a:ext cx="3566160" cy="438912"/>
            <a:chOff x="0" y="0"/>
            <a:chExt cx="4754880" cy="58521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754880" cy="585216"/>
            </a:xfrm>
            <a:custGeom>
              <a:avLst/>
              <a:gdLst/>
              <a:ahLst/>
              <a:cxnLst/>
              <a:rect r="r" b="b" t="t" l="l"/>
              <a:pathLst>
                <a:path h="585216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315" r="0" b="-10831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475488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13"/>
                </a:lnSpc>
              </a:pPr>
              <a:r>
                <a:rPr lang="en-US" sz="2325" spc="9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수증기압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697212" y="4141508"/>
            <a:ext cx="3538728" cy="2617603"/>
            <a:chOff x="0" y="0"/>
            <a:chExt cx="4718304" cy="3490138"/>
          </a:xfrm>
        </p:grpSpPr>
        <p:sp>
          <p:nvSpPr>
            <p:cNvPr name="Freeform 41" id="41" descr="/mnt/data/work_major/assets/plot_4.png"/>
            <p:cNvSpPr/>
            <p:nvPr/>
          </p:nvSpPr>
          <p:spPr>
            <a:xfrm flipH="false" flipV="false" rot="0">
              <a:off x="0" y="0"/>
              <a:ext cx="4718304" cy="3490087"/>
            </a:xfrm>
            <a:custGeom>
              <a:avLst/>
              <a:gdLst/>
              <a:ahLst/>
              <a:cxnLst/>
              <a:rect r="r" b="b" t="t" l="l"/>
              <a:pathLst>
                <a:path h="3490087" w="4718304">
                  <a:moveTo>
                    <a:pt x="0" y="0"/>
                  </a:moveTo>
                  <a:lnTo>
                    <a:pt x="4718304" y="0"/>
                  </a:lnTo>
                  <a:lnTo>
                    <a:pt x="4718304" y="3490087"/>
                  </a:lnTo>
                  <a:lnTo>
                    <a:pt x="0" y="3490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1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3599604" y="2590714"/>
            <a:ext cx="3826383" cy="5033391"/>
            <a:chOff x="0" y="0"/>
            <a:chExt cx="5101844" cy="671118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01844" cy="6711188"/>
            </a:xfrm>
            <a:custGeom>
              <a:avLst/>
              <a:gdLst/>
              <a:ahLst/>
              <a:cxnLst/>
              <a:rect r="r" b="b" t="t" l="l"/>
              <a:pathLst>
                <a:path h="6711188" w="5101844">
                  <a:moveTo>
                    <a:pt x="0" y="0"/>
                  </a:moveTo>
                  <a:lnTo>
                    <a:pt x="5101844" y="0"/>
                  </a:lnTo>
                  <a:lnTo>
                    <a:pt x="5101844" y="6711188"/>
                  </a:lnTo>
                  <a:lnTo>
                    <a:pt x="0" y="6711188"/>
                  </a:ln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DE3E9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3729716" y="2871702"/>
            <a:ext cx="3566160" cy="438912"/>
            <a:chOff x="0" y="0"/>
            <a:chExt cx="4754880" cy="58521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754880" cy="585216"/>
            </a:xfrm>
            <a:custGeom>
              <a:avLst/>
              <a:gdLst/>
              <a:ahLst/>
              <a:cxnLst/>
              <a:rect r="r" b="b" t="t" l="l"/>
              <a:pathLst>
                <a:path h="585216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315" r="0" b="-10831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475488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66"/>
                </a:lnSpc>
              </a:pPr>
              <a:r>
                <a:rPr lang="en-US" sz="1979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화학 포텐셜 에너지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3743432" y="3709283"/>
            <a:ext cx="3538728" cy="3482045"/>
            <a:chOff x="0" y="0"/>
            <a:chExt cx="4718304" cy="4642726"/>
          </a:xfrm>
        </p:grpSpPr>
        <p:sp>
          <p:nvSpPr>
            <p:cNvPr name="Freeform 48" id="48" descr="/mnt/data/work_major/assets/plot_6.png"/>
            <p:cNvSpPr/>
            <p:nvPr/>
          </p:nvSpPr>
          <p:spPr>
            <a:xfrm flipH="false" flipV="false" rot="0">
              <a:off x="0" y="0"/>
              <a:ext cx="4718304" cy="4642739"/>
            </a:xfrm>
            <a:custGeom>
              <a:avLst/>
              <a:gdLst/>
              <a:ahLst/>
              <a:cxnLst/>
              <a:rect r="r" b="b" t="t" l="l"/>
              <a:pathLst>
                <a:path h="4642739" w="4718304">
                  <a:moveTo>
                    <a:pt x="0" y="0"/>
                  </a:moveTo>
                  <a:lnTo>
                    <a:pt x="4718304" y="0"/>
                  </a:lnTo>
                  <a:lnTo>
                    <a:pt x="4718304" y="4642739"/>
                  </a:lnTo>
                  <a:lnTo>
                    <a:pt x="0" y="4642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813435" y="9125331"/>
            <a:ext cx="16656558" cy="430530"/>
            <a:chOff x="0" y="0"/>
            <a:chExt cx="22208744" cy="5740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2208744" cy="574040"/>
            </a:xfrm>
            <a:custGeom>
              <a:avLst/>
              <a:gdLst/>
              <a:ahLst/>
              <a:cxnLst/>
              <a:rect r="r" b="b" t="t" l="l"/>
              <a:pathLst>
                <a:path h="574040" w="22208744">
                  <a:moveTo>
                    <a:pt x="0" y="0"/>
                  </a:moveTo>
                  <a:lnTo>
                    <a:pt x="22208744" y="0"/>
                  </a:lnTo>
                  <a:lnTo>
                    <a:pt x="22208744" y="574040"/>
                  </a:lnTo>
                  <a:lnTo>
                    <a:pt x="0" y="574040"/>
                  </a:lnTo>
                  <a:close/>
                </a:path>
              </a:pathLst>
            </a:custGeom>
            <a:solidFill>
              <a:srgbClr val="162B43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056132" y="9210294"/>
            <a:ext cx="1536192" cy="219456"/>
            <a:chOff x="0" y="0"/>
            <a:chExt cx="2048256" cy="29260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048256" cy="292608"/>
            </a:xfrm>
            <a:custGeom>
              <a:avLst/>
              <a:gdLst/>
              <a:ahLst/>
              <a:cxnLst/>
              <a:rect r="r" b="b" t="t" l="l"/>
              <a:pathLst>
                <a:path h="292608" w="2048256">
                  <a:moveTo>
                    <a:pt x="0" y="0"/>
                  </a:moveTo>
                  <a:lnTo>
                    <a:pt x="2048256" y="0"/>
                  </a:lnTo>
                  <a:lnTo>
                    <a:pt x="2048256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2048256" cy="3116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18"/>
                </a:lnSpc>
              </a:pPr>
              <a:r>
                <a:rPr lang="en-US" sz="1635" spc="6">
                  <a:solidFill>
                    <a:srgbClr val="C8D7E6"/>
                  </a:solidFill>
                  <a:latin typeface="Mandali"/>
                  <a:ea typeface="Mandali"/>
                  <a:cs typeface="Mandali"/>
                  <a:sym typeface="Mandali"/>
                </a:rPr>
                <a:t>핵심 결과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2770632" y="9196578"/>
            <a:ext cx="14374368" cy="274320"/>
            <a:chOff x="0" y="0"/>
            <a:chExt cx="19165824" cy="36576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9165824" cy="365760"/>
            </a:xfrm>
            <a:custGeom>
              <a:avLst/>
              <a:gdLst/>
              <a:ahLst/>
              <a:cxnLst/>
              <a:rect r="r" b="b" t="t" l="l"/>
              <a:pathLst>
                <a:path h="365760" w="19165824">
                  <a:moveTo>
                    <a:pt x="0" y="0"/>
                  </a:moveTo>
                  <a:lnTo>
                    <a:pt x="19165824" y="0"/>
                  </a:lnTo>
                  <a:lnTo>
                    <a:pt x="19165824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1016" r="0" b="-971016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19165824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8"/>
                </a:lnSpc>
              </a:pPr>
              <a:r>
                <a:rPr lang="en-US" sz="1920" spc="7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수분 이동의 구동력 규명을 회귀분석으로 설명 시도.</a:t>
              </a:r>
            </a:p>
          </p:txBody>
        </p:sp>
      </p:grpSp>
      <p:sp>
        <p:nvSpPr>
          <p:cNvPr name="AutoShape 57" id="57"/>
          <p:cNvSpPr/>
          <p:nvPr/>
        </p:nvSpPr>
        <p:spPr>
          <a:xfrm rot="2760">
            <a:off x="816293" y="9706166"/>
            <a:ext cx="16650853" cy="0"/>
          </a:xfrm>
          <a:prstGeom prst="line">
            <a:avLst/>
          </a:prstGeom>
          <a:ln cap="rnd" w="9525">
            <a:solidFill>
              <a:srgbClr val="DDE3E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8" id="58"/>
          <p:cNvGrpSpPr/>
          <p:nvPr/>
        </p:nvGrpSpPr>
        <p:grpSpPr>
          <a:xfrm rot="0">
            <a:off x="5513832" y="7694676"/>
            <a:ext cx="11905488" cy="1234440"/>
            <a:chOff x="0" y="0"/>
            <a:chExt cx="15873984" cy="164592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5873985" cy="1645920"/>
            </a:xfrm>
            <a:custGeom>
              <a:avLst/>
              <a:gdLst/>
              <a:ahLst/>
              <a:cxnLst/>
              <a:rect r="r" b="b" t="t" l="l"/>
              <a:pathLst>
                <a:path h="1645920" w="15873985">
                  <a:moveTo>
                    <a:pt x="0" y="0"/>
                  </a:moveTo>
                  <a:lnTo>
                    <a:pt x="15873985" y="0"/>
                  </a:lnTo>
                  <a:lnTo>
                    <a:pt x="15873985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922" r="0" b="-137922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28575"/>
              <a:ext cx="15873984" cy="16744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88"/>
                </a:lnSpc>
              </a:pPr>
              <a:r>
                <a:rPr lang="en-US" sz="1964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정상 상태 (steady-state) 에서 상대 습도 조건이 수분 분포 형태를 표현하는 데 중요한 요인이었다.</a:t>
              </a:r>
            </a:p>
            <a:p>
              <a:pPr algn="l">
                <a:lnSpc>
                  <a:spcPts val="2688"/>
                </a:lnSpc>
              </a:pPr>
              <a:r>
                <a:rPr lang="en-US" sz="1964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정상 상태에서 정확한 확산 계수를 얻는다면, 비정상 상태(non-steady state) 조건에서 확산 계수를 확보할 수 있을 것이고, 확산계수를 활용해서 구동력을 규명할 수 있다.</a:t>
              </a:r>
            </a:p>
            <a:p>
              <a:pPr algn="l">
                <a:lnSpc>
                  <a:spcPts val="2688"/>
                </a:lnSpc>
              </a:pPr>
              <a:r>
                <a:rPr lang="en-US" sz="1964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이 과정을 위해서 더욱 치밀한 실험 설계와 더 많은 데이터를 확보하는 것이 요구된다.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93776"/>
            <a:ext cx="16596360" cy="301752"/>
            <a:chOff x="0" y="0"/>
            <a:chExt cx="22128480" cy="4023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402336"/>
            </a:xfrm>
            <a:custGeom>
              <a:avLst/>
              <a:gdLst/>
              <a:ahLst/>
              <a:cxnLst/>
              <a:rect r="r" b="b" t="t" l="l"/>
              <a:pathLst>
                <a:path h="402336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1677" r="0" b="-102167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12848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99"/>
                </a:lnSpc>
              </a:pPr>
              <a:r>
                <a:rPr lang="en-US" sz="1620" spc="126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03  /  SYSTEM DEVELOPMENT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124712"/>
            <a:ext cx="16596360" cy="685800"/>
            <a:chOff x="0" y="0"/>
            <a:chExt cx="22128480" cy="91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914400"/>
            </a:xfrm>
            <a:custGeom>
              <a:avLst/>
              <a:gdLst/>
              <a:ahLst/>
              <a:cxnLst/>
              <a:rect r="r" b="b" t="t" l="l"/>
              <a:pathLst>
                <a:path h="91440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1537" r="0" b="-42153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12848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48"/>
                </a:lnSpc>
              </a:pPr>
              <a:r>
                <a:rPr lang="en-US" sz="4050" spc="15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로컬 LLM 기반 악성 코드 분석 시스템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50392" y="1920240"/>
            <a:ext cx="16459200" cy="411480"/>
            <a:chOff x="0" y="0"/>
            <a:chExt cx="219456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548640"/>
            </a:xfrm>
            <a:custGeom>
              <a:avLst/>
              <a:gdLst/>
              <a:ahLst/>
              <a:cxnLst/>
              <a:rect r="r" b="b" t="t" l="l"/>
              <a:pathLst>
                <a:path h="5486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9401" r="0" b="-72940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19456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8"/>
                </a:lnSpc>
              </a:pPr>
              <a:r>
                <a:rPr lang="en-US" sz="1920" spc="7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공개 프로젝트 구조를 프로젝트 요구에 맞게 재구성하고, 임의의 Python code를 테스트하는 프로토타입 구현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16293" y="2750248"/>
            <a:ext cx="10506075" cy="6624447"/>
            <a:chOff x="0" y="0"/>
            <a:chExt cx="14008100" cy="883259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008100" cy="8832596"/>
            </a:xfrm>
            <a:custGeom>
              <a:avLst/>
              <a:gdLst/>
              <a:ahLst/>
              <a:cxnLst/>
              <a:rect r="r" b="b" t="t" l="l"/>
              <a:pathLst>
                <a:path h="8832596" w="14008100">
                  <a:moveTo>
                    <a:pt x="0" y="0"/>
                  </a:moveTo>
                  <a:lnTo>
                    <a:pt x="14008100" y="0"/>
                  </a:lnTo>
                  <a:lnTo>
                    <a:pt x="14008100" y="8832596"/>
                  </a:lnTo>
                  <a:lnTo>
                    <a:pt x="0" y="8832596"/>
                  </a:ln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DE3E9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193292" y="3058668"/>
            <a:ext cx="9573768" cy="342900"/>
            <a:chOff x="0" y="0"/>
            <a:chExt cx="12765024" cy="457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765024" cy="457200"/>
            </a:xfrm>
            <a:custGeom>
              <a:avLst/>
              <a:gdLst/>
              <a:ahLst/>
              <a:cxnLst/>
              <a:rect r="r" b="b" t="t" l="l"/>
              <a:pathLst>
                <a:path h="457200" w="12765024">
                  <a:moveTo>
                    <a:pt x="0" y="0"/>
                  </a:moveTo>
                  <a:lnTo>
                    <a:pt x="12765024" y="0"/>
                  </a:lnTo>
                  <a:lnTo>
                    <a:pt x="1276502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4022" r="0" b="-49402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2765024" cy="476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5"/>
                </a:lnSpc>
              </a:pPr>
              <a:r>
                <a:rPr lang="en-US" sz="1995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개발 구조  |  핵심 처리 흐름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00340" y="3902392"/>
            <a:ext cx="2591943" cy="932307"/>
            <a:chOff x="0" y="0"/>
            <a:chExt cx="3455924" cy="124307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455924" cy="1243076"/>
            </a:xfrm>
            <a:custGeom>
              <a:avLst/>
              <a:gdLst/>
              <a:ahLst/>
              <a:cxnLst/>
              <a:rect r="r" b="b" t="t" l="l"/>
              <a:pathLst>
                <a:path h="1243076" w="3455924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3307461" y="0"/>
                  </a:lnTo>
                  <a:cubicBezTo>
                    <a:pt x="3389376" y="0"/>
                    <a:pt x="3455924" y="66421"/>
                    <a:pt x="3455924" y="148463"/>
                  </a:cubicBezTo>
                  <a:lnTo>
                    <a:pt x="3455924" y="1094613"/>
                  </a:lnTo>
                  <a:cubicBezTo>
                    <a:pt x="3455924" y="1176528"/>
                    <a:pt x="3389503" y="1243076"/>
                    <a:pt x="3307461" y="1243076"/>
                  </a:cubicBezTo>
                  <a:lnTo>
                    <a:pt x="148463" y="1243076"/>
                  </a:lnTo>
                  <a:cubicBezTo>
                    <a:pt x="66421" y="1243076"/>
                    <a:pt x="0" y="1176655"/>
                    <a:pt x="0" y="1094613"/>
                  </a:cubicBezTo>
                  <a:close/>
                </a:path>
              </a:pathLst>
            </a:custGeom>
            <a:solidFill>
              <a:srgbClr val="F0F3F6"/>
            </a:solidFill>
            <a:ln w="13335" cap="sq">
              <a:solidFill>
                <a:srgbClr val="DDE3E9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316736" y="4032504"/>
            <a:ext cx="2359152" cy="370332"/>
            <a:chOff x="0" y="0"/>
            <a:chExt cx="3145536" cy="49377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45536" cy="493776"/>
            </a:xfrm>
            <a:custGeom>
              <a:avLst/>
              <a:gdLst/>
              <a:ahLst/>
              <a:cxnLst/>
              <a:rect r="r" b="b" t="t" l="l"/>
              <a:pathLst>
                <a:path h="493776" w="3145536">
                  <a:moveTo>
                    <a:pt x="0" y="0"/>
                  </a:moveTo>
                  <a:lnTo>
                    <a:pt x="3145536" y="0"/>
                  </a:lnTo>
                  <a:lnTo>
                    <a:pt x="3145536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126" r="0" b="-7412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3145536" cy="522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07"/>
                </a:lnSpc>
              </a:pPr>
              <a:r>
                <a:rPr lang="en-US" sz="1935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코드 · 기준 PDF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03020" y="4457700"/>
            <a:ext cx="2386584" cy="274320"/>
            <a:chOff x="0" y="0"/>
            <a:chExt cx="3182112" cy="3657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182112" cy="365760"/>
            </a:xfrm>
            <a:custGeom>
              <a:avLst/>
              <a:gdLst/>
              <a:ahLst/>
              <a:cxnLst/>
              <a:rect r="r" b="b" t="t" l="l"/>
              <a:pathLst>
                <a:path h="365760" w="3182112">
                  <a:moveTo>
                    <a:pt x="0" y="0"/>
                  </a:moveTo>
                  <a:lnTo>
                    <a:pt x="3182112" y="0"/>
                  </a:lnTo>
                  <a:lnTo>
                    <a:pt x="3182112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519" r="0" b="-11951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3182112" cy="384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1"/>
                </a:lnSpc>
              </a:pPr>
              <a:r>
                <a:rPr lang="en-US" sz="1560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입력 자료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341304" y="3902392"/>
            <a:ext cx="2468499" cy="932307"/>
            <a:chOff x="0" y="0"/>
            <a:chExt cx="3291332" cy="124307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291332" cy="1243076"/>
            </a:xfrm>
            <a:custGeom>
              <a:avLst/>
              <a:gdLst/>
              <a:ahLst/>
              <a:cxnLst/>
              <a:rect r="r" b="b" t="t" l="l"/>
              <a:pathLst>
                <a:path h="1243076" w="3291332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3142869" y="0"/>
                  </a:lnTo>
                  <a:cubicBezTo>
                    <a:pt x="3224784" y="0"/>
                    <a:pt x="3291332" y="66421"/>
                    <a:pt x="3291332" y="148463"/>
                  </a:cubicBezTo>
                  <a:lnTo>
                    <a:pt x="3291332" y="1094613"/>
                  </a:lnTo>
                  <a:cubicBezTo>
                    <a:pt x="3291332" y="1176528"/>
                    <a:pt x="3224911" y="1243076"/>
                    <a:pt x="3142869" y="1243076"/>
                  </a:cubicBezTo>
                  <a:lnTo>
                    <a:pt x="148463" y="1243076"/>
                  </a:lnTo>
                  <a:cubicBezTo>
                    <a:pt x="66421" y="1243076"/>
                    <a:pt x="0" y="1176655"/>
                    <a:pt x="0" y="1094613"/>
                  </a:cubicBezTo>
                  <a:close/>
                </a:path>
              </a:pathLst>
            </a:custGeom>
            <a:solidFill>
              <a:srgbClr val="EDF3FA"/>
            </a:solidFill>
            <a:ln w="13335" cap="sq">
              <a:solidFill>
                <a:srgbClr val="DDE3E9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4457700" y="4032504"/>
            <a:ext cx="2235708" cy="370332"/>
            <a:chOff x="0" y="0"/>
            <a:chExt cx="2980944" cy="49377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980944" cy="493776"/>
            </a:xfrm>
            <a:custGeom>
              <a:avLst/>
              <a:gdLst/>
              <a:ahLst/>
              <a:cxnLst/>
              <a:rect r="r" b="b" t="t" l="l"/>
              <a:pathLst>
                <a:path h="493776" w="2980944">
                  <a:moveTo>
                    <a:pt x="0" y="0"/>
                  </a:moveTo>
                  <a:lnTo>
                    <a:pt x="2980944" y="0"/>
                  </a:lnTo>
                  <a:lnTo>
                    <a:pt x="2980944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631" r="0" b="-6763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2980944" cy="522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07"/>
                </a:lnSpc>
              </a:pPr>
              <a:r>
                <a:rPr lang="en-US" sz="1935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MCP Server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443984" y="4457700"/>
            <a:ext cx="2263140" cy="274320"/>
            <a:chOff x="0" y="0"/>
            <a:chExt cx="3017520" cy="3657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017520" cy="365760"/>
            </a:xfrm>
            <a:custGeom>
              <a:avLst/>
              <a:gdLst/>
              <a:ahLst/>
              <a:cxnLst/>
              <a:rect r="r" b="b" t="t" l="l"/>
              <a:pathLst>
                <a:path h="365760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751" r="0" b="-11075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3017520" cy="384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1"/>
                </a:lnSpc>
              </a:pPr>
              <a:r>
                <a:rPr lang="en-US" sz="1560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Jadx-ai-mcp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358825" y="3902392"/>
            <a:ext cx="3387471" cy="932307"/>
            <a:chOff x="0" y="0"/>
            <a:chExt cx="4516628" cy="124307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516628" cy="1243076"/>
            </a:xfrm>
            <a:custGeom>
              <a:avLst/>
              <a:gdLst/>
              <a:ahLst/>
              <a:cxnLst/>
              <a:rect r="r" b="b" t="t" l="l"/>
              <a:pathLst>
                <a:path h="1243076" w="4516628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4368165" y="0"/>
                  </a:lnTo>
                  <a:cubicBezTo>
                    <a:pt x="4450080" y="0"/>
                    <a:pt x="4516628" y="66421"/>
                    <a:pt x="4516628" y="148463"/>
                  </a:cubicBezTo>
                  <a:lnTo>
                    <a:pt x="4516628" y="1094613"/>
                  </a:lnTo>
                  <a:cubicBezTo>
                    <a:pt x="4516628" y="1176528"/>
                    <a:pt x="4450207" y="1243076"/>
                    <a:pt x="4368165" y="1243076"/>
                  </a:cubicBezTo>
                  <a:lnTo>
                    <a:pt x="148463" y="1243076"/>
                  </a:lnTo>
                  <a:cubicBezTo>
                    <a:pt x="66421" y="1243076"/>
                    <a:pt x="0" y="1176655"/>
                    <a:pt x="0" y="1094613"/>
                  </a:cubicBezTo>
                  <a:close/>
                </a:path>
              </a:pathLst>
            </a:custGeom>
            <a:solidFill>
              <a:srgbClr val="EDF3FA"/>
            </a:solidFill>
            <a:ln w="13335" cap="sq">
              <a:solidFill>
                <a:srgbClr val="DDE3E9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7475220" y="4032504"/>
            <a:ext cx="3154680" cy="370332"/>
            <a:chOff x="0" y="0"/>
            <a:chExt cx="4206240" cy="49377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206240" cy="493776"/>
            </a:xfrm>
            <a:custGeom>
              <a:avLst/>
              <a:gdLst/>
              <a:ahLst/>
              <a:cxnLst/>
              <a:rect r="r" b="b" t="t" l="l"/>
              <a:pathLst>
                <a:path h="493776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983" r="0" b="-11598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4206240" cy="522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07"/>
                </a:lnSpc>
              </a:pPr>
              <a:r>
                <a:rPr lang="en-US" sz="1935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Remediation Service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461504" y="4457700"/>
            <a:ext cx="3182112" cy="274320"/>
            <a:chOff x="0" y="0"/>
            <a:chExt cx="4242816" cy="3657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242816" cy="365760"/>
            </a:xfrm>
            <a:custGeom>
              <a:avLst/>
              <a:gdLst/>
              <a:ahLst/>
              <a:cxnLst/>
              <a:rect r="r" b="b" t="t" l="l"/>
              <a:pathLst>
                <a:path h="365760" w="4242816">
                  <a:moveTo>
                    <a:pt x="0" y="0"/>
                  </a:moveTo>
                  <a:lnTo>
                    <a:pt x="4242816" y="0"/>
                  </a:lnTo>
                  <a:lnTo>
                    <a:pt x="4242816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026" r="0" b="-176026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4242816" cy="384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1"/>
                </a:lnSpc>
              </a:pPr>
              <a:r>
                <a:rPr lang="en-US" sz="1560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호출 · 결과 조정</a:t>
              </a:r>
            </a:p>
          </p:txBody>
        </p:sp>
      </p:grpSp>
      <p:sp>
        <p:nvSpPr>
          <p:cNvPr name="AutoShape 40" id="40"/>
          <p:cNvSpPr/>
          <p:nvPr/>
        </p:nvSpPr>
        <p:spPr>
          <a:xfrm rot="201240">
            <a:off x="3814020" y="4356926"/>
            <a:ext cx="423253" cy="0"/>
          </a:xfrm>
          <a:prstGeom prst="line">
            <a:avLst/>
          </a:prstGeom>
          <a:ln cap="rnd" w="9525">
            <a:solidFill>
              <a:srgbClr val="2859A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1" id="41"/>
          <p:cNvSpPr/>
          <p:nvPr/>
        </p:nvSpPr>
        <p:spPr>
          <a:xfrm rot="201240">
            <a:off x="6831540" y="4356926"/>
            <a:ext cx="423253" cy="0"/>
          </a:xfrm>
          <a:prstGeom prst="line">
            <a:avLst/>
          </a:prstGeom>
          <a:ln cap="rnd" w="9525">
            <a:solidFill>
              <a:srgbClr val="2859A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2" id="42"/>
          <p:cNvSpPr/>
          <p:nvPr/>
        </p:nvSpPr>
        <p:spPr>
          <a:xfrm rot="5209380">
            <a:off x="8849763" y="5029010"/>
            <a:ext cx="378152" cy="0"/>
          </a:xfrm>
          <a:prstGeom prst="line">
            <a:avLst/>
          </a:prstGeom>
          <a:ln cap="rnd" w="9525">
            <a:solidFill>
              <a:srgbClr val="2859A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3" id="43"/>
          <p:cNvSpPr/>
          <p:nvPr/>
        </p:nvSpPr>
        <p:spPr>
          <a:xfrm rot="9780">
            <a:off x="2293791" y="5207318"/>
            <a:ext cx="7386476" cy="0"/>
          </a:xfrm>
          <a:prstGeom prst="line">
            <a:avLst/>
          </a:prstGeom>
          <a:ln cap="rnd" w="9525">
            <a:solidFill>
              <a:srgbClr val="2859A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4" id="44"/>
          <p:cNvGrpSpPr/>
          <p:nvPr/>
        </p:nvGrpSpPr>
        <p:grpSpPr>
          <a:xfrm rot="0">
            <a:off x="1385316" y="4882896"/>
            <a:ext cx="3223260" cy="233172"/>
            <a:chOff x="0" y="0"/>
            <a:chExt cx="4297680" cy="31089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297680" cy="310896"/>
            </a:xfrm>
            <a:custGeom>
              <a:avLst/>
              <a:gdLst/>
              <a:ahLst/>
              <a:cxnLst/>
              <a:rect r="r" b="b" t="t" l="l"/>
              <a:pathLst>
                <a:path h="310896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310896"/>
                  </a:lnTo>
                  <a:lnTo>
                    <a:pt x="0" y="310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352" r="0" b="-21935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4297680" cy="3204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7"/>
                </a:lnSpc>
              </a:pPr>
              <a:r>
                <a:rPr lang="en-US" sz="1395" spc="5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A2A / gRPC</a:t>
              </a:r>
            </a:p>
          </p:txBody>
        </p:sp>
      </p:grpSp>
      <p:sp>
        <p:nvSpPr>
          <p:cNvPr name="AutoShape 47" id="47"/>
          <p:cNvSpPr/>
          <p:nvPr/>
        </p:nvSpPr>
        <p:spPr>
          <a:xfrm rot="5177100">
            <a:off x="2157298" y="5344478"/>
            <a:ext cx="293989" cy="0"/>
          </a:xfrm>
          <a:prstGeom prst="line">
            <a:avLst/>
          </a:prstGeom>
          <a:ln cap="rnd" w="9525">
            <a:solidFill>
              <a:srgbClr val="2859A6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48" id="48"/>
          <p:cNvGrpSpPr/>
          <p:nvPr/>
        </p:nvGrpSpPr>
        <p:grpSpPr>
          <a:xfrm rot="0">
            <a:off x="1200340" y="5534596"/>
            <a:ext cx="2194179" cy="1014603"/>
            <a:chOff x="0" y="0"/>
            <a:chExt cx="2925572" cy="135280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925572" cy="1352804"/>
            </a:xfrm>
            <a:custGeom>
              <a:avLst/>
              <a:gdLst/>
              <a:ahLst/>
              <a:cxnLst/>
              <a:rect r="r" b="b" t="t" l="l"/>
              <a:pathLst>
                <a:path h="1352804" w="2925572">
                  <a:moveTo>
                    <a:pt x="0" y="148209"/>
                  </a:moveTo>
                  <a:cubicBezTo>
                    <a:pt x="0" y="66421"/>
                    <a:pt x="66421" y="0"/>
                    <a:pt x="148209" y="0"/>
                  </a:cubicBezTo>
                  <a:lnTo>
                    <a:pt x="2777363" y="0"/>
                  </a:lnTo>
                  <a:cubicBezTo>
                    <a:pt x="2859278" y="0"/>
                    <a:pt x="2925572" y="66421"/>
                    <a:pt x="2925572" y="148209"/>
                  </a:cubicBezTo>
                  <a:lnTo>
                    <a:pt x="2925572" y="1204595"/>
                  </a:lnTo>
                  <a:cubicBezTo>
                    <a:pt x="2925572" y="1286510"/>
                    <a:pt x="2859151" y="1352804"/>
                    <a:pt x="2777363" y="1352804"/>
                  </a:cubicBezTo>
                  <a:lnTo>
                    <a:pt x="148209" y="1352804"/>
                  </a:lnTo>
                  <a:cubicBezTo>
                    <a:pt x="66421" y="1352804"/>
                    <a:pt x="0" y="1286383"/>
                    <a:pt x="0" y="1204595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DE3E9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316736" y="5664708"/>
            <a:ext cx="1961388" cy="370332"/>
            <a:chOff x="0" y="0"/>
            <a:chExt cx="2615184" cy="49377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615184" cy="493776"/>
            </a:xfrm>
            <a:custGeom>
              <a:avLst/>
              <a:gdLst/>
              <a:ahLst/>
              <a:cxnLst/>
              <a:rect r="r" b="b" t="t" l="l"/>
              <a:pathLst>
                <a:path h="493776" w="2615184">
                  <a:moveTo>
                    <a:pt x="0" y="0"/>
                  </a:moveTo>
                  <a:lnTo>
                    <a:pt x="2615184" y="0"/>
                  </a:lnTo>
                  <a:lnTo>
                    <a:pt x="2615184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198" r="0" b="-5319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2615184" cy="522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07"/>
                </a:lnSpc>
              </a:pPr>
              <a:r>
                <a:rPr lang="en-US" sz="1935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Quick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303020" y="6089904"/>
            <a:ext cx="1988820" cy="274320"/>
            <a:chOff x="0" y="0"/>
            <a:chExt cx="2651760" cy="3657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651760" cy="365760"/>
            </a:xfrm>
            <a:custGeom>
              <a:avLst/>
              <a:gdLst/>
              <a:ahLst/>
              <a:cxnLst/>
              <a:rect r="r" b="b" t="t" l="l"/>
              <a:pathLst>
                <a:path h="365760" w="2651760">
                  <a:moveTo>
                    <a:pt x="0" y="0"/>
                  </a:moveTo>
                  <a:lnTo>
                    <a:pt x="2651760" y="0"/>
                  </a:lnTo>
                  <a:lnTo>
                    <a:pt x="26517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2651760" cy="384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1"/>
                </a:lnSpc>
              </a:pPr>
              <a:r>
                <a:rPr lang="en-US" sz="1560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패턴 검사</a:t>
              </a:r>
            </a:p>
          </p:txBody>
        </p:sp>
      </p:grpSp>
      <p:sp>
        <p:nvSpPr>
          <p:cNvPr name="AutoShape 56" id="56"/>
          <p:cNvSpPr/>
          <p:nvPr/>
        </p:nvSpPr>
        <p:spPr>
          <a:xfrm rot="5198040">
            <a:off x="2158308" y="6688646"/>
            <a:ext cx="291970" cy="0"/>
          </a:xfrm>
          <a:prstGeom prst="line">
            <a:avLst/>
          </a:prstGeom>
          <a:ln cap="rnd" w="9525">
            <a:solidFill>
              <a:srgbClr val="66728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7" id="57"/>
          <p:cNvSpPr/>
          <p:nvPr/>
        </p:nvSpPr>
        <p:spPr>
          <a:xfrm rot="5177100">
            <a:off x="4612462" y="5344478"/>
            <a:ext cx="293989" cy="0"/>
          </a:xfrm>
          <a:prstGeom prst="line">
            <a:avLst/>
          </a:prstGeom>
          <a:ln cap="rnd" w="9525">
            <a:solidFill>
              <a:srgbClr val="2859A6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8" id="58"/>
          <p:cNvGrpSpPr/>
          <p:nvPr/>
        </p:nvGrpSpPr>
        <p:grpSpPr>
          <a:xfrm rot="0">
            <a:off x="3655504" y="5534596"/>
            <a:ext cx="2194179" cy="1014603"/>
            <a:chOff x="0" y="0"/>
            <a:chExt cx="2925572" cy="135280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925572" cy="1352804"/>
            </a:xfrm>
            <a:custGeom>
              <a:avLst/>
              <a:gdLst/>
              <a:ahLst/>
              <a:cxnLst/>
              <a:rect r="r" b="b" t="t" l="l"/>
              <a:pathLst>
                <a:path h="1352804" w="2925572">
                  <a:moveTo>
                    <a:pt x="0" y="148209"/>
                  </a:moveTo>
                  <a:cubicBezTo>
                    <a:pt x="0" y="66421"/>
                    <a:pt x="66421" y="0"/>
                    <a:pt x="148209" y="0"/>
                  </a:cubicBezTo>
                  <a:lnTo>
                    <a:pt x="2777363" y="0"/>
                  </a:lnTo>
                  <a:cubicBezTo>
                    <a:pt x="2859278" y="0"/>
                    <a:pt x="2925572" y="66421"/>
                    <a:pt x="2925572" y="148209"/>
                  </a:cubicBezTo>
                  <a:lnTo>
                    <a:pt x="2925572" y="1204595"/>
                  </a:lnTo>
                  <a:cubicBezTo>
                    <a:pt x="2925572" y="1286510"/>
                    <a:pt x="2859151" y="1352804"/>
                    <a:pt x="2777363" y="1352804"/>
                  </a:cubicBezTo>
                  <a:lnTo>
                    <a:pt x="148209" y="1352804"/>
                  </a:lnTo>
                  <a:cubicBezTo>
                    <a:pt x="66421" y="1352804"/>
                    <a:pt x="0" y="1286383"/>
                    <a:pt x="0" y="1204595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DE3E9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3771900" y="5664708"/>
            <a:ext cx="1961388" cy="370332"/>
            <a:chOff x="0" y="0"/>
            <a:chExt cx="2615184" cy="49377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615184" cy="493776"/>
            </a:xfrm>
            <a:custGeom>
              <a:avLst/>
              <a:gdLst/>
              <a:ahLst/>
              <a:cxnLst/>
              <a:rect r="r" b="b" t="t" l="l"/>
              <a:pathLst>
                <a:path h="493776" w="2615184">
                  <a:moveTo>
                    <a:pt x="0" y="0"/>
                  </a:moveTo>
                  <a:lnTo>
                    <a:pt x="2615184" y="0"/>
                  </a:lnTo>
                  <a:lnTo>
                    <a:pt x="2615184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198" r="0" b="-53198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28575"/>
              <a:ext cx="2615184" cy="522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07"/>
                </a:lnSpc>
              </a:pPr>
              <a:r>
                <a:rPr lang="en-US" sz="1935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Secrets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3758184" y="6089904"/>
            <a:ext cx="1988820" cy="274320"/>
            <a:chOff x="0" y="0"/>
            <a:chExt cx="2651760" cy="36576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651760" cy="365760"/>
            </a:xfrm>
            <a:custGeom>
              <a:avLst/>
              <a:gdLst/>
              <a:ahLst/>
              <a:cxnLst/>
              <a:rect r="r" b="b" t="t" l="l"/>
              <a:pathLst>
                <a:path h="365760" w="2651760">
                  <a:moveTo>
                    <a:pt x="0" y="0"/>
                  </a:moveTo>
                  <a:lnTo>
                    <a:pt x="2651760" y="0"/>
                  </a:lnTo>
                  <a:lnTo>
                    <a:pt x="26517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2651760" cy="384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1"/>
                </a:lnSpc>
              </a:pPr>
              <a:r>
                <a:rPr lang="en-US" sz="1560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시크릿 탐지</a:t>
              </a:r>
            </a:p>
          </p:txBody>
        </p:sp>
      </p:grpSp>
      <p:sp>
        <p:nvSpPr>
          <p:cNvPr name="AutoShape 66" id="66"/>
          <p:cNvSpPr/>
          <p:nvPr/>
        </p:nvSpPr>
        <p:spPr>
          <a:xfrm rot="5198040">
            <a:off x="4613472" y="6688646"/>
            <a:ext cx="291970" cy="0"/>
          </a:xfrm>
          <a:prstGeom prst="line">
            <a:avLst/>
          </a:prstGeom>
          <a:ln cap="rnd" w="9525">
            <a:solidFill>
              <a:srgbClr val="66728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7" id="67"/>
          <p:cNvSpPr/>
          <p:nvPr/>
        </p:nvSpPr>
        <p:spPr>
          <a:xfrm rot="5177100">
            <a:off x="7067626" y="5344478"/>
            <a:ext cx="293989" cy="0"/>
          </a:xfrm>
          <a:prstGeom prst="line">
            <a:avLst/>
          </a:prstGeom>
          <a:ln cap="rnd" w="9525">
            <a:solidFill>
              <a:srgbClr val="2859A6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68" id="68"/>
          <p:cNvGrpSpPr/>
          <p:nvPr/>
        </p:nvGrpSpPr>
        <p:grpSpPr>
          <a:xfrm rot="0">
            <a:off x="6110668" y="5534596"/>
            <a:ext cx="2194179" cy="1014603"/>
            <a:chOff x="0" y="0"/>
            <a:chExt cx="2925572" cy="135280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925572" cy="1352804"/>
            </a:xfrm>
            <a:custGeom>
              <a:avLst/>
              <a:gdLst/>
              <a:ahLst/>
              <a:cxnLst/>
              <a:rect r="r" b="b" t="t" l="l"/>
              <a:pathLst>
                <a:path h="1352804" w="2925572">
                  <a:moveTo>
                    <a:pt x="0" y="148209"/>
                  </a:moveTo>
                  <a:cubicBezTo>
                    <a:pt x="0" y="66421"/>
                    <a:pt x="66421" y="0"/>
                    <a:pt x="148209" y="0"/>
                  </a:cubicBezTo>
                  <a:lnTo>
                    <a:pt x="2777363" y="0"/>
                  </a:lnTo>
                  <a:cubicBezTo>
                    <a:pt x="2859278" y="0"/>
                    <a:pt x="2925572" y="66421"/>
                    <a:pt x="2925572" y="148209"/>
                  </a:cubicBezTo>
                  <a:lnTo>
                    <a:pt x="2925572" y="1204595"/>
                  </a:lnTo>
                  <a:cubicBezTo>
                    <a:pt x="2925572" y="1286510"/>
                    <a:pt x="2859151" y="1352804"/>
                    <a:pt x="2777363" y="1352804"/>
                  </a:cubicBezTo>
                  <a:lnTo>
                    <a:pt x="148209" y="1352804"/>
                  </a:lnTo>
                  <a:cubicBezTo>
                    <a:pt x="66421" y="1352804"/>
                    <a:pt x="0" y="1286383"/>
                    <a:pt x="0" y="1204595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DE3E9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6227064" y="5664708"/>
            <a:ext cx="1961388" cy="370332"/>
            <a:chOff x="0" y="0"/>
            <a:chExt cx="2615184" cy="49377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615184" cy="493776"/>
            </a:xfrm>
            <a:custGeom>
              <a:avLst/>
              <a:gdLst/>
              <a:ahLst/>
              <a:cxnLst/>
              <a:rect r="r" b="b" t="t" l="l"/>
              <a:pathLst>
                <a:path h="493776" w="2615184">
                  <a:moveTo>
                    <a:pt x="0" y="0"/>
                  </a:moveTo>
                  <a:lnTo>
                    <a:pt x="2615184" y="0"/>
                  </a:lnTo>
                  <a:lnTo>
                    <a:pt x="2615184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198" r="0" b="-53198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28575"/>
              <a:ext cx="2615184" cy="522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07"/>
                </a:lnSpc>
              </a:pPr>
              <a:r>
                <a:rPr lang="en-US" sz="1935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Static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6213348" y="6089904"/>
            <a:ext cx="1988820" cy="274320"/>
            <a:chOff x="0" y="0"/>
            <a:chExt cx="2651760" cy="36576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651760" cy="365760"/>
            </a:xfrm>
            <a:custGeom>
              <a:avLst/>
              <a:gdLst/>
              <a:ahLst/>
              <a:cxnLst/>
              <a:rect r="r" b="b" t="t" l="l"/>
              <a:pathLst>
                <a:path h="365760" w="2651760">
                  <a:moveTo>
                    <a:pt x="0" y="0"/>
                  </a:moveTo>
                  <a:lnTo>
                    <a:pt x="2651760" y="0"/>
                  </a:lnTo>
                  <a:lnTo>
                    <a:pt x="26517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19050"/>
              <a:ext cx="2651760" cy="384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1"/>
                </a:lnSpc>
              </a:pPr>
              <a:r>
                <a:rPr lang="en-US" sz="1560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정적 분석</a:t>
              </a:r>
            </a:p>
          </p:txBody>
        </p:sp>
      </p:grpSp>
      <p:sp>
        <p:nvSpPr>
          <p:cNvPr name="AutoShape 76" id="76"/>
          <p:cNvSpPr/>
          <p:nvPr/>
        </p:nvSpPr>
        <p:spPr>
          <a:xfrm rot="5198040">
            <a:off x="7068636" y="6688646"/>
            <a:ext cx="291970" cy="0"/>
          </a:xfrm>
          <a:prstGeom prst="line">
            <a:avLst/>
          </a:prstGeom>
          <a:ln cap="rnd" w="9525">
            <a:solidFill>
              <a:srgbClr val="66728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7" id="77"/>
          <p:cNvSpPr/>
          <p:nvPr/>
        </p:nvSpPr>
        <p:spPr>
          <a:xfrm rot="5177100">
            <a:off x="9522790" y="5344478"/>
            <a:ext cx="293989" cy="0"/>
          </a:xfrm>
          <a:prstGeom prst="line">
            <a:avLst/>
          </a:prstGeom>
          <a:ln cap="rnd" w="9525">
            <a:solidFill>
              <a:srgbClr val="2859A6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78" id="78"/>
          <p:cNvGrpSpPr/>
          <p:nvPr/>
        </p:nvGrpSpPr>
        <p:grpSpPr>
          <a:xfrm rot="0">
            <a:off x="8565832" y="5534596"/>
            <a:ext cx="2194179" cy="1014603"/>
            <a:chOff x="0" y="0"/>
            <a:chExt cx="2925572" cy="1352804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925572" cy="1352804"/>
            </a:xfrm>
            <a:custGeom>
              <a:avLst/>
              <a:gdLst/>
              <a:ahLst/>
              <a:cxnLst/>
              <a:rect r="r" b="b" t="t" l="l"/>
              <a:pathLst>
                <a:path h="1352804" w="2925572">
                  <a:moveTo>
                    <a:pt x="0" y="148209"/>
                  </a:moveTo>
                  <a:cubicBezTo>
                    <a:pt x="0" y="66421"/>
                    <a:pt x="66421" y="0"/>
                    <a:pt x="148209" y="0"/>
                  </a:cubicBezTo>
                  <a:lnTo>
                    <a:pt x="2777363" y="0"/>
                  </a:lnTo>
                  <a:cubicBezTo>
                    <a:pt x="2859278" y="0"/>
                    <a:pt x="2925572" y="66421"/>
                    <a:pt x="2925572" y="148209"/>
                  </a:cubicBezTo>
                  <a:lnTo>
                    <a:pt x="2925572" y="1204595"/>
                  </a:lnTo>
                  <a:cubicBezTo>
                    <a:pt x="2925572" y="1286510"/>
                    <a:pt x="2859151" y="1352804"/>
                    <a:pt x="2777363" y="1352804"/>
                  </a:cubicBezTo>
                  <a:lnTo>
                    <a:pt x="148209" y="1352804"/>
                  </a:lnTo>
                  <a:cubicBezTo>
                    <a:pt x="66421" y="1352804"/>
                    <a:pt x="0" y="1286383"/>
                    <a:pt x="0" y="1204595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DE3E9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8682228" y="5664708"/>
            <a:ext cx="1961388" cy="370332"/>
            <a:chOff x="0" y="0"/>
            <a:chExt cx="2615184" cy="493776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615184" cy="493776"/>
            </a:xfrm>
            <a:custGeom>
              <a:avLst/>
              <a:gdLst/>
              <a:ahLst/>
              <a:cxnLst/>
              <a:rect r="r" b="b" t="t" l="l"/>
              <a:pathLst>
                <a:path h="493776" w="2615184">
                  <a:moveTo>
                    <a:pt x="0" y="0"/>
                  </a:moveTo>
                  <a:lnTo>
                    <a:pt x="2615184" y="0"/>
                  </a:lnTo>
                  <a:lnTo>
                    <a:pt x="2615184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198" r="0" b="-53198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28575"/>
              <a:ext cx="2615184" cy="522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07"/>
                </a:lnSpc>
              </a:pPr>
              <a:r>
                <a:rPr lang="en-US" sz="1935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Criteria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8668512" y="6089904"/>
            <a:ext cx="1988820" cy="274320"/>
            <a:chOff x="0" y="0"/>
            <a:chExt cx="2651760" cy="36576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651760" cy="365760"/>
            </a:xfrm>
            <a:custGeom>
              <a:avLst/>
              <a:gdLst/>
              <a:ahLst/>
              <a:cxnLst/>
              <a:rect r="r" b="b" t="t" l="l"/>
              <a:pathLst>
                <a:path h="365760" w="2651760">
                  <a:moveTo>
                    <a:pt x="0" y="0"/>
                  </a:moveTo>
                  <a:lnTo>
                    <a:pt x="2651760" y="0"/>
                  </a:lnTo>
                  <a:lnTo>
                    <a:pt x="26517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19050"/>
              <a:ext cx="2651760" cy="384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1"/>
                </a:lnSpc>
              </a:pPr>
              <a:r>
                <a:rPr lang="en-US" sz="1560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PDF 기준 추출</a:t>
              </a:r>
            </a:p>
          </p:txBody>
        </p:sp>
      </p:grpSp>
      <p:sp>
        <p:nvSpPr>
          <p:cNvPr name="AutoShape 86" id="86"/>
          <p:cNvSpPr/>
          <p:nvPr/>
        </p:nvSpPr>
        <p:spPr>
          <a:xfrm rot="5198040">
            <a:off x="9523800" y="6688646"/>
            <a:ext cx="291970" cy="0"/>
          </a:xfrm>
          <a:prstGeom prst="line">
            <a:avLst/>
          </a:prstGeom>
          <a:ln cap="rnd" w="9525">
            <a:solidFill>
              <a:srgbClr val="66728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7" id="87"/>
          <p:cNvSpPr/>
          <p:nvPr/>
        </p:nvSpPr>
        <p:spPr>
          <a:xfrm rot="7980">
            <a:off x="2295706" y="6825806"/>
            <a:ext cx="7382656" cy="0"/>
          </a:xfrm>
          <a:prstGeom prst="line">
            <a:avLst/>
          </a:prstGeom>
          <a:ln cap="rnd" w="9525">
            <a:solidFill>
              <a:srgbClr val="66728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8" id="88"/>
          <p:cNvSpPr/>
          <p:nvPr/>
        </p:nvSpPr>
        <p:spPr>
          <a:xfrm rot="5167200">
            <a:off x="2478624" y="6969824"/>
            <a:ext cx="309705" cy="0"/>
          </a:xfrm>
          <a:prstGeom prst="line">
            <a:avLst/>
          </a:prstGeom>
          <a:ln cap="rnd" w="9525">
            <a:solidFill>
              <a:srgbClr val="2859A6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89" id="89"/>
          <p:cNvGrpSpPr/>
          <p:nvPr/>
        </p:nvGrpSpPr>
        <p:grpSpPr>
          <a:xfrm rot="0">
            <a:off x="1200340" y="7194232"/>
            <a:ext cx="2907411" cy="1069467"/>
            <a:chOff x="0" y="0"/>
            <a:chExt cx="3876548" cy="1425956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3876548" cy="1426083"/>
            </a:xfrm>
            <a:custGeom>
              <a:avLst/>
              <a:gdLst/>
              <a:ahLst/>
              <a:cxnLst/>
              <a:rect r="r" b="b" t="t" l="l"/>
              <a:pathLst>
                <a:path h="1426083" w="3876548">
                  <a:moveTo>
                    <a:pt x="0" y="148209"/>
                  </a:moveTo>
                  <a:cubicBezTo>
                    <a:pt x="0" y="66294"/>
                    <a:pt x="66294" y="0"/>
                    <a:pt x="148209" y="0"/>
                  </a:cubicBezTo>
                  <a:lnTo>
                    <a:pt x="3728339" y="0"/>
                  </a:lnTo>
                  <a:cubicBezTo>
                    <a:pt x="3810127" y="0"/>
                    <a:pt x="3876548" y="66294"/>
                    <a:pt x="3876548" y="148209"/>
                  </a:cubicBezTo>
                  <a:lnTo>
                    <a:pt x="3876548" y="1277874"/>
                  </a:lnTo>
                  <a:cubicBezTo>
                    <a:pt x="3876548" y="1359662"/>
                    <a:pt x="3810254" y="1426083"/>
                    <a:pt x="3728339" y="1426083"/>
                  </a:cubicBezTo>
                  <a:lnTo>
                    <a:pt x="148209" y="1426083"/>
                  </a:lnTo>
                  <a:cubicBezTo>
                    <a:pt x="66294" y="1425956"/>
                    <a:pt x="0" y="1359662"/>
                    <a:pt x="0" y="1277747"/>
                  </a:cubicBezTo>
                  <a:close/>
                </a:path>
              </a:pathLst>
            </a:custGeom>
            <a:solidFill>
              <a:srgbClr val="EDF3FA"/>
            </a:solidFill>
            <a:ln w="13335" cap="sq">
              <a:solidFill>
                <a:srgbClr val="DDE3E9"/>
              </a:solidFill>
              <a:prstDash val="solid"/>
              <a:miter/>
            </a:ln>
          </p:spPr>
        </p:sp>
      </p:grpSp>
      <p:grpSp>
        <p:nvGrpSpPr>
          <p:cNvPr name="Group 91" id="91"/>
          <p:cNvGrpSpPr/>
          <p:nvPr/>
        </p:nvGrpSpPr>
        <p:grpSpPr>
          <a:xfrm rot="0">
            <a:off x="1316736" y="7324344"/>
            <a:ext cx="2674620" cy="370332"/>
            <a:chOff x="0" y="0"/>
            <a:chExt cx="3566160" cy="493776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3566160" cy="493776"/>
            </a:xfrm>
            <a:custGeom>
              <a:avLst/>
              <a:gdLst/>
              <a:ahLst/>
              <a:cxnLst/>
              <a:rect r="r" b="b" t="t" l="l"/>
              <a:pathLst>
                <a:path h="493776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725" r="0" b="-90725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28575"/>
              <a:ext cx="3566160" cy="522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07"/>
                </a:lnSpc>
              </a:pPr>
              <a:r>
                <a:rPr lang="en-US" sz="1935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로컬 LLM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303020" y="7749540"/>
            <a:ext cx="2702052" cy="274320"/>
            <a:chOff x="0" y="0"/>
            <a:chExt cx="3602736" cy="36576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3602736" cy="365760"/>
            </a:xfrm>
            <a:custGeom>
              <a:avLst/>
              <a:gdLst/>
              <a:ahLst/>
              <a:cxnLst/>
              <a:rect r="r" b="b" t="t" l="l"/>
              <a:pathLst>
                <a:path h="365760" w="3602736">
                  <a:moveTo>
                    <a:pt x="0" y="0"/>
                  </a:moveTo>
                  <a:lnTo>
                    <a:pt x="3602736" y="0"/>
                  </a:lnTo>
                  <a:lnTo>
                    <a:pt x="3602736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927" r="0" b="-141927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19050"/>
              <a:ext cx="3602736" cy="384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1"/>
                </a:lnSpc>
              </a:pPr>
              <a:r>
                <a:rPr lang="en-US" sz="1560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종합 분석 · 수정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4656772" y="7194232"/>
            <a:ext cx="2907411" cy="1069467"/>
            <a:chOff x="0" y="0"/>
            <a:chExt cx="3876548" cy="1425956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3876548" cy="1426083"/>
            </a:xfrm>
            <a:custGeom>
              <a:avLst/>
              <a:gdLst/>
              <a:ahLst/>
              <a:cxnLst/>
              <a:rect r="r" b="b" t="t" l="l"/>
              <a:pathLst>
                <a:path h="1426083" w="3876548">
                  <a:moveTo>
                    <a:pt x="0" y="148209"/>
                  </a:moveTo>
                  <a:cubicBezTo>
                    <a:pt x="0" y="66294"/>
                    <a:pt x="66294" y="0"/>
                    <a:pt x="148209" y="0"/>
                  </a:cubicBezTo>
                  <a:lnTo>
                    <a:pt x="3728339" y="0"/>
                  </a:lnTo>
                  <a:cubicBezTo>
                    <a:pt x="3810127" y="0"/>
                    <a:pt x="3876548" y="66294"/>
                    <a:pt x="3876548" y="148209"/>
                  </a:cubicBezTo>
                  <a:lnTo>
                    <a:pt x="3876548" y="1277874"/>
                  </a:lnTo>
                  <a:cubicBezTo>
                    <a:pt x="3876548" y="1359662"/>
                    <a:pt x="3810254" y="1426083"/>
                    <a:pt x="3728339" y="1426083"/>
                  </a:cubicBezTo>
                  <a:lnTo>
                    <a:pt x="148209" y="1426083"/>
                  </a:lnTo>
                  <a:cubicBezTo>
                    <a:pt x="66294" y="1425956"/>
                    <a:pt x="0" y="1359662"/>
                    <a:pt x="0" y="1277747"/>
                  </a:cubicBezTo>
                  <a:close/>
                </a:path>
              </a:pathLst>
            </a:custGeom>
            <a:solidFill>
              <a:srgbClr val="EDF3FA"/>
            </a:solidFill>
            <a:ln w="13335" cap="sq">
              <a:solidFill>
                <a:srgbClr val="DDE3E9"/>
              </a:solidFill>
              <a:prstDash val="solid"/>
              <a:miter/>
            </a:ln>
          </p:spPr>
        </p:sp>
      </p:grpSp>
      <p:grpSp>
        <p:nvGrpSpPr>
          <p:cNvPr name="Group 99" id="99"/>
          <p:cNvGrpSpPr/>
          <p:nvPr/>
        </p:nvGrpSpPr>
        <p:grpSpPr>
          <a:xfrm rot="0">
            <a:off x="4773168" y="7324344"/>
            <a:ext cx="2674620" cy="370332"/>
            <a:chOff x="0" y="0"/>
            <a:chExt cx="3566160" cy="493776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3566160" cy="493776"/>
            </a:xfrm>
            <a:custGeom>
              <a:avLst/>
              <a:gdLst/>
              <a:ahLst/>
              <a:cxnLst/>
              <a:rect r="r" b="b" t="t" l="l"/>
              <a:pathLst>
                <a:path h="493776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725" r="0" b="-90725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28575"/>
              <a:ext cx="3566160" cy="522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07"/>
                </a:lnSpc>
              </a:pPr>
              <a:r>
                <a:rPr lang="en-US" sz="1935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Summary Agent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4759452" y="7749540"/>
            <a:ext cx="2702052" cy="274320"/>
            <a:chOff x="0" y="0"/>
            <a:chExt cx="3602736" cy="36576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3602736" cy="365760"/>
            </a:xfrm>
            <a:custGeom>
              <a:avLst/>
              <a:gdLst/>
              <a:ahLst/>
              <a:cxnLst/>
              <a:rect r="r" b="b" t="t" l="l"/>
              <a:pathLst>
                <a:path h="365760" w="3602736">
                  <a:moveTo>
                    <a:pt x="0" y="0"/>
                  </a:moveTo>
                  <a:lnTo>
                    <a:pt x="3602736" y="0"/>
                  </a:lnTo>
                  <a:lnTo>
                    <a:pt x="3602736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927" r="0" b="-141927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19050"/>
              <a:ext cx="3602736" cy="384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1"/>
                </a:lnSpc>
              </a:pPr>
              <a:r>
                <a:rPr lang="en-US" sz="1560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리포트 생성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8099488" y="7194232"/>
            <a:ext cx="2633091" cy="1069467"/>
            <a:chOff x="0" y="0"/>
            <a:chExt cx="3510788" cy="1425956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3510788" cy="1426083"/>
            </a:xfrm>
            <a:custGeom>
              <a:avLst/>
              <a:gdLst/>
              <a:ahLst/>
              <a:cxnLst/>
              <a:rect r="r" b="b" t="t" l="l"/>
              <a:pathLst>
                <a:path h="1426083" w="3510788">
                  <a:moveTo>
                    <a:pt x="0" y="148209"/>
                  </a:moveTo>
                  <a:cubicBezTo>
                    <a:pt x="0" y="66294"/>
                    <a:pt x="66294" y="0"/>
                    <a:pt x="148209" y="0"/>
                  </a:cubicBezTo>
                  <a:lnTo>
                    <a:pt x="3362579" y="0"/>
                  </a:lnTo>
                  <a:cubicBezTo>
                    <a:pt x="3444367" y="0"/>
                    <a:pt x="3510788" y="66294"/>
                    <a:pt x="3510788" y="148209"/>
                  </a:cubicBezTo>
                  <a:lnTo>
                    <a:pt x="3510788" y="1277874"/>
                  </a:lnTo>
                  <a:cubicBezTo>
                    <a:pt x="3510788" y="1359662"/>
                    <a:pt x="3444494" y="1426083"/>
                    <a:pt x="3362579" y="1426083"/>
                  </a:cubicBezTo>
                  <a:lnTo>
                    <a:pt x="148209" y="1426083"/>
                  </a:lnTo>
                  <a:cubicBezTo>
                    <a:pt x="66294" y="1425956"/>
                    <a:pt x="0" y="1359662"/>
                    <a:pt x="0" y="1277747"/>
                  </a:cubicBezTo>
                  <a:close/>
                </a:path>
              </a:pathLst>
            </a:custGeom>
            <a:solidFill>
              <a:srgbClr val="EDF3FA"/>
            </a:solidFill>
            <a:ln w="13335" cap="sq">
              <a:solidFill>
                <a:srgbClr val="DDE3E9"/>
              </a:solidFill>
              <a:prstDash val="solid"/>
              <a:miter/>
            </a:ln>
          </p:spPr>
        </p:sp>
      </p:grpSp>
      <p:grpSp>
        <p:nvGrpSpPr>
          <p:cNvPr name="Group 107" id="107"/>
          <p:cNvGrpSpPr/>
          <p:nvPr/>
        </p:nvGrpSpPr>
        <p:grpSpPr>
          <a:xfrm rot="0">
            <a:off x="8215884" y="7324344"/>
            <a:ext cx="2400300" cy="370332"/>
            <a:chOff x="0" y="0"/>
            <a:chExt cx="3200400" cy="49377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200400" cy="493776"/>
            </a:xfrm>
            <a:custGeom>
              <a:avLst/>
              <a:gdLst/>
              <a:ahLst/>
              <a:cxnLst/>
              <a:rect r="r" b="b" t="t" l="l"/>
              <a:pathLst>
                <a:path h="493776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291" r="0" b="-76291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28575"/>
              <a:ext cx="3200400" cy="522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07"/>
                </a:lnSpc>
              </a:pPr>
              <a:r>
                <a:rPr lang="en-US" sz="1935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결과 반환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8202168" y="7749540"/>
            <a:ext cx="2427732" cy="274320"/>
            <a:chOff x="0" y="0"/>
            <a:chExt cx="3236976" cy="36576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3236976" cy="365760"/>
            </a:xfrm>
            <a:custGeom>
              <a:avLst/>
              <a:gdLst/>
              <a:ahLst/>
              <a:cxnLst/>
              <a:rect r="r" b="b" t="t" l="l"/>
              <a:pathLst>
                <a:path h="365760" w="3236976">
                  <a:moveTo>
                    <a:pt x="0" y="0"/>
                  </a:moveTo>
                  <a:lnTo>
                    <a:pt x="3236976" y="0"/>
                  </a:lnTo>
                  <a:lnTo>
                    <a:pt x="3236976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442" r="0" b="-122442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19050"/>
              <a:ext cx="3236976" cy="384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1"/>
                </a:lnSpc>
              </a:pPr>
              <a:r>
                <a:rPr lang="en-US" sz="1560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요약 · 코드 · 경로</a:t>
              </a:r>
            </a:p>
          </p:txBody>
        </p:sp>
      </p:grpSp>
      <p:sp>
        <p:nvSpPr>
          <p:cNvPr name="AutoShape 113" id="113"/>
          <p:cNvSpPr/>
          <p:nvPr/>
        </p:nvSpPr>
        <p:spPr>
          <a:xfrm rot="201240">
            <a:off x="4129488" y="7717346"/>
            <a:ext cx="423253" cy="0"/>
          </a:xfrm>
          <a:prstGeom prst="line">
            <a:avLst/>
          </a:prstGeom>
          <a:ln cap="rnd" w="9525">
            <a:solidFill>
              <a:srgbClr val="2859A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14" id="114"/>
          <p:cNvSpPr/>
          <p:nvPr/>
        </p:nvSpPr>
        <p:spPr>
          <a:xfrm rot="201240">
            <a:off x="7585920" y="7717346"/>
            <a:ext cx="423253" cy="0"/>
          </a:xfrm>
          <a:prstGeom prst="line">
            <a:avLst/>
          </a:prstGeom>
          <a:ln cap="rnd" w="9525">
            <a:solidFill>
              <a:srgbClr val="2859A6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15" id="115"/>
          <p:cNvGrpSpPr/>
          <p:nvPr/>
        </p:nvGrpSpPr>
        <p:grpSpPr>
          <a:xfrm rot="0">
            <a:off x="1207008" y="8737092"/>
            <a:ext cx="9532620" cy="301752"/>
            <a:chOff x="0" y="0"/>
            <a:chExt cx="12710160" cy="402336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12710160" cy="402336"/>
            </a:xfrm>
            <a:custGeom>
              <a:avLst/>
              <a:gdLst/>
              <a:ahLst/>
              <a:cxnLst/>
              <a:rect r="r" b="b" t="t" l="l"/>
              <a:pathLst>
                <a:path h="402336" w="12710160">
                  <a:moveTo>
                    <a:pt x="0" y="0"/>
                  </a:moveTo>
                  <a:lnTo>
                    <a:pt x="12710160" y="0"/>
                  </a:lnTo>
                  <a:lnTo>
                    <a:pt x="1271016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5550" r="0" b="-565550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9525"/>
              <a:ext cx="1271016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4"/>
                </a:lnSpc>
              </a:pPr>
              <a:r>
                <a:rPr lang="en-US" sz="1500" spc="5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구조 참고: A2A-MCP / </a:t>
              </a:r>
              <a:r>
                <a:rPr lang="en-US" sz="1500" spc="5" u="sng">
                  <a:solidFill>
                    <a:srgbClr val="0563C1"/>
                  </a:solidFill>
                  <a:latin typeface="Mandali"/>
                  <a:ea typeface="Mandali"/>
                  <a:cs typeface="Mandali"/>
                  <a:sym typeface="Mandali"/>
                  <a:hlinkClick r:id="rId4" tooltip="https://github.com/gilbutITbook/080493/tree/main/Code_Vulnerability"/>
                </a:rPr>
                <a:t>Code_Vulnerability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11713464" y="2880360"/>
            <a:ext cx="5719572" cy="466344"/>
            <a:chOff x="0" y="0"/>
            <a:chExt cx="7626096" cy="621792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7626096" cy="621792"/>
            </a:xfrm>
            <a:custGeom>
              <a:avLst/>
              <a:gdLst/>
              <a:ahLst/>
              <a:cxnLst/>
              <a:rect r="r" b="b" t="t" l="l"/>
              <a:pathLst>
                <a:path h="621792" w="7626096">
                  <a:moveTo>
                    <a:pt x="0" y="0"/>
                  </a:moveTo>
                  <a:lnTo>
                    <a:pt x="7626096" y="0"/>
                  </a:lnTo>
                  <a:lnTo>
                    <a:pt x="7626096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8978" r="0" b="-188978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28575"/>
              <a:ext cx="7626096" cy="6503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27"/>
                </a:lnSpc>
              </a:pPr>
              <a:r>
                <a:rPr lang="en-US" sz="2490" spc="9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프로토타입 시험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11690223" y="3721227"/>
            <a:ext cx="1788414" cy="1555242"/>
            <a:chOff x="0" y="0"/>
            <a:chExt cx="2384552" cy="2073656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2384552" cy="2073656"/>
            </a:xfrm>
            <a:custGeom>
              <a:avLst/>
              <a:gdLst/>
              <a:ahLst/>
              <a:cxnLst/>
              <a:rect r="r" b="b" t="t" l="l"/>
              <a:pathLst>
                <a:path h="2073656" w="2384552">
                  <a:moveTo>
                    <a:pt x="0" y="0"/>
                  </a:moveTo>
                  <a:lnTo>
                    <a:pt x="2384552" y="0"/>
                  </a:lnTo>
                  <a:lnTo>
                    <a:pt x="2384552" y="2073656"/>
                  </a:lnTo>
                  <a:lnTo>
                    <a:pt x="0" y="2073656"/>
                  </a:lnTo>
                  <a:close/>
                </a:path>
              </a:pathLst>
            </a:custGeom>
            <a:solidFill>
              <a:srgbClr val="EDF3FA"/>
            </a:solidFill>
          </p:spPr>
        </p:sp>
      </p:grpSp>
      <p:grpSp>
        <p:nvGrpSpPr>
          <p:cNvPr name="Group 123" id="123"/>
          <p:cNvGrpSpPr/>
          <p:nvPr/>
        </p:nvGrpSpPr>
        <p:grpSpPr>
          <a:xfrm rot="0">
            <a:off x="11809476" y="3977640"/>
            <a:ext cx="1549908" cy="603504"/>
            <a:chOff x="0" y="0"/>
            <a:chExt cx="2066544" cy="804672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2066544" cy="804672"/>
            </a:xfrm>
            <a:custGeom>
              <a:avLst/>
              <a:gdLst/>
              <a:ahLst/>
              <a:cxnLst/>
              <a:rect r="r" b="b" t="t" l="l"/>
              <a:pathLst>
                <a:path h="804672" w="2066544">
                  <a:moveTo>
                    <a:pt x="0" y="0"/>
                  </a:moveTo>
                  <a:lnTo>
                    <a:pt x="2066544" y="0"/>
                  </a:lnTo>
                  <a:lnTo>
                    <a:pt x="2066544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" r="0" b="-41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28575"/>
              <a:ext cx="2066544" cy="8332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65"/>
                </a:lnSpc>
              </a:pPr>
              <a:r>
                <a:rPr lang="en-US" sz="3600" spc="13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23/23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11754612" y="4800600"/>
            <a:ext cx="1659636" cy="246888"/>
            <a:chOff x="0" y="0"/>
            <a:chExt cx="2212848" cy="329184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2212848" cy="329184"/>
            </a:xfrm>
            <a:custGeom>
              <a:avLst/>
              <a:gdLst/>
              <a:ahLst/>
              <a:cxnLst/>
              <a:rect r="r" b="b" t="t" l="l"/>
              <a:pathLst>
                <a:path h="329184" w="2212848">
                  <a:moveTo>
                    <a:pt x="0" y="0"/>
                  </a:moveTo>
                  <a:lnTo>
                    <a:pt x="2212848" y="0"/>
                  </a:lnTo>
                  <a:lnTo>
                    <a:pt x="2212848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982" r="0" b="-80982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19050"/>
              <a:ext cx="2212848" cy="3482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41"/>
                </a:lnSpc>
              </a:pPr>
              <a:r>
                <a:rPr lang="en-US" sz="1575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분석 파일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13679043" y="3721227"/>
            <a:ext cx="1788414" cy="1555242"/>
            <a:chOff x="0" y="0"/>
            <a:chExt cx="2384552" cy="2073656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2384552" cy="2073656"/>
            </a:xfrm>
            <a:custGeom>
              <a:avLst/>
              <a:gdLst/>
              <a:ahLst/>
              <a:cxnLst/>
              <a:rect r="r" b="b" t="t" l="l"/>
              <a:pathLst>
                <a:path h="2073656" w="2384552">
                  <a:moveTo>
                    <a:pt x="0" y="0"/>
                  </a:moveTo>
                  <a:lnTo>
                    <a:pt x="2384552" y="0"/>
                  </a:lnTo>
                  <a:lnTo>
                    <a:pt x="2384552" y="2073656"/>
                  </a:lnTo>
                  <a:lnTo>
                    <a:pt x="0" y="2073656"/>
                  </a:lnTo>
                  <a:close/>
                </a:path>
              </a:pathLst>
            </a:custGeom>
            <a:solidFill>
              <a:srgbClr val="EDF3FA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13798296" y="3977640"/>
            <a:ext cx="1549908" cy="603504"/>
            <a:chOff x="0" y="0"/>
            <a:chExt cx="2066544" cy="804672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2066544" cy="804672"/>
            </a:xfrm>
            <a:custGeom>
              <a:avLst/>
              <a:gdLst/>
              <a:ahLst/>
              <a:cxnLst/>
              <a:rect r="r" b="b" t="t" l="l"/>
              <a:pathLst>
                <a:path h="804672" w="2066544">
                  <a:moveTo>
                    <a:pt x="0" y="0"/>
                  </a:moveTo>
                  <a:lnTo>
                    <a:pt x="2066544" y="0"/>
                  </a:lnTo>
                  <a:lnTo>
                    <a:pt x="2066544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" r="0" b="-41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28575"/>
              <a:ext cx="2066544" cy="8332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65"/>
                </a:lnSpc>
              </a:pPr>
              <a:r>
                <a:rPr lang="en-US" sz="3600" spc="13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3,524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13743432" y="4800600"/>
            <a:ext cx="1659636" cy="246888"/>
            <a:chOff x="0" y="0"/>
            <a:chExt cx="2212848" cy="329184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2212848" cy="329184"/>
            </a:xfrm>
            <a:custGeom>
              <a:avLst/>
              <a:gdLst/>
              <a:ahLst/>
              <a:cxnLst/>
              <a:rect r="r" b="b" t="t" l="l"/>
              <a:pathLst>
                <a:path h="329184" w="2212848">
                  <a:moveTo>
                    <a:pt x="0" y="0"/>
                  </a:moveTo>
                  <a:lnTo>
                    <a:pt x="2212848" y="0"/>
                  </a:lnTo>
                  <a:lnTo>
                    <a:pt x="2212848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982" r="0" b="-80982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19050"/>
              <a:ext cx="2212848" cy="3482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41"/>
                </a:lnSpc>
              </a:pPr>
              <a:r>
                <a:rPr lang="en-US" sz="1575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코드 줄 수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15667863" y="3721227"/>
            <a:ext cx="1788414" cy="1555242"/>
            <a:chOff x="0" y="0"/>
            <a:chExt cx="2384552" cy="2073656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2384552" cy="2073656"/>
            </a:xfrm>
            <a:custGeom>
              <a:avLst/>
              <a:gdLst/>
              <a:ahLst/>
              <a:cxnLst/>
              <a:rect r="r" b="b" t="t" l="l"/>
              <a:pathLst>
                <a:path h="2073656" w="2384552">
                  <a:moveTo>
                    <a:pt x="0" y="0"/>
                  </a:moveTo>
                  <a:lnTo>
                    <a:pt x="2384552" y="0"/>
                  </a:lnTo>
                  <a:lnTo>
                    <a:pt x="2384552" y="2073656"/>
                  </a:lnTo>
                  <a:lnTo>
                    <a:pt x="0" y="2073656"/>
                  </a:lnTo>
                  <a:close/>
                </a:path>
              </a:pathLst>
            </a:custGeom>
            <a:solidFill>
              <a:srgbClr val="EDF3FA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15787116" y="3977640"/>
            <a:ext cx="1549908" cy="603504"/>
            <a:chOff x="0" y="0"/>
            <a:chExt cx="2066544" cy="804672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2066544" cy="804672"/>
            </a:xfrm>
            <a:custGeom>
              <a:avLst/>
              <a:gdLst/>
              <a:ahLst/>
              <a:cxnLst/>
              <a:rect r="r" b="b" t="t" l="l"/>
              <a:pathLst>
                <a:path h="804672" w="2066544">
                  <a:moveTo>
                    <a:pt x="0" y="0"/>
                  </a:moveTo>
                  <a:lnTo>
                    <a:pt x="2066544" y="0"/>
                  </a:lnTo>
                  <a:lnTo>
                    <a:pt x="2066544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" r="0" b="-41"/>
              </a:stretch>
            </a:blipFill>
          </p:spPr>
        </p:sp>
        <p:sp>
          <p:nvSpPr>
            <p:cNvPr name="TextBox 141" id="141"/>
            <p:cNvSpPr txBox="true"/>
            <p:nvPr/>
          </p:nvSpPr>
          <p:spPr>
            <a:xfrm>
              <a:off x="0" y="-28575"/>
              <a:ext cx="2066544" cy="8332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65"/>
                </a:lnSpc>
              </a:pPr>
              <a:r>
                <a:rPr lang="en-US" sz="3600" spc="13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18</a:t>
              </a:r>
            </a:p>
          </p:txBody>
        </p:sp>
      </p:grpSp>
      <p:grpSp>
        <p:nvGrpSpPr>
          <p:cNvPr name="Group 142" id="142"/>
          <p:cNvGrpSpPr/>
          <p:nvPr/>
        </p:nvGrpSpPr>
        <p:grpSpPr>
          <a:xfrm rot="0">
            <a:off x="15732252" y="4800600"/>
            <a:ext cx="1659636" cy="246888"/>
            <a:chOff x="0" y="0"/>
            <a:chExt cx="2212848" cy="329184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2212848" cy="329184"/>
            </a:xfrm>
            <a:custGeom>
              <a:avLst/>
              <a:gdLst/>
              <a:ahLst/>
              <a:cxnLst/>
              <a:rect r="r" b="b" t="t" l="l"/>
              <a:pathLst>
                <a:path h="329184" w="2212848">
                  <a:moveTo>
                    <a:pt x="0" y="0"/>
                  </a:moveTo>
                  <a:lnTo>
                    <a:pt x="2212848" y="0"/>
                  </a:lnTo>
                  <a:lnTo>
                    <a:pt x="2212848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982" r="0" b="-80982"/>
              </a:stretch>
            </a:blipFill>
          </p:spPr>
        </p:sp>
        <p:sp>
          <p:nvSpPr>
            <p:cNvPr name="TextBox 144" id="144"/>
            <p:cNvSpPr txBox="true"/>
            <p:nvPr/>
          </p:nvSpPr>
          <p:spPr>
            <a:xfrm>
              <a:off x="0" y="-19050"/>
              <a:ext cx="2212848" cy="3482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41"/>
                </a:lnSpc>
              </a:pPr>
              <a:r>
                <a:rPr lang="en-US" sz="1575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정적 분석 신호</a:t>
              </a:r>
            </a:p>
          </p:txBody>
        </p:sp>
      </p:grpSp>
      <p:grpSp>
        <p:nvGrpSpPr>
          <p:cNvPr name="Group 145" id="145"/>
          <p:cNvGrpSpPr/>
          <p:nvPr/>
        </p:nvGrpSpPr>
        <p:grpSpPr>
          <a:xfrm rot="0">
            <a:off x="11713464" y="5623560"/>
            <a:ext cx="5719572" cy="384048"/>
            <a:chOff x="0" y="0"/>
            <a:chExt cx="7626096" cy="512064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7626096" cy="512064"/>
            </a:xfrm>
            <a:custGeom>
              <a:avLst/>
              <a:gdLst/>
              <a:ahLst/>
              <a:cxnLst/>
              <a:rect r="r" b="b" t="t" l="l"/>
              <a:pathLst>
                <a:path h="512064" w="7626096">
                  <a:moveTo>
                    <a:pt x="0" y="0"/>
                  </a:moveTo>
                  <a:lnTo>
                    <a:pt x="7626096" y="0"/>
                  </a:lnTo>
                  <a:lnTo>
                    <a:pt x="7626096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7" r="0" b="-240187"/>
              </a:stretch>
            </a:blipFill>
          </p:spPr>
        </p:sp>
        <p:sp>
          <p:nvSpPr>
            <p:cNvPr name="TextBox 147" id="147"/>
            <p:cNvSpPr txBox="true"/>
            <p:nvPr/>
          </p:nvSpPr>
          <p:spPr>
            <a:xfrm>
              <a:off x="0" y="-19050"/>
              <a:ext cx="7626096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4"/>
                </a:lnSpc>
              </a:pPr>
              <a:r>
                <a:rPr lang="en-US" sz="2010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위험 호출 8건 · Secret 후보 10건</a:t>
              </a:r>
            </a:p>
          </p:txBody>
        </p:sp>
      </p:grpSp>
      <p:sp>
        <p:nvSpPr>
          <p:cNvPr name="AutoShape 148" id="148"/>
          <p:cNvSpPr/>
          <p:nvPr/>
        </p:nvSpPr>
        <p:spPr>
          <a:xfrm rot="8040">
            <a:off x="11706787" y="6290882"/>
            <a:ext cx="5719210" cy="0"/>
          </a:xfrm>
          <a:prstGeom prst="line">
            <a:avLst/>
          </a:prstGeom>
          <a:ln cap="rnd" w="9525">
            <a:solidFill>
              <a:srgbClr val="DDE3E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9" id="149"/>
          <p:cNvGrpSpPr/>
          <p:nvPr/>
        </p:nvGrpSpPr>
        <p:grpSpPr>
          <a:xfrm rot="0">
            <a:off x="11713464" y="6665976"/>
            <a:ext cx="5719572" cy="466344"/>
            <a:chOff x="0" y="0"/>
            <a:chExt cx="7626096" cy="621792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7626096" cy="621792"/>
            </a:xfrm>
            <a:custGeom>
              <a:avLst/>
              <a:gdLst/>
              <a:ahLst/>
              <a:cxnLst/>
              <a:rect r="r" b="b" t="t" l="l"/>
              <a:pathLst>
                <a:path h="621792" w="7626096">
                  <a:moveTo>
                    <a:pt x="0" y="0"/>
                  </a:moveTo>
                  <a:lnTo>
                    <a:pt x="7626096" y="0"/>
                  </a:lnTo>
                  <a:lnTo>
                    <a:pt x="7626096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8978" r="0" b="-188978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-19050"/>
              <a:ext cx="7626096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04"/>
                </a:lnSpc>
              </a:pPr>
              <a:r>
                <a:rPr lang="en-US" sz="2550" spc="9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로컬 LLM 리뷰 18개 생성</a:t>
              </a:r>
            </a:p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11713464" y="7351776"/>
            <a:ext cx="5719572" cy="726948"/>
            <a:chOff x="0" y="0"/>
            <a:chExt cx="7626096" cy="969264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7626096" cy="969264"/>
            </a:xfrm>
            <a:custGeom>
              <a:avLst/>
              <a:gdLst/>
              <a:ahLst/>
              <a:cxnLst/>
              <a:rect r="r" b="b" t="t" l="l"/>
              <a:pathLst>
                <a:path h="969264" w="7626096">
                  <a:moveTo>
                    <a:pt x="0" y="0"/>
                  </a:moveTo>
                  <a:lnTo>
                    <a:pt x="7626096" y="0"/>
                  </a:lnTo>
                  <a:lnTo>
                    <a:pt x="7626096" y="969264"/>
                  </a:lnTo>
                  <a:lnTo>
                    <a:pt x="0" y="9692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306" r="0" b="-103306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28575"/>
              <a:ext cx="7626096" cy="9978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5"/>
                </a:lnSpc>
              </a:pPr>
              <a:r>
                <a:rPr lang="en-US" sz="1829" spc="7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LLM 리뷰에서 이 코드가 치명적인 이유, 권고사항까지는 Rule + LLM 추론을 통하여 도출 가능.</a:t>
              </a:r>
            </a:p>
            <a:p>
              <a:pPr algn="l">
                <a:lnSpc>
                  <a:spcPts val="2525"/>
                </a:lnSpc>
              </a:pPr>
              <a:r>
                <a:rPr lang="en-US" sz="1829" spc="7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그러나 이 코드는 임의의 테스트 코드라는 점을 명시. 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11690223" y="8384667"/>
            <a:ext cx="5766054" cy="979170"/>
            <a:chOff x="0" y="0"/>
            <a:chExt cx="7688072" cy="1305560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7688072" cy="1305560"/>
            </a:xfrm>
            <a:custGeom>
              <a:avLst/>
              <a:gdLst/>
              <a:ahLst/>
              <a:cxnLst/>
              <a:rect r="r" b="b" t="t" l="l"/>
              <a:pathLst>
                <a:path h="1305560" w="7688072">
                  <a:moveTo>
                    <a:pt x="0" y="0"/>
                  </a:moveTo>
                  <a:lnTo>
                    <a:pt x="7688072" y="0"/>
                  </a:lnTo>
                  <a:lnTo>
                    <a:pt x="7688072" y="1305560"/>
                  </a:lnTo>
                  <a:lnTo>
                    <a:pt x="0" y="1305560"/>
                  </a:lnTo>
                  <a:close/>
                </a:path>
              </a:pathLst>
            </a:custGeom>
            <a:solidFill>
              <a:srgbClr val="F8F1E7"/>
            </a:solidFill>
          </p:spPr>
        </p:sp>
      </p:grpSp>
      <p:grpSp>
        <p:nvGrpSpPr>
          <p:cNvPr name="Group 157" id="157"/>
          <p:cNvGrpSpPr/>
          <p:nvPr/>
        </p:nvGrpSpPr>
        <p:grpSpPr>
          <a:xfrm rot="0">
            <a:off x="11946636" y="8558784"/>
            <a:ext cx="5239512" cy="274320"/>
            <a:chOff x="0" y="0"/>
            <a:chExt cx="6986016" cy="365760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6986016" cy="365760"/>
            </a:xfrm>
            <a:custGeom>
              <a:avLst/>
              <a:gdLst/>
              <a:ahLst/>
              <a:cxnLst/>
              <a:rect r="r" b="b" t="t" l="l"/>
              <a:pathLst>
                <a:path h="365760" w="6986016">
                  <a:moveTo>
                    <a:pt x="0" y="0"/>
                  </a:moveTo>
                  <a:lnTo>
                    <a:pt x="6986016" y="0"/>
                  </a:lnTo>
                  <a:lnTo>
                    <a:pt x="6986016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2164" r="0" b="-322164"/>
              </a:stretch>
            </a:blipFill>
          </p:spPr>
        </p:sp>
        <p:sp>
          <p:nvSpPr>
            <p:cNvPr name="TextBox 159" id="159"/>
            <p:cNvSpPr txBox="true"/>
            <p:nvPr/>
          </p:nvSpPr>
          <p:spPr>
            <a:xfrm>
              <a:off x="0" y="-9525"/>
              <a:ext cx="6986016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99"/>
                </a:lnSpc>
              </a:pPr>
              <a:r>
                <a:rPr lang="en-US" sz="1620" spc="6">
                  <a:solidFill>
                    <a:srgbClr val="8A5A24"/>
                  </a:solidFill>
                  <a:latin typeface="Mandali"/>
                  <a:ea typeface="Mandali"/>
                  <a:cs typeface="Mandali"/>
                  <a:sym typeface="Mandali"/>
                </a:rPr>
                <a:t>별도 검증 과제</a:t>
              </a:r>
            </a:p>
          </p:txBody>
        </p:sp>
      </p:grpSp>
      <p:grpSp>
        <p:nvGrpSpPr>
          <p:cNvPr name="Group 160" id="160"/>
          <p:cNvGrpSpPr/>
          <p:nvPr/>
        </p:nvGrpSpPr>
        <p:grpSpPr>
          <a:xfrm rot="0">
            <a:off x="11946636" y="8956548"/>
            <a:ext cx="5239512" cy="260604"/>
            <a:chOff x="0" y="0"/>
            <a:chExt cx="6986016" cy="347472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6986016" cy="347472"/>
            </a:xfrm>
            <a:custGeom>
              <a:avLst/>
              <a:gdLst/>
              <a:ahLst/>
              <a:cxnLst/>
              <a:rect r="r" b="b" t="t" l="l"/>
              <a:pathLst>
                <a:path h="347472" w="6986016">
                  <a:moveTo>
                    <a:pt x="0" y="0"/>
                  </a:moveTo>
                  <a:lnTo>
                    <a:pt x="6986016" y="0"/>
                  </a:lnTo>
                  <a:lnTo>
                    <a:pt x="6986016" y="347472"/>
                  </a:lnTo>
                  <a:lnTo>
                    <a:pt x="0" y="3474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1751" r="0" b="-341751"/>
              </a:stretch>
            </a:blipFill>
          </p:spPr>
        </p:sp>
        <p:sp>
          <p:nvSpPr>
            <p:cNvPr name="TextBox 162" id="162"/>
            <p:cNvSpPr txBox="true"/>
            <p:nvPr/>
          </p:nvSpPr>
          <p:spPr>
            <a:xfrm>
              <a:off x="0" y="-9525"/>
              <a:ext cx="6986016" cy="3569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4"/>
                </a:lnSpc>
              </a:pPr>
              <a:r>
                <a:rPr lang="en-US" sz="1754" spc="6">
                  <a:solidFill>
                    <a:srgbClr val="8A5A24"/>
                  </a:solidFill>
                  <a:latin typeface="Mandali"/>
                  <a:ea typeface="Mandali"/>
                  <a:cs typeface="Mandali"/>
                  <a:sym typeface="Mandali"/>
                </a:rPr>
                <a:t>설명 근거의 타당성 · 권고사항의 적절성</a:t>
              </a:r>
            </a:p>
          </p:txBody>
        </p:sp>
      </p:grpSp>
      <p:sp>
        <p:nvSpPr>
          <p:cNvPr name="AutoShape 163" id="163"/>
          <p:cNvSpPr/>
          <p:nvPr/>
        </p:nvSpPr>
        <p:spPr>
          <a:xfrm rot="2760">
            <a:off x="816293" y="9706166"/>
            <a:ext cx="16650853" cy="0"/>
          </a:xfrm>
          <a:prstGeom prst="line">
            <a:avLst/>
          </a:prstGeom>
          <a:ln cap="rnd" w="9525">
            <a:solidFill>
              <a:srgbClr val="DDE3E9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93776"/>
            <a:ext cx="16596360" cy="301752"/>
            <a:chOff x="0" y="0"/>
            <a:chExt cx="22128480" cy="4023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402336"/>
            </a:xfrm>
            <a:custGeom>
              <a:avLst/>
              <a:gdLst/>
              <a:ahLst/>
              <a:cxnLst/>
              <a:rect r="r" b="b" t="t" l="l"/>
              <a:pathLst>
                <a:path h="402336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1677" r="0" b="-102167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12848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99"/>
                </a:lnSpc>
              </a:pPr>
              <a:r>
                <a:rPr lang="en-US" sz="1620" spc="126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04  /  MODEL EXPERIMENTS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124712"/>
            <a:ext cx="16596360" cy="685800"/>
            <a:chOff x="0" y="0"/>
            <a:chExt cx="22128480" cy="91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914400"/>
            </a:xfrm>
            <a:custGeom>
              <a:avLst/>
              <a:gdLst/>
              <a:ahLst/>
              <a:cxnLst/>
              <a:rect r="r" b="b" t="t" l="l"/>
              <a:pathLst>
                <a:path h="91440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1537" r="0" b="-42153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12848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48"/>
                </a:lnSpc>
              </a:pPr>
              <a:r>
                <a:rPr lang="en-US" sz="4050" spc="15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LLM 파인튜닝: 평가 결과에서 데이터 설계로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50392" y="1920240"/>
            <a:ext cx="16459200" cy="411480"/>
            <a:chOff x="0" y="0"/>
            <a:chExt cx="219456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548640"/>
            </a:xfrm>
            <a:custGeom>
              <a:avLst/>
              <a:gdLst/>
              <a:ahLst/>
              <a:cxnLst/>
              <a:rect r="r" b="b" t="t" l="l"/>
              <a:pathLst>
                <a:path h="5486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9401" r="0" b="-72940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19456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8"/>
                </a:lnSpc>
              </a:pPr>
              <a:r>
                <a:rPr lang="en-US" sz="1920" spc="7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1차 실험 데이터셋 : DiverseVul, BigVul, Cybersecurity QA v2, 2차 실험 데이터셋 : NIST SARD/Juliet C/C++ 1.3 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 rot="5391660">
            <a:off x="5437622" y="6002846"/>
            <a:ext cx="6269755" cy="0"/>
          </a:xfrm>
          <a:prstGeom prst="line">
            <a:avLst/>
          </a:prstGeom>
          <a:ln cap="rnd" w="9525">
            <a:solidFill>
              <a:srgbClr val="DDE3E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877824" y="2852928"/>
            <a:ext cx="7228332" cy="466344"/>
            <a:chOff x="0" y="0"/>
            <a:chExt cx="9637776" cy="62179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637776" cy="621792"/>
            </a:xfrm>
            <a:custGeom>
              <a:avLst/>
              <a:gdLst/>
              <a:ahLst/>
              <a:cxnLst/>
              <a:rect r="r" b="b" t="t" l="l"/>
              <a:pathLst>
                <a:path h="621792" w="9637776">
                  <a:moveTo>
                    <a:pt x="0" y="0"/>
                  </a:moveTo>
                  <a:lnTo>
                    <a:pt x="9637776" y="0"/>
                  </a:lnTo>
                  <a:lnTo>
                    <a:pt x="9637776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2018" r="0" b="-25201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9637776" cy="6503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15"/>
                </a:lnSpc>
              </a:pPr>
              <a:r>
                <a:rPr lang="en-US" sz="2790" spc="10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1차 실험  /  한계 확인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91540" y="3538728"/>
            <a:ext cx="7159752" cy="315468"/>
            <a:chOff x="0" y="0"/>
            <a:chExt cx="9546336" cy="42062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546336" cy="420624"/>
            </a:xfrm>
            <a:custGeom>
              <a:avLst/>
              <a:gdLst/>
              <a:ahLst/>
              <a:cxnLst/>
              <a:rect r="r" b="b" t="t" l="l"/>
              <a:pathLst>
                <a:path h="420624" w="9546336">
                  <a:moveTo>
                    <a:pt x="0" y="0"/>
                  </a:moveTo>
                  <a:lnTo>
                    <a:pt x="9546336" y="0"/>
                  </a:lnTo>
                  <a:lnTo>
                    <a:pt x="9546336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2225" r="0" b="-39222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9546336" cy="4396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35"/>
                </a:lnSpc>
              </a:pPr>
              <a:r>
                <a:rPr lang="en-US" sz="1725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DiverseVul 기반 · 취약 250 / 정상 250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68299" y="4118991"/>
            <a:ext cx="7178802" cy="663702"/>
            <a:chOff x="0" y="0"/>
            <a:chExt cx="9571736" cy="88493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571736" cy="884936"/>
            </a:xfrm>
            <a:custGeom>
              <a:avLst/>
              <a:gdLst/>
              <a:ahLst/>
              <a:cxnLst/>
              <a:rect r="r" b="b" t="t" l="l"/>
              <a:pathLst>
                <a:path h="884936" w="9571736">
                  <a:moveTo>
                    <a:pt x="0" y="0"/>
                  </a:moveTo>
                  <a:lnTo>
                    <a:pt x="9571736" y="0"/>
                  </a:lnTo>
                  <a:lnTo>
                    <a:pt x="9571736" y="884936"/>
                  </a:lnTo>
                  <a:lnTo>
                    <a:pt x="0" y="884936"/>
                  </a:lnTo>
                  <a:close/>
                </a:path>
              </a:pathLst>
            </a:custGeom>
            <a:solidFill>
              <a:srgbClr val="F0F3F6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24712" y="4306824"/>
            <a:ext cx="6665976" cy="260604"/>
            <a:chOff x="0" y="0"/>
            <a:chExt cx="8887968" cy="34747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887968" cy="347472"/>
            </a:xfrm>
            <a:custGeom>
              <a:avLst/>
              <a:gdLst/>
              <a:ahLst/>
              <a:cxnLst/>
              <a:rect r="r" b="b" t="t" l="l"/>
              <a:pathLst>
                <a:path h="347472" w="8887968">
                  <a:moveTo>
                    <a:pt x="0" y="0"/>
                  </a:moveTo>
                  <a:lnTo>
                    <a:pt x="8887968" y="0"/>
                  </a:lnTo>
                  <a:lnTo>
                    <a:pt x="8887968" y="347472"/>
                  </a:lnTo>
                  <a:lnTo>
                    <a:pt x="0" y="3474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8406" r="0" b="-44840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8887968" cy="3569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1"/>
                </a:lnSpc>
              </a:pPr>
              <a:r>
                <a:rPr lang="en-US" sz="1845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학습 332,807개 · 10,401 step · B200 × 2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24712" y="5225796"/>
            <a:ext cx="4128516" cy="356616"/>
            <a:chOff x="0" y="0"/>
            <a:chExt cx="5504688" cy="47548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504688" cy="475488"/>
            </a:xfrm>
            <a:custGeom>
              <a:avLst/>
              <a:gdLst/>
              <a:ahLst/>
              <a:cxnLst/>
              <a:rect r="r" b="b" t="t" l="l"/>
              <a:pathLst>
                <a:path h="475488" w="5504688">
                  <a:moveTo>
                    <a:pt x="0" y="0"/>
                  </a:moveTo>
                  <a:lnTo>
                    <a:pt x="5504688" y="0"/>
                  </a:lnTo>
                  <a:lnTo>
                    <a:pt x="5504688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5576" r="0" b="-17557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5504688" cy="4945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18"/>
                </a:lnSpc>
              </a:pPr>
              <a:r>
                <a:rPr lang="en-US" sz="2175" spc="8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Precision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280660" y="5225796"/>
            <a:ext cx="2496312" cy="356616"/>
            <a:chOff x="0" y="0"/>
            <a:chExt cx="3328416" cy="47548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328416" cy="475488"/>
            </a:xfrm>
            <a:custGeom>
              <a:avLst/>
              <a:gdLst/>
              <a:ahLst/>
              <a:cxnLst/>
              <a:rect r="r" b="b" t="t" l="l"/>
              <a:pathLst>
                <a:path h="475488" w="3328416">
                  <a:moveTo>
                    <a:pt x="0" y="0"/>
                  </a:moveTo>
                  <a:lnTo>
                    <a:pt x="3328416" y="0"/>
                  </a:lnTo>
                  <a:lnTo>
                    <a:pt x="3328416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3328416" cy="4945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324"/>
                </a:lnSpc>
              </a:pPr>
              <a:r>
                <a:rPr lang="en-US" sz="2565" spc="9">
                  <a:solidFill>
                    <a:srgbClr val="8A5A24"/>
                  </a:solidFill>
                  <a:latin typeface="Mandali"/>
                  <a:ea typeface="Mandali"/>
                  <a:cs typeface="Mandali"/>
                  <a:sym typeface="Mandali"/>
                </a:rPr>
                <a:t>42.00%</a:t>
              </a:r>
            </a:p>
          </p:txBody>
        </p:sp>
      </p:grpSp>
      <p:sp>
        <p:nvSpPr>
          <p:cNvPr name="AutoShape 29" id="29"/>
          <p:cNvSpPr/>
          <p:nvPr/>
        </p:nvSpPr>
        <p:spPr>
          <a:xfrm rot="6840">
            <a:off x="1104319" y="5728525"/>
            <a:ext cx="6679321" cy="0"/>
          </a:xfrm>
          <a:prstGeom prst="line">
            <a:avLst/>
          </a:prstGeom>
          <a:ln cap="rnd" w="9525">
            <a:solidFill>
              <a:srgbClr val="DDE3E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0" id="30"/>
          <p:cNvGrpSpPr/>
          <p:nvPr/>
        </p:nvGrpSpPr>
        <p:grpSpPr>
          <a:xfrm rot="0">
            <a:off x="1124712" y="5897880"/>
            <a:ext cx="4128516" cy="356616"/>
            <a:chOff x="0" y="0"/>
            <a:chExt cx="5504688" cy="47548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504688" cy="475488"/>
            </a:xfrm>
            <a:custGeom>
              <a:avLst/>
              <a:gdLst/>
              <a:ahLst/>
              <a:cxnLst/>
              <a:rect r="r" b="b" t="t" l="l"/>
              <a:pathLst>
                <a:path h="475488" w="5504688">
                  <a:moveTo>
                    <a:pt x="0" y="0"/>
                  </a:moveTo>
                  <a:lnTo>
                    <a:pt x="5504688" y="0"/>
                  </a:lnTo>
                  <a:lnTo>
                    <a:pt x="5504688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5576" r="0" b="-17557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5504688" cy="4945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18"/>
                </a:lnSpc>
              </a:pPr>
              <a:r>
                <a:rPr lang="en-US" sz="2175" spc="8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Recall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280660" y="5897880"/>
            <a:ext cx="2496312" cy="356616"/>
            <a:chOff x="0" y="0"/>
            <a:chExt cx="3328416" cy="47548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328416" cy="475488"/>
            </a:xfrm>
            <a:custGeom>
              <a:avLst/>
              <a:gdLst/>
              <a:ahLst/>
              <a:cxnLst/>
              <a:rect r="r" b="b" t="t" l="l"/>
              <a:pathLst>
                <a:path h="475488" w="3328416">
                  <a:moveTo>
                    <a:pt x="0" y="0"/>
                  </a:moveTo>
                  <a:lnTo>
                    <a:pt x="3328416" y="0"/>
                  </a:lnTo>
                  <a:lnTo>
                    <a:pt x="3328416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3328416" cy="4945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324"/>
                </a:lnSpc>
              </a:pPr>
              <a:r>
                <a:rPr lang="en-US" sz="2565" spc="9">
                  <a:solidFill>
                    <a:srgbClr val="8A5A24"/>
                  </a:solidFill>
                  <a:latin typeface="Mandali"/>
                  <a:ea typeface="Mandali"/>
                  <a:cs typeface="Mandali"/>
                  <a:sym typeface="Mandali"/>
                </a:rPr>
                <a:t>33.60%</a:t>
              </a:r>
            </a:p>
          </p:txBody>
        </p:sp>
      </p:grpSp>
      <p:sp>
        <p:nvSpPr>
          <p:cNvPr name="AutoShape 36" id="36"/>
          <p:cNvSpPr/>
          <p:nvPr/>
        </p:nvSpPr>
        <p:spPr>
          <a:xfrm rot="6840">
            <a:off x="1104319" y="6400610"/>
            <a:ext cx="6679321" cy="0"/>
          </a:xfrm>
          <a:prstGeom prst="line">
            <a:avLst/>
          </a:prstGeom>
          <a:ln cap="rnd" w="9525">
            <a:solidFill>
              <a:srgbClr val="DDE3E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7" id="37"/>
          <p:cNvGrpSpPr/>
          <p:nvPr/>
        </p:nvGrpSpPr>
        <p:grpSpPr>
          <a:xfrm rot="0">
            <a:off x="1124712" y="6569964"/>
            <a:ext cx="4128516" cy="356616"/>
            <a:chOff x="0" y="0"/>
            <a:chExt cx="5504688" cy="47548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504688" cy="475488"/>
            </a:xfrm>
            <a:custGeom>
              <a:avLst/>
              <a:gdLst/>
              <a:ahLst/>
              <a:cxnLst/>
              <a:rect r="r" b="b" t="t" l="l"/>
              <a:pathLst>
                <a:path h="475488" w="5504688">
                  <a:moveTo>
                    <a:pt x="0" y="0"/>
                  </a:moveTo>
                  <a:lnTo>
                    <a:pt x="5504688" y="0"/>
                  </a:lnTo>
                  <a:lnTo>
                    <a:pt x="5504688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5576" r="0" b="-175576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5504688" cy="4945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18"/>
                </a:lnSpc>
              </a:pPr>
              <a:r>
                <a:rPr lang="en-US" sz="2175" spc="8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JSON 파싱 실패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5280660" y="6569964"/>
            <a:ext cx="2496312" cy="356616"/>
            <a:chOff x="0" y="0"/>
            <a:chExt cx="3328416" cy="47548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328416" cy="475488"/>
            </a:xfrm>
            <a:custGeom>
              <a:avLst/>
              <a:gdLst/>
              <a:ahLst/>
              <a:cxnLst/>
              <a:rect r="r" b="b" t="t" l="l"/>
              <a:pathLst>
                <a:path h="475488" w="3328416">
                  <a:moveTo>
                    <a:pt x="0" y="0"/>
                  </a:moveTo>
                  <a:lnTo>
                    <a:pt x="3328416" y="0"/>
                  </a:lnTo>
                  <a:lnTo>
                    <a:pt x="3328416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3328416" cy="4945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324"/>
                </a:lnSpc>
              </a:pPr>
              <a:r>
                <a:rPr lang="en-US" sz="2565" spc="9">
                  <a:solidFill>
                    <a:srgbClr val="8A5A24"/>
                  </a:solidFill>
                  <a:latin typeface="Mandali"/>
                  <a:ea typeface="Mandali"/>
                  <a:cs typeface="Mandali"/>
                  <a:sym typeface="Mandali"/>
                </a:rPr>
                <a:t>222 / 500</a:t>
              </a:r>
            </a:p>
          </p:txBody>
        </p:sp>
      </p:grpSp>
      <p:sp>
        <p:nvSpPr>
          <p:cNvPr name="AutoShape 43" id="43"/>
          <p:cNvSpPr/>
          <p:nvPr/>
        </p:nvSpPr>
        <p:spPr>
          <a:xfrm rot="6840">
            <a:off x="1104319" y="7072694"/>
            <a:ext cx="6679321" cy="0"/>
          </a:xfrm>
          <a:prstGeom prst="line">
            <a:avLst/>
          </a:prstGeom>
          <a:ln cap="rnd" w="9525">
            <a:solidFill>
              <a:srgbClr val="DDE3E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4" id="44"/>
          <p:cNvGrpSpPr/>
          <p:nvPr/>
        </p:nvGrpSpPr>
        <p:grpSpPr>
          <a:xfrm rot="0">
            <a:off x="1110996" y="7612380"/>
            <a:ext cx="6858000" cy="891540"/>
            <a:chOff x="0" y="0"/>
            <a:chExt cx="9144000" cy="11887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1440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884" r="0" b="-9988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9144000" cy="1217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86"/>
                </a:lnSpc>
              </a:pPr>
              <a:r>
                <a:rPr lang="en-US" sz="2445" spc="9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과적합 가능성 의심</a:t>
              </a:r>
            </a:p>
            <a:p>
              <a:pPr algn="l">
                <a:lnSpc>
                  <a:spcPts val="3286"/>
                </a:lnSpc>
              </a:pPr>
              <a:r>
                <a:rPr lang="en-US" sz="2445" spc="9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응답 형식 실패를 함께 확인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110996" y="8682228"/>
            <a:ext cx="6885432" cy="589788"/>
            <a:chOff x="0" y="0"/>
            <a:chExt cx="9180576" cy="78638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180576" cy="786384"/>
            </a:xfrm>
            <a:custGeom>
              <a:avLst/>
              <a:gdLst/>
              <a:ahLst/>
              <a:cxnLst/>
              <a:rect r="r" b="b" t="t" l="l"/>
              <a:pathLst>
                <a:path h="786384" w="9180576">
                  <a:moveTo>
                    <a:pt x="0" y="0"/>
                  </a:moveTo>
                  <a:lnTo>
                    <a:pt x="9180576" y="0"/>
                  </a:lnTo>
                  <a:lnTo>
                    <a:pt x="9180576" y="786384"/>
                  </a:lnTo>
                  <a:lnTo>
                    <a:pt x="0" y="7863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476" r="0" b="-177476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9180576" cy="8054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36"/>
                </a:lnSpc>
              </a:pPr>
              <a:r>
                <a:rPr lang="en-US" sz="1770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낮은 학습 loss만으로 품질을 판단하지 않고</a:t>
              </a:r>
            </a:p>
            <a:p>
              <a:pPr algn="l">
                <a:lnSpc>
                  <a:spcPts val="2336"/>
                </a:lnSpc>
              </a:pPr>
              <a:r>
                <a:rPr lang="en-US" sz="1770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데이터 구성과 출력 형식을 재검토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107424" y="2852928"/>
            <a:ext cx="8339328" cy="466344"/>
            <a:chOff x="0" y="0"/>
            <a:chExt cx="11119104" cy="62179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1119104" cy="621792"/>
            </a:xfrm>
            <a:custGeom>
              <a:avLst/>
              <a:gdLst/>
              <a:ahLst/>
              <a:cxnLst/>
              <a:rect r="r" b="b" t="t" l="l"/>
              <a:pathLst>
                <a:path h="621792" w="11119104">
                  <a:moveTo>
                    <a:pt x="0" y="0"/>
                  </a:moveTo>
                  <a:lnTo>
                    <a:pt x="11119104" y="0"/>
                  </a:lnTo>
                  <a:lnTo>
                    <a:pt x="11119104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8438" r="0" b="-29843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11119104" cy="6503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15"/>
                </a:lnSpc>
              </a:pPr>
              <a:r>
                <a:rPr lang="en-US" sz="2790" spc="10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재설계  /  데이터·학습 목표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121140" y="3511296"/>
            <a:ext cx="8311896" cy="891540"/>
            <a:chOff x="0" y="0"/>
            <a:chExt cx="11082528" cy="11887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1082528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082528">
                  <a:moveTo>
                    <a:pt x="0" y="0"/>
                  </a:moveTo>
                  <a:lnTo>
                    <a:pt x="11082528" y="0"/>
                  </a:lnTo>
                  <a:lnTo>
                    <a:pt x="11082528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660" r="0" b="-13166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11082528" cy="1207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7"/>
                </a:lnSpc>
              </a:pPr>
              <a:r>
                <a:rPr lang="en-US" sz="1679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Qwen3-Coder-Next 80B · B200 × 2</a:t>
              </a:r>
            </a:p>
            <a:p>
              <a:pPr algn="l">
                <a:lnSpc>
                  <a:spcPts val="2257"/>
                </a:lnSpc>
              </a:pPr>
              <a:r>
                <a:rPr lang="en-US" sz="1679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학습/검증 구성 10,000 / 1,000개</a:t>
              </a:r>
            </a:p>
            <a:p>
              <a:pPr algn="l">
                <a:lnSpc>
                  <a:spcPts val="2257"/>
                </a:lnSpc>
              </a:pPr>
              <a:r>
                <a:rPr lang="en-US" sz="1679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정제 후 학습 사용 9,975 / 996개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141904" y="4601908"/>
            <a:ext cx="2537079" cy="671703"/>
            <a:chOff x="0" y="0"/>
            <a:chExt cx="3382772" cy="89560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382772" cy="895604"/>
            </a:xfrm>
            <a:custGeom>
              <a:avLst/>
              <a:gdLst/>
              <a:ahLst/>
              <a:cxnLst/>
              <a:rect r="r" b="b" t="t" l="l"/>
              <a:pathLst>
                <a:path h="895604" w="3382772">
                  <a:moveTo>
                    <a:pt x="0" y="149225"/>
                  </a:moveTo>
                  <a:cubicBezTo>
                    <a:pt x="0" y="66802"/>
                    <a:pt x="66802" y="0"/>
                    <a:pt x="149225" y="0"/>
                  </a:cubicBezTo>
                  <a:lnTo>
                    <a:pt x="3233547" y="0"/>
                  </a:lnTo>
                  <a:cubicBezTo>
                    <a:pt x="3315970" y="0"/>
                    <a:pt x="3382772" y="66802"/>
                    <a:pt x="3382772" y="149225"/>
                  </a:cubicBezTo>
                  <a:lnTo>
                    <a:pt x="3382772" y="746379"/>
                  </a:lnTo>
                  <a:cubicBezTo>
                    <a:pt x="3382772" y="828802"/>
                    <a:pt x="3315970" y="895604"/>
                    <a:pt x="3233547" y="895604"/>
                  </a:cubicBezTo>
                  <a:lnTo>
                    <a:pt x="149225" y="895604"/>
                  </a:lnTo>
                  <a:cubicBezTo>
                    <a:pt x="66802" y="895604"/>
                    <a:pt x="0" y="828802"/>
                    <a:pt x="0" y="746379"/>
                  </a:cubicBezTo>
                  <a:close/>
                </a:path>
              </a:pathLst>
            </a:custGeom>
            <a:solidFill>
              <a:srgbClr val="EDF3FA"/>
            </a:solidFill>
            <a:ln w="13335" cap="sq">
              <a:solidFill>
                <a:srgbClr val="DDE3E9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9230868" y="4786884"/>
            <a:ext cx="2359152" cy="274320"/>
            <a:chOff x="0" y="0"/>
            <a:chExt cx="3145536" cy="36576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145536" cy="365760"/>
            </a:xfrm>
            <a:custGeom>
              <a:avLst/>
              <a:gdLst/>
              <a:ahLst/>
              <a:cxnLst/>
              <a:rect r="r" b="b" t="t" l="l"/>
              <a:pathLst>
                <a:path h="365760" w="3145536">
                  <a:moveTo>
                    <a:pt x="0" y="0"/>
                  </a:moveTo>
                  <a:lnTo>
                    <a:pt x="3145536" y="0"/>
                  </a:lnTo>
                  <a:lnTo>
                    <a:pt x="3145536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571" r="0" b="-117571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3145536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71"/>
                </a:lnSpc>
              </a:pPr>
              <a:r>
                <a:rPr lang="en-US" sz="1829" spc="7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취약점 판단</a:t>
              </a:r>
            </a:p>
          </p:txBody>
        </p:sp>
      </p:grpSp>
      <p:sp>
        <p:nvSpPr>
          <p:cNvPr name="AutoShape 61" id="61"/>
          <p:cNvSpPr/>
          <p:nvPr/>
        </p:nvSpPr>
        <p:spPr>
          <a:xfrm rot="316860">
            <a:off x="11716217" y="4919282"/>
            <a:ext cx="227657" cy="0"/>
          </a:xfrm>
          <a:prstGeom prst="line">
            <a:avLst/>
          </a:prstGeom>
          <a:ln cap="rnd" w="9525">
            <a:solidFill>
              <a:srgbClr val="2859A6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62" id="62"/>
          <p:cNvGrpSpPr/>
          <p:nvPr/>
        </p:nvGrpSpPr>
        <p:grpSpPr>
          <a:xfrm rot="0">
            <a:off x="12008548" y="4601908"/>
            <a:ext cx="2537079" cy="671703"/>
            <a:chOff x="0" y="0"/>
            <a:chExt cx="3382772" cy="89560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382772" cy="895604"/>
            </a:xfrm>
            <a:custGeom>
              <a:avLst/>
              <a:gdLst/>
              <a:ahLst/>
              <a:cxnLst/>
              <a:rect r="r" b="b" t="t" l="l"/>
              <a:pathLst>
                <a:path h="895604" w="3382772">
                  <a:moveTo>
                    <a:pt x="0" y="149225"/>
                  </a:moveTo>
                  <a:cubicBezTo>
                    <a:pt x="0" y="66802"/>
                    <a:pt x="66802" y="0"/>
                    <a:pt x="149225" y="0"/>
                  </a:cubicBezTo>
                  <a:lnTo>
                    <a:pt x="3233547" y="0"/>
                  </a:lnTo>
                  <a:cubicBezTo>
                    <a:pt x="3315970" y="0"/>
                    <a:pt x="3382772" y="66802"/>
                    <a:pt x="3382772" y="149225"/>
                  </a:cubicBezTo>
                  <a:lnTo>
                    <a:pt x="3382772" y="746379"/>
                  </a:lnTo>
                  <a:cubicBezTo>
                    <a:pt x="3382772" y="828802"/>
                    <a:pt x="3315970" y="895604"/>
                    <a:pt x="3233547" y="895604"/>
                  </a:cubicBezTo>
                  <a:lnTo>
                    <a:pt x="149225" y="895604"/>
                  </a:lnTo>
                  <a:cubicBezTo>
                    <a:pt x="66802" y="895604"/>
                    <a:pt x="0" y="828802"/>
                    <a:pt x="0" y="746379"/>
                  </a:cubicBezTo>
                  <a:close/>
                </a:path>
              </a:pathLst>
            </a:custGeom>
            <a:solidFill>
              <a:srgbClr val="EDF3FA"/>
            </a:solidFill>
            <a:ln w="13335" cap="sq">
              <a:solidFill>
                <a:srgbClr val="DDE3E9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12097512" y="4786884"/>
            <a:ext cx="2359152" cy="274320"/>
            <a:chOff x="0" y="0"/>
            <a:chExt cx="3145536" cy="36576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145536" cy="365760"/>
            </a:xfrm>
            <a:custGeom>
              <a:avLst/>
              <a:gdLst/>
              <a:ahLst/>
              <a:cxnLst/>
              <a:rect r="r" b="b" t="t" l="l"/>
              <a:pathLst>
                <a:path h="365760" w="3145536">
                  <a:moveTo>
                    <a:pt x="0" y="0"/>
                  </a:moveTo>
                  <a:lnTo>
                    <a:pt x="3145536" y="0"/>
                  </a:lnTo>
                  <a:lnTo>
                    <a:pt x="3145536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571" r="0" b="-117571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9525"/>
              <a:ext cx="3145536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71"/>
                </a:lnSpc>
              </a:pPr>
              <a:r>
                <a:rPr lang="en-US" sz="1829" spc="7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근거 line 선택</a:t>
              </a:r>
            </a:p>
          </p:txBody>
        </p:sp>
      </p:grpSp>
      <p:sp>
        <p:nvSpPr>
          <p:cNvPr name="AutoShape 67" id="67"/>
          <p:cNvSpPr/>
          <p:nvPr/>
        </p:nvSpPr>
        <p:spPr>
          <a:xfrm rot="316860">
            <a:off x="14582861" y="4919282"/>
            <a:ext cx="227657" cy="0"/>
          </a:xfrm>
          <a:prstGeom prst="line">
            <a:avLst/>
          </a:prstGeom>
          <a:ln cap="rnd" w="9525">
            <a:solidFill>
              <a:srgbClr val="2859A6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68" id="68"/>
          <p:cNvGrpSpPr/>
          <p:nvPr/>
        </p:nvGrpSpPr>
        <p:grpSpPr>
          <a:xfrm rot="0">
            <a:off x="14875193" y="4601908"/>
            <a:ext cx="2537079" cy="671703"/>
            <a:chOff x="0" y="0"/>
            <a:chExt cx="3382772" cy="89560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382772" cy="895604"/>
            </a:xfrm>
            <a:custGeom>
              <a:avLst/>
              <a:gdLst/>
              <a:ahLst/>
              <a:cxnLst/>
              <a:rect r="r" b="b" t="t" l="l"/>
              <a:pathLst>
                <a:path h="895604" w="3382772">
                  <a:moveTo>
                    <a:pt x="0" y="149225"/>
                  </a:moveTo>
                  <a:cubicBezTo>
                    <a:pt x="0" y="66802"/>
                    <a:pt x="66802" y="0"/>
                    <a:pt x="149225" y="0"/>
                  </a:cubicBezTo>
                  <a:lnTo>
                    <a:pt x="3233547" y="0"/>
                  </a:lnTo>
                  <a:cubicBezTo>
                    <a:pt x="3315970" y="0"/>
                    <a:pt x="3382772" y="66802"/>
                    <a:pt x="3382772" y="149225"/>
                  </a:cubicBezTo>
                  <a:lnTo>
                    <a:pt x="3382772" y="746379"/>
                  </a:lnTo>
                  <a:cubicBezTo>
                    <a:pt x="3382772" y="828802"/>
                    <a:pt x="3315970" y="895604"/>
                    <a:pt x="3233547" y="895604"/>
                  </a:cubicBezTo>
                  <a:lnTo>
                    <a:pt x="149225" y="895604"/>
                  </a:lnTo>
                  <a:cubicBezTo>
                    <a:pt x="66802" y="895604"/>
                    <a:pt x="0" y="828802"/>
                    <a:pt x="0" y="746379"/>
                  </a:cubicBezTo>
                  <a:close/>
                </a:path>
              </a:pathLst>
            </a:custGeom>
            <a:solidFill>
              <a:srgbClr val="EDF3FA"/>
            </a:solidFill>
            <a:ln w="13335" cap="sq">
              <a:solidFill>
                <a:srgbClr val="DDE3E9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14964156" y="4786884"/>
            <a:ext cx="2359152" cy="274320"/>
            <a:chOff x="0" y="0"/>
            <a:chExt cx="3145536" cy="36576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145536" cy="365760"/>
            </a:xfrm>
            <a:custGeom>
              <a:avLst/>
              <a:gdLst/>
              <a:ahLst/>
              <a:cxnLst/>
              <a:rect r="r" b="b" t="t" l="l"/>
              <a:pathLst>
                <a:path h="365760" w="3145536">
                  <a:moveTo>
                    <a:pt x="0" y="0"/>
                  </a:moveTo>
                  <a:lnTo>
                    <a:pt x="3145536" y="0"/>
                  </a:lnTo>
                  <a:lnTo>
                    <a:pt x="3145536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571" r="0" b="-11757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9525"/>
              <a:ext cx="3145536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71"/>
                </a:lnSpc>
              </a:pPr>
              <a:r>
                <a:rPr lang="en-US" sz="1829" spc="7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원문 span 추출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9148572" y="5513832"/>
            <a:ext cx="8257032" cy="301752"/>
            <a:chOff x="0" y="0"/>
            <a:chExt cx="11009376" cy="40233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1009376" cy="402336"/>
            </a:xfrm>
            <a:custGeom>
              <a:avLst/>
              <a:gdLst/>
              <a:ahLst/>
              <a:cxnLst/>
              <a:rect r="r" b="b" t="t" l="l"/>
              <a:pathLst>
                <a:path h="402336" w="11009376">
                  <a:moveTo>
                    <a:pt x="0" y="0"/>
                  </a:moveTo>
                  <a:lnTo>
                    <a:pt x="11009376" y="0"/>
                  </a:lnTo>
                  <a:lnTo>
                    <a:pt x="11009376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3181" r="0" b="-483181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19050"/>
              <a:ext cx="11009376" cy="4213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35"/>
                </a:lnSpc>
              </a:pPr>
              <a:r>
                <a:rPr lang="en-US" sz="1725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판단과 근거 추출의 학습 목표 분리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9111615" y="6094095"/>
            <a:ext cx="8317230" cy="2337054"/>
            <a:chOff x="0" y="0"/>
            <a:chExt cx="11089640" cy="311607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1089640" cy="3116072"/>
            </a:xfrm>
            <a:custGeom>
              <a:avLst/>
              <a:gdLst/>
              <a:ahLst/>
              <a:cxnLst/>
              <a:rect r="r" b="b" t="t" l="l"/>
              <a:pathLst>
                <a:path h="3116072" w="11089640">
                  <a:moveTo>
                    <a:pt x="0" y="0"/>
                  </a:moveTo>
                  <a:lnTo>
                    <a:pt x="11089640" y="0"/>
                  </a:lnTo>
                  <a:lnTo>
                    <a:pt x="11089640" y="3116072"/>
                  </a:lnTo>
                  <a:lnTo>
                    <a:pt x="0" y="3116072"/>
                  </a:lnTo>
                  <a:close/>
                </a:path>
              </a:pathLst>
            </a:custGeom>
            <a:solidFill>
              <a:srgbClr val="EDF3FA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9409176" y="6350508"/>
            <a:ext cx="7694676" cy="342900"/>
            <a:chOff x="0" y="0"/>
            <a:chExt cx="10259568" cy="4572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0259568" cy="457200"/>
            </a:xfrm>
            <a:custGeom>
              <a:avLst/>
              <a:gdLst/>
              <a:ahLst/>
              <a:cxnLst/>
              <a:rect r="r" b="b" t="t" l="l"/>
              <a:pathLst>
                <a:path h="457200" w="10259568">
                  <a:moveTo>
                    <a:pt x="0" y="0"/>
                  </a:moveTo>
                  <a:lnTo>
                    <a:pt x="10259568" y="0"/>
                  </a:lnTo>
                  <a:lnTo>
                    <a:pt x="10259568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7244" r="0" b="-387244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28575"/>
              <a:ext cx="10259568" cy="485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7"/>
                </a:lnSpc>
              </a:pPr>
              <a:r>
                <a:rPr lang="en-US" sz="1950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2차 평가 기록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9409176" y="6830568"/>
            <a:ext cx="7694676" cy="274320"/>
            <a:chOff x="0" y="0"/>
            <a:chExt cx="10259568" cy="36576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0259568" cy="365760"/>
            </a:xfrm>
            <a:custGeom>
              <a:avLst/>
              <a:gdLst/>
              <a:ahLst/>
              <a:cxnLst/>
              <a:rect r="r" b="b" t="t" l="l"/>
              <a:pathLst>
                <a:path h="365760" w="10259568">
                  <a:moveTo>
                    <a:pt x="0" y="0"/>
                  </a:moveTo>
                  <a:lnTo>
                    <a:pt x="10259568" y="0"/>
                  </a:lnTo>
                  <a:lnTo>
                    <a:pt x="10259568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6555" r="0" b="-496555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9525"/>
              <a:ext cx="10259568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02"/>
                </a:lnSpc>
              </a:pPr>
              <a:r>
                <a:rPr lang="en-US" sz="1545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NIST SARD/Juliet · C/C++ 함수 · 지정 CWE · 500건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9409176" y="7338060"/>
            <a:ext cx="2386584" cy="548640"/>
            <a:chOff x="0" y="0"/>
            <a:chExt cx="3182112" cy="73152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3182112" cy="731520"/>
            </a:xfrm>
            <a:custGeom>
              <a:avLst/>
              <a:gdLst/>
              <a:ahLst/>
              <a:cxnLst/>
              <a:rect r="r" b="b" t="t" l="l"/>
              <a:pathLst>
                <a:path h="731520" w="3182112">
                  <a:moveTo>
                    <a:pt x="0" y="0"/>
                  </a:moveTo>
                  <a:lnTo>
                    <a:pt x="3182112" y="0"/>
                  </a:lnTo>
                  <a:lnTo>
                    <a:pt x="318211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759" r="0" b="-34759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47625"/>
              <a:ext cx="3182112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10"/>
                </a:lnSpc>
              </a:pPr>
              <a:r>
                <a:rPr lang="en-US" sz="3479" spc="13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98.81%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9409176" y="8078724"/>
            <a:ext cx="2386584" cy="219456"/>
            <a:chOff x="0" y="0"/>
            <a:chExt cx="3182112" cy="292608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182112" cy="292608"/>
            </a:xfrm>
            <a:custGeom>
              <a:avLst/>
              <a:gdLst/>
              <a:ahLst/>
              <a:cxnLst/>
              <a:rect r="r" b="b" t="t" l="l"/>
              <a:pathLst>
                <a:path h="292608" w="3182112">
                  <a:moveTo>
                    <a:pt x="0" y="0"/>
                  </a:moveTo>
                  <a:lnTo>
                    <a:pt x="3182112" y="0"/>
                  </a:lnTo>
                  <a:lnTo>
                    <a:pt x="3182112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99" r="0" b="-161899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9525"/>
              <a:ext cx="3182112" cy="302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4"/>
                </a:lnSpc>
              </a:pPr>
              <a:r>
                <a:rPr lang="en-US" sz="1500" spc="5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Precision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2015216" y="7338060"/>
            <a:ext cx="2386584" cy="548640"/>
            <a:chOff x="0" y="0"/>
            <a:chExt cx="3182112" cy="73152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182112" cy="731520"/>
            </a:xfrm>
            <a:custGeom>
              <a:avLst/>
              <a:gdLst/>
              <a:ahLst/>
              <a:cxnLst/>
              <a:rect r="r" b="b" t="t" l="l"/>
              <a:pathLst>
                <a:path h="731520" w="3182112">
                  <a:moveTo>
                    <a:pt x="0" y="0"/>
                  </a:moveTo>
                  <a:lnTo>
                    <a:pt x="3182112" y="0"/>
                  </a:lnTo>
                  <a:lnTo>
                    <a:pt x="318211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759" r="0" b="-34759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47625"/>
              <a:ext cx="3182112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10"/>
                </a:lnSpc>
              </a:pPr>
              <a:r>
                <a:rPr lang="en-US" sz="3479" spc="13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100%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2015216" y="8078724"/>
            <a:ext cx="2386584" cy="219456"/>
            <a:chOff x="0" y="0"/>
            <a:chExt cx="3182112" cy="292608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3182112" cy="292608"/>
            </a:xfrm>
            <a:custGeom>
              <a:avLst/>
              <a:gdLst/>
              <a:ahLst/>
              <a:cxnLst/>
              <a:rect r="r" b="b" t="t" l="l"/>
              <a:pathLst>
                <a:path h="292608" w="3182112">
                  <a:moveTo>
                    <a:pt x="0" y="0"/>
                  </a:moveTo>
                  <a:lnTo>
                    <a:pt x="3182112" y="0"/>
                  </a:lnTo>
                  <a:lnTo>
                    <a:pt x="3182112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99" r="0" b="-161899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9525"/>
              <a:ext cx="3182112" cy="302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4"/>
                </a:lnSpc>
              </a:pPr>
              <a:r>
                <a:rPr lang="en-US" sz="1500" spc="5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Recall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4621256" y="7338060"/>
            <a:ext cx="2386584" cy="548640"/>
            <a:chOff x="0" y="0"/>
            <a:chExt cx="3182112" cy="73152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3182112" cy="731520"/>
            </a:xfrm>
            <a:custGeom>
              <a:avLst/>
              <a:gdLst/>
              <a:ahLst/>
              <a:cxnLst/>
              <a:rect r="r" b="b" t="t" l="l"/>
              <a:pathLst>
                <a:path h="731520" w="3182112">
                  <a:moveTo>
                    <a:pt x="0" y="0"/>
                  </a:moveTo>
                  <a:lnTo>
                    <a:pt x="3182112" y="0"/>
                  </a:lnTo>
                  <a:lnTo>
                    <a:pt x="318211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759" r="0" b="-34759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47625"/>
              <a:ext cx="3182112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10"/>
                </a:lnSpc>
              </a:pPr>
              <a:r>
                <a:rPr lang="en-US" sz="3479" spc="13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1.20%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4621256" y="8078724"/>
            <a:ext cx="2386584" cy="219456"/>
            <a:chOff x="0" y="0"/>
            <a:chExt cx="3182112" cy="292608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3182112" cy="292608"/>
            </a:xfrm>
            <a:custGeom>
              <a:avLst/>
              <a:gdLst/>
              <a:ahLst/>
              <a:cxnLst/>
              <a:rect r="r" b="b" t="t" l="l"/>
              <a:pathLst>
                <a:path h="292608" w="3182112">
                  <a:moveTo>
                    <a:pt x="0" y="0"/>
                  </a:moveTo>
                  <a:lnTo>
                    <a:pt x="3182112" y="0"/>
                  </a:lnTo>
                  <a:lnTo>
                    <a:pt x="3182112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99" r="0" b="-161899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9525"/>
              <a:ext cx="3182112" cy="302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4"/>
                </a:lnSpc>
              </a:pPr>
              <a:r>
                <a:rPr lang="en-US" sz="1500" spc="5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FPR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9134856" y="8627364"/>
            <a:ext cx="8243316" cy="288036"/>
            <a:chOff x="0" y="0"/>
            <a:chExt cx="10991088" cy="384048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0991088" cy="384048"/>
            </a:xfrm>
            <a:custGeom>
              <a:avLst/>
              <a:gdLst/>
              <a:ahLst/>
              <a:cxnLst/>
              <a:rect r="r" b="b" t="t" l="l"/>
              <a:pathLst>
                <a:path h="384048" w="10991088">
                  <a:moveTo>
                    <a:pt x="0" y="0"/>
                  </a:moveTo>
                  <a:lnTo>
                    <a:pt x="10991088" y="0"/>
                  </a:lnTo>
                  <a:lnTo>
                    <a:pt x="10991088" y="384048"/>
                  </a:lnTo>
                  <a:lnTo>
                    <a:pt x="0" y="3840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7643" r="0" b="-507643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9525"/>
              <a:ext cx="10991088" cy="3935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02"/>
                </a:lnSpc>
              </a:pPr>
              <a:r>
                <a:rPr lang="en-US" sz="1545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모델 단독 평가 · HF 최초 blind 평가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9134856" y="9066276"/>
            <a:ext cx="8257032" cy="301752"/>
            <a:chOff x="0" y="0"/>
            <a:chExt cx="11009376" cy="402336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1009376" cy="402336"/>
            </a:xfrm>
            <a:custGeom>
              <a:avLst/>
              <a:gdLst/>
              <a:ahLst/>
              <a:cxnLst/>
              <a:rect r="r" b="b" t="t" l="l"/>
              <a:pathLst>
                <a:path h="402336" w="11009376">
                  <a:moveTo>
                    <a:pt x="0" y="0"/>
                  </a:moveTo>
                  <a:lnTo>
                    <a:pt x="11009376" y="0"/>
                  </a:lnTo>
                  <a:lnTo>
                    <a:pt x="11009376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3181" r="0" b="-483181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9525"/>
              <a:ext cx="11009376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6"/>
                </a:lnSpc>
              </a:pPr>
              <a:r>
                <a:rPr lang="en-US" sz="1695" spc="6">
                  <a:solidFill>
                    <a:srgbClr val="8A5A24"/>
                  </a:solidFill>
                  <a:latin typeface="Mandali"/>
                  <a:ea typeface="Mandali"/>
                  <a:cs typeface="Mandali"/>
                  <a:sym typeface="Mandali"/>
                </a:rPr>
                <a:t>진행 상태: 데이터셋 구축 · 실증 테스트 예정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891540" y="9436608"/>
            <a:ext cx="16459200" cy="233172"/>
            <a:chOff x="0" y="0"/>
            <a:chExt cx="21945600" cy="310896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21945600" cy="310896"/>
            </a:xfrm>
            <a:custGeom>
              <a:avLst/>
              <a:gdLst/>
              <a:ahLst/>
              <a:cxnLst/>
              <a:rect r="r" b="b" t="t" l="l"/>
              <a:pathLst>
                <a:path h="31089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10896"/>
                  </a:lnTo>
                  <a:lnTo>
                    <a:pt x="0" y="310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25414" r="0" b="-1325414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19050"/>
              <a:ext cx="21945600" cy="329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66"/>
                </a:lnSpc>
              </a:pPr>
              <a:r>
                <a:rPr lang="en-US" sz="1439" spc="5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※ 1차를 진행하면서 정답 + 근거의 필요성을 느꼈고, 데이터셋을 재설계하면서 취약점 판단 + 근거 선택을 할 수 있도록 학습 데이터셋을 재구축함. 그 과정에서 원천 데이터셋 교체가 이루어짐.</a:t>
              </a:r>
            </a:p>
          </p:txBody>
        </p:sp>
      </p:grpSp>
      <p:sp>
        <p:nvSpPr>
          <p:cNvPr name="AutoShape 111" id="111"/>
          <p:cNvSpPr/>
          <p:nvPr/>
        </p:nvSpPr>
        <p:spPr>
          <a:xfrm rot="2760">
            <a:off x="816293" y="9706166"/>
            <a:ext cx="16650853" cy="0"/>
          </a:xfrm>
          <a:prstGeom prst="line">
            <a:avLst/>
          </a:prstGeom>
          <a:ln cap="rnd" w="9525">
            <a:solidFill>
              <a:srgbClr val="DDE3E9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93776"/>
            <a:ext cx="16596360" cy="438476"/>
            <a:chOff x="0" y="0"/>
            <a:chExt cx="22128480" cy="5846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584635"/>
            </a:xfrm>
            <a:custGeom>
              <a:avLst/>
              <a:gdLst/>
              <a:ahLst/>
              <a:cxnLst/>
              <a:rect r="r" b="b" t="t" l="l"/>
              <a:pathLst>
                <a:path h="58463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584635"/>
                  </a:lnTo>
                  <a:lnTo>
                    <a:pt x="0" y="5846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3101" r="0" b="-67191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128480" cy="594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99"/>
                </a:lnSpc>
              </a:pPr>
              <a:r>
                <a:rPr lang="en-US" sz="1620" spc="126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05  /  FRAMEWORK DEVELOPMENT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124712"/>
            <a:ext cx="16596360" cy="1110478"/>
            <a:chOff x="0" y="0"/>
            <a:chExt cx="22128480" cy="148063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480637"/>
            </a:xfrm>
            <a:custGeom>
              <a:avLst/>
              <a:gdLst/>
              <a:ahLst/>
              <a:cxnLst/>
              <a:rect r="r" b="b" t="t" l="l"/>
              <a:pathLst>
                <a:path h="1480637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480637"/>
                  </a:lnTo>
                  <a:lnTo>
                    <a:pt x="0" y="14806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329" r="0" b="-22208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128480" cy="15187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48"/>
                </a:lnSpc>
              </a:pPr>
              <a:r>
                <a:rPr lang="en-US" sz="4050" spc="15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GUAM GPU 기반 AutoML 프레임워크 개발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50392" y="1920240"/>
            <a:ext cx="16459200" cy="529201"/>
            <a:chOff x="0" y="0"/>
            <a:chExt cx="21945600" cy="70560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705601"/>
            </a:xfrm>
            <a:custGeom>
              <a:avLst/>
              <a:gdLst/>
              <a:ahLst/>
              <a:cxnLst/>
              <a:rect r="r" b="b" t="t" l="l"/>
              <a:pathLst>
                <a:path h="705601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05601"/>
                  </a:lnTo>
                  <a:lnTo>
                    <a:pt x="0" y="7056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7146" r="0" b="-54490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1945600" cy="7151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8"/>
                </a:lnSpc>
              </a:pPr>
              <a:r>
                <a:rPr lang="en-US" sz="1920" spc="7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LightAutoML 구조를 RAPIDS로 포팅하는 팀 프로젝트 · 비공개 알파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 rot="5391660">
            <a:off x="5437622" y="6002846"/>
            <a:ext cx="6269755" cy="0"/>
          </a:xfrm>
          <a:prstGeom prst="line">
            <a:avLst/>
          </a:prstGeom>
          <a:ln cap="rnd" w="9525">
            <a:solidFill>
              <a:srgbClr val="DDE3E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9079992" y="2449441"/>
            <a:ext cx="8339328" cy="769441"/>
            <a:chOff x="0" y="0"/>
            <a:chExt cx="11119104" cy="10259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119104" cy="1025921"/>
            </a:xfrm>
            <a:custGeom>
              <a:avLst/>
              <a:gdLst/>
              <a:ahLst/>
              <a:cxnLst/>
              <a:rect r="r" b="b" t="t" l="l"/>
              <a:pathLst>
                <a:path h="1025921" w="11119104">
                  <a:moveTo>
                    <a:pt x="0" y="0"/>
                  </a:moveTo>
                  <a:lnTo>
                    <a:pt x="11119104" y="0"/>
                  </a:lnTo>
                  <a:lnTo>
                    <a:pt x="11119104" y="1025921"/>
                  </a:lnTo>
                  <a:lnTo>
                    <a:pt x="0" y="10259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877" r="0" b="-14148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1119104" cy="10544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602361" indent="-301180" lvl="1">
                <a:lnSpc>
                  <a:spcPts val="3615"/>
                </a:lnSpc>
                <a:buAutoNum type="arabicPeriod" startAt="2"/>
              </a:pPr>
              <a:r>
                <a:rPr lang="en-US" sz="2790" spc="10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프레임워크 개발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 rot="2760">
            <a:off x="816293" y="9706166"/>
            <a:ext cx="16650853" cy="0"/>
          </a:xfrm>
          <a:prstGeom prst="line">
            <a:avLst/>
          </a:prstGeom>
          <a:ln cap="rnd" w="9525">
            <a:solidFill>
              <a:srgbClr val="DDE3E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816295" y="2376678"/>
            <a:ext cx="7289861" cy="5612750"/>
            <a:chOff x="0" y="0"/>
            <a:chExt cx="9719814" cy="7483667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82038" y="0"/>
              <a:ext cx="9637776" cy="1025921"/>
              <a:chOff x="0" y="0"/>
              <a:chExt cx="9637776" cy="1025921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9637776" cy="1025921"/>
              </a:xfrm>
              <a:custGeom>
                <a:avLst/>
                <a:gdLst/>
                <a:ahLst/>
                <a:cxnLst/>
                <a:rect r="r" b="b" t="t" l="l"/>
                <a:pathLst>
                  <a:path h="1025921" w="9637776">
                    <a:moveTo>
                      <a:pt x="0" y="0"/>
                    </a:moveTo>
                    <a:lnTo>
                      <a:pt x="9637776" y="0"/>
                    </a:lnTo>
                    <a:lnTo>
                      <a:pt x="9637776" y="1025921"/>
                    </a:lnTo>
                    <a:lnTo>
                      <a:pt x="0" y="1025921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52743" r="0" b="-113351"/>
                </a:stretch>
              </a:blip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28575"/>
                <a:ext cx="9637776" cy="105449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 marL="602361" indent="-301180" lvl="1">
                  <a:lnSpc>
                    <a:spcPts val="3615"/>
                  </a:lnSpc>
                  <a:buAutoNum type="arabicPeriod" startAt="1"/>
                </a:pPr>
                <a:r>
                  <a:rPr lang="en-US" sz="2790" spc="10">
                    <a:solidFill>
                      <a:srgbClr val="172B43"/>
                    </a:solidFill>
                    <a:latin typeface="Mandali"/>
                    <a:ea typeface="Mandali"/>
                    <a:cs typeface="Mandali"/>
                    <a:sym typeface="Mandali"/>
                  </a:rPr>
                  <a:t>스터디</a:t>
                </a:r>
              </a:p>
            </p:txBody>
          </p:sp>
        </p:grpSp>
        <p:sp>
          <p:nvSpPr>
            <p:cNvPr name="Freeform 20" id="20"/>
            <p:cNvSpPr/>
            <p:nvPr/>
          </p:nvSpPr>
          <p:spPr>
            <a:xfrm flipH="false" flipV="false" rot="0">
              <a:off x="82038" y="1012072"/>
              <a:ext cx="8718844" cy="2287791"/>
            </a:xfrm>
            <a:custGeom>
              <a:avLst/>
              <a:gdLst/>
              <a:ahLst/>
              <a:cxnLst/>
              <a:rect r="r" b="b" t="t" l="l"/>
              <a:pathLst>
                <a:path h="2287791" w="8718844">
                  <a:moveTo>
                    <a:pt x="0" y="0"/>
                  </a:moveTo>
                  <a:lnTo>
                    <a:pt x="8718844" y="0"/>
                  </a:lnTo>
                  <a:lnTo>
                    <a:pt x="8718844" y="2287791"/>
                  </a:lnTo>
                  <a:lnTo>
                    <a:pt x="0" y="2287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4" r="0" b="-64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82038" y="2325769"/>
              <a:ext cx="8718844" cy="2452800"/>
            </a:xfrm>
            <a:custGeom>
              <a:avLst/>
              <a:gdLst/>
              <a:ahLst/>
              <a:cxnLst/>
              <a:rect r="r" b="b" t="t" l="l"/>
              <a:pathLst>
                <a:path h="2452800" w="8718844">
                  <a:moveTo>
                    <a:pt x="0" y="0"/>
                  </a:moveTo>
                  <a:lnTo>
                    <a:pt x="8718844" y="0"/>
                  </a:lnTo>
                  <a:lnTo>
                    <a:pt x="8718844" y="2452800"/>
                  </a:lnTo>
                  <a:lnTo>
                    <a:pt x="0" y="245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8" r="0" b="-68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3705286"/>
              <a:ext cx="8800882" cy="2594404"/>
            </a:xfrm>
            <a:custGeom>
              <a:avLst/>
              <a:gdLst/>
              <a:ahLst/>
              <a:cxnLst/>
              <a:rect r="r" b="b" t="t" l="l"/>
              <a:pathLst>
                <a:path h="2594404" w="8800882">
                  <a:moveTo>
                    <a:pt x="0" y="0"/>
                  </a:moveTo>
                  <a:lnTo>
                    <a:pt x="8800882" y="0"/>
                  </a:lnTo>
                  <a:lnTo>
                    <a:pt x="8800882" y="2594404"/>
                  </a:lnTo>
                  <a:lnTo>
                    <a:pt x="0" y="25944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71" r="0" b="-71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82038" y="5106835"/>
              <a:ext cx="8718844" cy="2376831"/>
            </a:xfrm>
            <a:custGeom>
              <a:avLst/>
              <a:gdLst/>
              <a:ahLst/>
              <a:cxnLst/>
              <a:rect r="r" b="b" t="t" l="l"/>
              <a:pathLst>
                <a:path h="2376831" w="8718844">
                  <a:moveTo>
                    <a:pt x="0" y="0"/>
                  </a:moveTo>
                  <a:lnTo>
                    <a:pt x="8718844" y="0"/>
                  </a:lnTo>
                  <a:lnTo>
                    <a:pt x="8718844" y="2376832"/>
                  </a:lnTo>
                  <a:lnTo>
                    <a:pt x="0" y="2376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66" r="0" b="-66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2173886" y="8065628"/>
            <a:ext cx="4574679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엔비디아 수료증 4종 취득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AI / ML / DL 관련 수료증</a:t>
            </a:r>
          </a:p>
        </p:txBody>
      </p:sp>
      <p:sp>
        <p:nvSpPr>
          <p:cNvPr id="25" name="GUAM_PR213_lead">
            <a:extLst>
              <a:ext uri="{FF2B5EF4-FFF2-40B4-BE49-F238E27FC236}">
                <a16:creationId xmlns:a16="http://schemas.microsoft.com/office/drawing/2014/main" id="{F1921F51-6742-4DB7-A1F0-BF5ACA7939B0}"/>
              </a:ext>
            </a:extLst>
          </p:cNvPr>
          <p:cNvSpPr>
            <a:spLocks noGrp="1"/>
          </p:cNvSpPr>
          <p:nvPr/>
        </p:nvSpPr>
        <p:spPr>
          <a:xfrm>
            <a:off x="9382125" y="3343275"/>
            <a:ext cx="79057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B3047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B3047"/>
                </a:solidFill>
                <a:latin typeface="Noto Sans Kr"/>
                <a:ea typeface="Noto Sans Kr"/>
                <a:cs typeface="Noto Sans Kr"/>
              </a:rPr>
              <a:t>코드와 문서의 불일치를 실제로 정정</a:t>
            </a:r>
          </a:p>
        </p:txBody>
      </p:sp>
      <p:sp>
        <p:nvSpPr>
          <p:cNvPr id="26" name="GUAM_PR213_scope">
            <a:extLst>
              <a:ext uri="{FF2B5EF4-FFF2-40B4-BE49-F238E27FC236}">
                <a16:creationId xmlns:a16="http://schemas.microsoft.com/office/drawing/2014/main" id="{9E8C473C-5A3E-4B08-8BED-164CE571D6D3}"/>
              </a:ext>
            </a:extLst>
          </p:cNvPr>
          <p:cNvSpPr>
            <a:spLocks noGrp="1"/>
          </p:cNvSpPr>
          <p:nvPr/>
        </p:nvSpPr>
        <p:spPr>
          <a:xfrm>
            <a:off x="9382125" y="3990975"/>
            <a:ext cx="7905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3165A9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3165A9"/>
                </a:solidFill>
                <a:latin typeface="Noto Sans Kr"/>
                <a:ea typeface="Noto Sans Kr"/>
                <a:cs typeface="Noto Sans Kr"/>
              </a:rPr>
              <a:t>PR #213 실제 변경 전후 · docs/API-SPEC.md</a:t>
            </a:r>
          </a:p>
        </p:txBody>
      </p:sp>
      <p:sp>
        <p:nvSpPr>
          <p:cNvPr id="27" name="GUAM_PR213_example1">
            <a:extLst>
              <a:ext uri="{FF2B5EF4-FFF2-40B4-BE49-F238E27FC236}">
                <a16:creationId xmlns:a16="http://schemas.microsoft.com/office/drawing/2014/main" id="{82324F7A-3CE6-4C4A-9D65-0C8F2BD6E097}"/>
              </a:ext>
            </a:extLst>
          </p:cNvPr>
          <p:cNvSpPr>
            <a:spLocks noGrp="1"/>
          </p:cNvSpPr>
          <p:nvPr/>
        </p:nvSpPr>
        <p:spPr>
          <a:xfrm>
            <a:off x="9382125" y="4562475"/>
            <a:ext cx="79057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B3047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B3047"/>
                </a:solidFill>
                <a:latin typeface="Noto Sans Kr"/>
                <a:ea typeface="Noto Sans Kr"/>
                <a:cs typeface="Noto Sans Kr"/>
              </a:rPr>
              <a:t>사용 안내: 목표 API와 실행 가능한 예제 구분</a:t>
            </a:r>
          </a:p>
        </p:txBody>
      </p:sp>
      <p:sp>
        <p:nvSpPr>
          <p:cNvPr id="28" name="GUAM_PR213_before1">
            <a:extLst>
              <a:ext uri="{FF2B5EF4-FFF2-40B4-BE49-F238E27FC236}">
                <a16:creationId xmlns:a16="http://schemas.microsoft.com/office/drawing/2014/main" id="{03E37160-FAE5-43BA-B2C2-338C21C0F583}"/>
              </a:ext>
            </a:extLst>
          </p:cNvPr>
          <p:cNvSpPr>
            <a:spLocks noGrp="1"/>
          </p:cNvSpPr>
          <p:nvPr/>
        </p:nvSpPr>
        <p:spPr>
          <a:xfrm>
            <a:off x="9382125" y="5057775"/>
            <a:ext cx="7905750" cy="781050"/>
          </a:xfrm>
          <a:prstGeom prst="rect">
            <a:avLst/>
          </a:prstGeom>
          <a:solidFill>
            <a:srgbClr val="FFF0EF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9C343B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9C343B"/>
                </a:solidFill>
                <a:latin typeface="Noto Sans Kr"/>
                <a:ea typeface="Noto Sans Kr"/>
                <a:cs typeface="Noto Sans Kr"/>
              </a:rPr>
              <a:t>− 아래는 GUAM이 완성되었을 때의</a:t>
            </a:r>
          </a:p>
          <a:p>
            <a:pPr>
              <a:defRPr sz="1950" b="0">
                <a:solidFill>
                  <a:srgbClr val="9C343B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9C343B"/>
                </a:solidFill>
                <a:latin typeface="Noto Sans Kr"/>
                <a:ea typeface="Noto Sans Kr"/>
                <a:cs typeface="Noto Sans Kr"/>
              </a:rPr>
              <a:t>   목표 사용자 API이다.</a:t>
            </a:r>
          </a:p>
        </p:txBody>
      </p:sp>
      <p:sp>
        <p:nvSpPr>
          <p:cNvPr id="29" name="GUAM_PR213_after1">
            <a:extLst>
              <a:ext uri="{FF2B5EF4-FFF2-40B4-BE49-F238E27FC236}">
                <a16:creationId xmlns:a16="http://schemas.microsoft.com/office/drawing/2014/main" id="{B7120B91-0752-411F-A8A1-B6932C5A5DFD}"/>
              </a:ext>
            </a:extLst>
          </p:cNvPr>
          <p:cNvSpPr>
            <a:spLocks noGrp="1"/>
          </p:cNvSpPr>
          <p:nvPr/>
        </p:nvSpPr>
        <p:spPr>
          <a:xfrm>
            <a:off x="9382125" y="5895975"/>
            <a:ext cx="7905750" cy="781050"/>
          </a:xfrm>
          <a:prstGeom prst="rect">
            <a:avLst/>
          </a:prstGeom>
          <a:solidFill>
            <a:srgbClr val="ECF6EF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216347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216347"/>
                </a:solidFill>
                <a:latin typeface="Noto Sans Kr"/>
                <a:ea typeface="Noto Sans Kr"/>
                <a:cs typeface="Noto Sans Kr"/>
              </a:rPr>
              <a:t>+ 아래는 현재 공개된 TabularAutoML 기본 프리셋의</a:t>
            </a:r>
          </a:p>
          <a:p>
            <a:pPr>
              <a:defRPr sz="1950" b="0">
                <a:solidFill>
                  <a:srgbClr val="216347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216347"/>
                </a:solidFill>
                <a:latin typeface="Noto Sans Kr"/>
                <a:ea typeface="Noto Sans Kr"/>
                <a:cs typeface="Noto Sans Kr"/>
              </a:rPr>
              <a:t>   GPU 실행 예제다.</a:t>
            </a:r>
          </a:p>
        </p:txBody>
      </p:sp>
      <p:sp>
        <p:nvSpPr>
          <p:cNvPr id="30" name="GUAM_PR213_after2">
            <a:extLst>
              <a:ext uri="{FF2B5EF4-FFF2-40B4-BE49-F238E27FC236}">
                <a16:creationId xmlns:a16="http://schemas.microsoft.com/office/drawing/2014/main" id="{D60E5474-A8B7-42F5-BAD4-0AEE01F259B4}"/>
              </a:ext>
            </a:extLst>
          </p:cNvPr>
          <p:cNvSpPr>
            <a:spLocks noGrp="1"/>
          </p:cNvSpPr>
          <p:nvPr/>
        </p:nvSpPr>
        <p:spPr>
          <a:xfrm>
            <a:off x="9382125" y="6677025"/>
            <a:ext cx="7905750" cy="781050"/>
          </a:xfrm>
          <a:prstGeom prst="rect">
            <a:avLst/>
          </a:prstGeom>
          <a:solidFill>
            <a:srgbClr val="ECF6EF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216347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216347"/>
                </a:solidFill>
                <a:latin typeface="Noto Sans Kr"/>
                <a:ea typeface="Noto Sans Kr"/>
                <a:cs typeface="Noto Sans Kr"/>
              </a:rPr>
              <a:t>+ GPU 런타임과 선택한 알고리즘 모듈이</a:t>
            </a:r>
          </a:p>
          <a:p>
            <a:pPr>
              <a:defRPr sz="1950" b="0">
                <a:solidFill>
                  <a:srgbClr val="216347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216347"/>
                </a:solidFill>
                <a:latin typeface="Noto Sans Kr"/>
                <a:ea typeface="Noto Sans Kr"/>
                <a:cs typeface="Noto Sans Kr"/>
              </a:rPr>
              <a:t>   준비되어 있어야 실행할 수 있다.</a:t>
            </a:r>
          </a:p>
        </p:txBody>
      </p:sp>
      <p:sp>
        <p:nvSpPr>
          <p:cNvPr id="31" name="GUAM_PR213_example2">
            <a:extLst>
              <a:ext uri="{FF2B5EF4-FFF2-40B4-BE49-F238E27FC236}">
                <a16:creationId xmlns:a16="http://schemas.microsoft.com/office/drawing/2014/main" id="{B0FB829E-CC08-4B2B-B23E-7EA28EAD9D73}"/>
              </a:ext>
            </a:extLst>
          </p:cNvPr>
          <p:cNvSpPr>
            <a:spLocks noGrp="1"/>
          </p:cNvSpPr>
          <p:nvPr/>
        </p:nvSpPr>
        <p:spPr>
          <a:xfrm>
            <a:off x="9382125" y="7620000"/>
            <a:ext cx="79057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B3047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B3047"/>
                </a:solidFill>
                <a:latin typeface="Noto Sans Kr"/>
                <a:ea typeface="Noto Sans Kr"/>
                <a:cs typeface="Noto Sans Kr"/>
              </a:rPr>
              <a:t>모듈 상태: RandomForestGPU</a:t>
            </a:r>
          </a:p>
        </p:txBody>
      </p:sp>
      <p:sp>
        <p:nvSpPr>
          <p:cNvPr id="32" name="GUAM_PR213_before2">
            <a:extLst>
              <a:ext uri="{FF2B5EF4-FFF2-40B4-BE49-F238E27FC236}">
                <a16:creationId xmlns:a16="http://schemas.microsoft.com/office/drawing/2014/main" id="{00840FA5-1BBA-4457-88B3-3DB49F949F3B}"/>
              </a:ext>
            </a:extLst>
          </p:cNvPr>
          <p:cNvSpPr>
            <a:spLocks noGrp="1"/>
          </p:cNvSpPr>
          <p:nvPr/>
        </p:nvSpPr>
        <p:spPr>
          <a:xfrm>
            <a:off x="9382125" y="8077200"/>
            <a:ext cx="7905750" cy="419100"/>
          </a:xfrm>
          <a:prstGeom prst="rect">
            <a:avLst/>
          </a:prstGeom>
          <a:solidFill>
            <a:srgbClr val="FFF0EF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9C343B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9C343B"/>
                </a:solidFill>
                <a:latin typeface="Noto Sans Kr"/>
                <a:ea typeface="Noto Sans Kr"/>
                <a:cs typeface="Noto Sans Kr"/>
              </a:rPr>
              <a:t>− stub (ML-04에서 구현)</a:t>
            </a:r>
          </a:p>
        </p:txBody>
      </p:sp>
      <p:sp>
        <p:nvSpPr>
          <p:cNvPr id="33" name="GUAM_PR213_after3">
            <a:extLst>
              <a:ext uri="{FF2B5EF4-FFF2-40B4-BE49-F238E27FC236}">
                <a16:creationId xmlns:a16="http://schemas.microsoft.com/office/drawing/2014/main" id="{15CF88CE-388F-4246-A5B7-AD5511DE0D3C}"/>
              </a:ext>
            </a:extLst>
          </p:cNvPr>
          <p:cNvSpPr>
            <a:spLocks noGrp="1"/>
          </p:cNvSpPr>
          <p:nvPr/>
        </p:nvSpPr>
        <p:spPr>
          <a:xfrm>
            <a:off x="9382125" y="8496300"/>
            <a:ext cx="7905750" cy="419100"/>
          </a:xfrm>
          <a:prstGeom prst="rect">
            <a:avLst/>
          </a:prstGeom>
          <a:solidFill>
            <a:srgbClr val="ECF6EF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16347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16347"/>
                </a:solidFill>
                <a:latin typeface="Noto Sans Kr"/>
                <a:ea typeface="Noto Sans Kr"/>
                <a:cs typeface="Noto Sans Kr"/>
              </a:rPr>
              <a:t>+ 구현 완료 (guam/ml_algo/random_forest.py)</a:t>
            </a:r>
          </a:p>
        </p:txBody>
      </p:sp>
      <p:sp>
        <p:nvSpPr>
          <p:cNvPr id="34" name="GUAM_PR213_result">
            <a:extLst>
              <a:ext uri="{FF2B5EF4-FFF2-40B4-BE49-F238E27FC236}">
                <a16:creationId xmlns:a16="http://schemas.microsoft.com/office/drawing/2014/main" id="{517995E1-2D85-4622-BD1D-882A5EF344D4}"/>
              </a:ext>
            </a:extLst>
          </p:cNvPr>
          <p:cNvSpPr>
            <a:spLocks noGrp="1"/>
          </p:cNvSpPr>
          <p:nvPr/>
        </p:nvSpPr>
        <p:spPr>
          <a:xfrm>
            <a:off x="9382125" y="9086850"/>
            <a:ext cx="7905750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3165A9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3165A9"/>
                </a:solidFill>
                <a:latin typeface="Noto Sans Kr"/>
                <a:ea typeface="Noto Sans Kr"/>
                <a:cs typeface="Noto Sans Kr"/>
              </a:rPr>
              <a:t>31개 파일 정비 · 2026.09.01 PR 병합 완료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DAHVzXPJomk</dc:identifier>
  <dcterms:modified xsi:type="dcterms:W3CDTF">2011-08-01T06:04:30Z</dcterms:modified>
  <cp:revision>1</cp:revision>
  <dc:title>이정민_포트폴리오.pptx</dc:title>
</cp:coreProperties>
</file>