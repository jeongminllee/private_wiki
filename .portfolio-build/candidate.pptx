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andali" charset="1" panose="02000600000000000000"/>
      <p:regular r:id="rId15"/>
    </p:embeddedFont>
    <p:embeddedFont>
      <p:font typeface="Noto Sans Kr" charset="1" panose="020B02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6.xml" Type="http://schemas.openxmlformats.org/officeDocument/2006/relationships/notes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구성 자료: 이정민 전공소개서 원본(표지·프로필·석사 연구·시스템 개발·모델 실험).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학력·연구 실적·현재 교육: 전공소개서 원본 2p. 연구실 활동·Python·PyTorch 경험: 기존 Notion 포트폴리오.</a:t>
            </a:r>
          </a:p>
          <a:p>
            <a:r>
              <a:rPr lang="en-US"/>
              <a:t>https://momentous-loaf-283.notion.site/ML-bc41a73cf20b833c85b90151bffc455d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자료: 전공소개서 원본 3p의 석사 연구 제목, 설명, 확산식, 세 가지 물리량의 분포 그래프. 그래프의 축·데이터점·회귀선은 원본과 동일함.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구조 참고: A2A-MCP / Code_Vulnerability. 수치 출처: 전공소개서 원본 4p의 프로토타입 시험 기록. 분석 23/23개 파일, 3,524줄, 정적 분석 신호 18개(위험 호출 8·Secret 후보 10), 로컬 LLM 리뷰 18개. 개발 구조 요약과 프로토타입 시험 결과는 구분하여 제시함.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출처: https://github.com/ModulabsRAPIDSLAB/GUAM/pull/213</a:t>
            </a:r>
          </a:p>
          <a:p>
            <a:r>
              <a:t>[DOC-05] 2026-08-19 저장소 문서 정합성 감사 (JEY-225). 작성자 jeongminllee. 2026-09-01 병합.</a:t>
            </a:r>
          </a:p>
          <a:p>
            <a:r>
              <a:t>병합 커밋: 71402104961eaef3dea24f8f93f385f30be1143a. PR HEAD: cc3e321f1c4037c966e49183bdfc50dc79cc5670.</a:t>
            </a:r>
          </a:p>
          <a:p>
            <a:r>
              <a:t>최종 병합 diff: 31개 파일, 380줄 추가, 143줄 삭제. 코드 변경은 주석·docstring이며 기능 구현 실적으로 제시하지 않는다.</a:t>
            </a:r>
          </a:p>
          <a:p>
            <a:r>
              <a:t>비GPU 테스트 1,595개 통과는 PR 본문의 2026-08-25 검증 기록이다. 최종 병합 HEAD에 대한 이번 재실행 결과가 아니며 GPU 성능 검증을 뜻하지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https://github.com/gilbutITbook/080493/tree/main/Code_Vulnerability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38863" y="-9525"/>
            <a:ext cx="6058662" cy="10306050"/>
            <a:chOff x="0" y="0"/>
            <a:chExt cx="807821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821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8078216">
                  <a:moveTo>
                    <a:pt x="0" y="0"/>
                  </a:moveTo>
                  <a:lnTo>
                    <a:pt x="8078216" y="0"/>
                  </a:lnTo>
                  <a:lnTo>
                    <a:pt x="807821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905256"/>
            <a:ext cx="10424160" cy="516318"/>
            <a:chOff x="0" y="0"/>
            <a:chExt cx="13898880" cy="688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898880" cy="688424"/>
            </a:xfrm>
            <a:custGeom>
              <a:avLst/>
              <a:gdLst/>
              <a:ahLst/>
              <a:cxnLst/>
              <a:rect r="r" b="b" t="t" l="l"/>
              <a:pathLst>
                <a:path h="688424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688424"/>
                  </a:lnTo>
                  <a:lnTo>
                    <a:pt x="0" y="688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185" r="0" b="-3265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3898880" cy="7074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9"/>
                </a:lnSpc>
              </a:pPr>
              <a:r>
                <a:rPr lang="en-US" sz="188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</a:t>
              </a:r>
              <a:r>
                <a:rPr lang="en-US" sz="188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|  시스템 개발  |  LLM  | AutoML 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1013840" y="1740791"/>
            <a:ext cx="5541741" cy="0"/>
          </a:xfrm>
          <a:prstGeom prst="line">
            <a:avLst/>
          </a:prstGeom>
          <a:ln cap="rnd" w="2857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960120" y="2510028"/>
            <a:ext cx="10835640" cy="1941521"/>
            <a:chOff x="0" y="0"/>
            <a:chExt cx="14447520" cy="25886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47520" cy="2588695"/>
            </a:xfrm>
            <a:custGeom>
              <a:avLst/>
              <a:gdLst/>
              <a:ahLst/>
              <a:cxnLst/>
              <a:rect r="r" b="b" t="t" l="l"/>
              <a:pathLst>
                <a:path h="2588695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2588695"/>
                  </a:lnTo>
                  <a:lnTo>
                    <a:pt x="0" y="2588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62" r="0" b="-398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447520" cy="264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36"/>
                </a:lnSpc>
              </a:pPr>
              <a:r>
                <a:rPr lang="en-US" sz="7050" spc="2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포트폴리오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6132" y="4059936"/>
            <a:ext cx="9052560" cy="644652"/>
            <a:chOff x="0" y="0"/>
            <a:chExt cx="12070080" cy="859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859536"/>
            </a:xfrm>
            <a:custGeom>
              <a:avLst/>
              <a:gdLst/>
              <a:ahLst/>
              <a:cxnLst/>
              <a:rect r="r" b="b" t="t" l="l"/>
              <a:pathLst>
                <a:path h="859536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619" r="0" b="-223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0080" cy="897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3750" spc="14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5678424"/>
            <a:ext cx="10081260" cy="1591056"/>
            <a:chOff x="0" y="0"/>
            <a:chExt cx="13441680" cy="2121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41680" cy="2121408"/>
            </a:xfrm>
            <a:custGeom>
              <a:avLst/>
              <a:gdLst/>
              <a:ahLst/>
              <a:cxnLst/>
              <a:rect r="r" b="b" t="t" l="l"/>
              <a:pathLst>
                <a:path h="2121408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61" r="0" b="-734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3441680" cy="2188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 분석에서</a:t>
              </a:r>
            </a:p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개발·검증까지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3564" y="8778240"/>
            <a:ext cx="10012680" cy="397764"/>
            <a:chOff x="0" y="0"/>
            <a:chExt cx="13350240" cy="5303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50239" cy="530352"/>
            </a:xfrm>
            <a:custGeom>
              <a:avLst/>
              <a:gdLst/>
              <a:ahLst/>
              <a:cxnLst/>
              <a:rect r="r" b="b" t="t" l="l"/>
              <a:pathLst>
                <a:path h="530352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485" r="0" b="-4404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3350240" cy="549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9"/>
                </a:lnSpc>
              </a:pPr>
              <a:r>
                <a:rPr lang="en-US" sz="2160" spc="8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· 목재 물리학 석사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3564" y="9354312"/>
            <a:ext cx="10012680" cy="467599"/>
            <a:chOff x="0" y="0"/>
            <a:chExt cx="13350240" cy="6234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0239" cy="623465"/>
            </a:xfrm>
            <a:custGeom>
              <a:avLst/>
              <a:gdLst/>
              <a:ahLst/>
              <a:cxnLst/>
              <a:rect r="r" b="b" t="t" l="l"/>
              <a:pathLst>
                <a:path h="623465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623465"/>
                  </a:lnTo>
                  <a:lnTo>
                    <a:pt x="0" y="623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966" r="0" b="-3494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3350240" cy="64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연구 · 시스템 구현 · 모델 개선, 프레임워크 개발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0200" y="946404"/>
            <a:ext cx="4457700" cy="1110996"/>
            <a:chOff x="0" y="0"/>
            <a:chExt cx="5943600" cy="14813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1481328"/>
            </a:xfrm>
            <a:custGeom>
              <a:avLst/>
              <a:gdLst/>
              <a:ahLst/>
              <a:cxnLst/>
              <a:rect r="r" b="b" t="t" l="l"/>
              <a:pathLst>
                <a:path h="148132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80" r="0" b="-281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943600" cy="1500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RESEARCH &amp;</a:t>
              </a:r>
            </a:p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ENGINEERING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42685" y="2166180"/>
            <a:ext cx="3977640" cy="836639"/>
            <a:chOff x="0" y="0"/>
            <a:chExt cx="5303520" cy="11155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42685" y="2778080"/>
            <a:ext cx="4457700" cy="705041"/>
            <a:chOff x="0" y="0"/>
            <a:chExt cx="5943600" cy="9400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 연구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42685" y="3398309"/>
            <a:ext cx="4457700" cy="451918"/>
            <a:chOff x="0" y="0"/>
            <a:chExt cx="5943600" cy="6025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수분 분포 · 회귀분석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13036018" y="3818936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13042685" y="4017331"/>
            <a:ext cx="3977640" cy="836639"/>
            <a:chOff x="0" y="0"/>
            <a:chExt cx="5303520" cy="11155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42685" y="4681421"/>
            <a:ext cx="4457700" cy="705041"/>
            <a:chOff x="0" y="0"/>
            <a:chExt cx="5943600" cy="9400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로컬 LLM 시스템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042685" y="5301650"/>
            <a:ext cx="4457700" cy="451918"/>
            <a:chOff x="0" y="0"/>
            <a:chExt cx="5943600" cy="60255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악성 코드 분석 · 프로토타입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3036018" y="5722276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3042685" y="5920672"/>
            <a:ext cx="3977640" cy="836639"/>
            <a:chOff x="0" y="0"/>
            <a:chExt cx="5303520" cy="11155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042685" y="6584761"/>
            <a:ext cx="4457700" cy="705041"/>
            <a:chOff x="0" y="0"/>
            <a:chExt cx="5943600" cy="94005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보안 LLM 파인튜닝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042685" y="7204990"/>
            <a:ext cx="4457700" cy="451918"/>
            <a:chOff x="0" y="0"/>
            <a:chExt cx="5943600" cy="60255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실험 평가 · 데이터 재설계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13042699" y="7817443"/>
            <a:ext cx="4457318" cy="12473"/>
          </a:xfrm>
          <a:prstGeom prst="line">
            <a:avLst/>
          </a:prstGeom>
          <a:ln cap="rnd" w="9525">
            <a:solidFill>
              <a:srgbClr val="3A4C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3049366" y="8015839"/>
            <a:ext cx="3977640" cy="836639"/>
            <a:chOff x="0" y="0"/>
            <a:chExt cx="5303520" cy="11155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303520" cy="1115519"/>
            </a:xfrm>
            <a:custGeom>
              <a:avLst/>
              <a:gdLst/>
              <a:ahLst/>
              <a:cxnLst/>
              <a:rect r="r" b="b" t="t" l="l"/>
              <a:pathLst>
                <a:path h="1115519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28" r="0" b="-221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49366" y="8679929"/>
            <a:ext cx="4457700" cy="705041"/>
            <a:chOff x="0" y="0"/>
            <a:chExt cx="5943600" cy="9400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43600" cy="940055"/>
            </a:xfrm>
            <a:custGeom>
              <a:avLst/>
              <a:gdLst/>
              <a:ahLst/>
              <a:cxnLst/>
              <a:rect r="r" b="b" t="t" l="l"/>
              <a:pathLst>
                <a:path h="940055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096" r="0" b="-552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GUAM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49366" y="9300158"/>
            <a:ext cx="4457700" cy="451918"/>
            <a:chOff x="0" y="0"/>
            <a:chExt cx="5943600" cy="60255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602558"/>
            </a:xfrm>
            <a:custGeom>
              <a:avLst/>
              <a:gdLst/>
              <a:ahLst/>
              <a:cxnLst/>
              <a:rect r="r" b="b" t="t" l="l"/>
              <a:pathLst>
                <a:path h="602558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778" r="0" b="-12862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모듈 구현, 문서 최신화, 테스트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  /  PROFILE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 경험을 AI 시스템 개발로 연결합니다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데이터의 해석, 분석 시스템 구현, 데이터·모델 개선으로 이어지는 경험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692527"/>
            <a:ext cx="5217414" cy="6698742"/>
            <a:chOff x="0" y="0"/>
            <a:chExt cx="6956552" cy="89316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56552" cy="8931656"/>
            </a:xfrm>
            <a:custGeom>
              <a:avLst/>
              <a:gdLst/>
              <a:ahLst/>
              <a:cxnLst/>
              <a:rect r="r" b="b" t="t" l="l"/>
              <a:pathLst>
                <a:path h="8931656" w="6956552">
                  <a:moveTo>
                    <a:pt x="0" y="0"/>
                  </a:moveTo>
                  <a:lnTo>
                    <a:pt x="6956552" y="0"/>
                  </a:lnTo>
                  <a:lnTo>
                    <a:pt x="6956552" y="8931656"/>
                  </a:lnTo>
                  <a:lnTo>
                    <a:pt x="0" y="893165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8327" y="3044952"/>
            <a:ext cx="1490110" cy="1988820"/>
            <a:chOff x="0" y="0"/>
            <a:chExt cx="1986813" cy="2651760"/>
          </a:xfrm>
        </p:grpSpPr>
        <p:sp>
          <p:nvSpPr>
            <p:cNvPr name="Freeform 14" id="14" descr="/mnt/data/work_major/assets/original_1.png"/>
            <p:cNvSpPr/>
            <p:nvPr/>
          </p:nvSpPr>
          <p:spPr>
            <a:xfrm flipH="false" flipV="false" rot="0">
              <a:off x="0" y="0"/>
              <a:ext cx="1986788" cy="2651760"/>
            </a:xfrm>
            <a:custGeom>
              <a:avLst/>
              <a:gdLst/>
              <a:ahLst/>
              <a:cxnLst/>
              <a:rect r="r" b="b" t="t" l="l"/>
              <a:pathLst>
                <a:path h="2651760" w="1986788">
                  <a:moveTo>
                    <a:pt x="0" y="0"/>
                  </a:moveTo>
                  <a:lnTo>
                    <a:pt x="1986788" y="0"/>
                  </a:lnTo>
                  <a:lnTo>
                    <a:pt x="1986788" y="2651760"/>
                  </a:lnTo>
                  <a:lnTo>
                    <a:pt x="0" y="265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907792" y="3236976"/>
            <a:ext cx="2729484" cy="534924"/>
            <a:chOff x="0" y="0"/>
            <a:chExt cx="3639312" cy="7132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9312" cy="713232"/>
            </a:xfrm>
            <a:custGeom>
              <a:avLst/>
              <a:gdLst/>
              <a:ahLst/>
              <a:cxnLst/>
              <a:rect r="r" b="b" t="t" l="l"/>
              <a:pathLst>
                <a:path h="713232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23" r="0" b="-494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39312" cy="7418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3375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21508" y="4005072"/>
            <a:ext cx="2688336" cy="795528"/>
            <a:chOff x="0" y="0"/>
            <a:chExt cx="3584448" cy="10607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84448" cy="1060704"/>
            </a:xfrm>
            <a:custGeom>
              <a:avLst/>
              <a:gdLst/>
              <a:ahLst/>
              <a:cxnLst/>
              <a:rect r="r" b="b" t="t" l="l"/>
              <a:pathLst>
                <a:path h="106070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45" r="0" b="-158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584448" cy="10892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석사</a:t>
              </a:r>
            </a:p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1760">
            <a:off x="1185662" y="5399342"/>
            <a:ext cx="4445537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193292" y="5692140"/>
            <a:ext cx="4306824" cy="329184"/>
            <a:chOff x="0" y="0"/>
            <a:chExt cx="5742432" cy="43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42432" cy="438912"/>
            </a:xfrm>
            <a:custGeom>
              <a:avLst/>
              <a:gdLst/>
              <a:ahLst/>
              <a:cxnLst/>
              <a:rect r="r" b="b" t="t" l="l"/>
              <a:pathLst>
                <a:path h="438912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929" r="0" b="-2049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학력 및 현재 교육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3292" y="6199632"/>
            <a:ext cx="4430268" cy="370332"/>
            <a:chOff x="0" y="0"/>
            <a:chExt cx="5907024" cy="4937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07024" cy="493776"/>
            </a:xfrm>
            <a:custGeom>
              <a:avLst/>
              <a:gdLst/>
              <a:ahLst/>
              <a:cxnLst/>
              <a:rect r="r" b="b" t="t" l="l"/>
              <a:pathLst>
                <a:path h="49377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98" r="0" b="-1830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석사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93292" y="6748272"/>
            <a:ext cx="4402836" cy="672084"/>
            <a:chOff x="0" y="0"/>
            <a:chExt cx="5870448" cy="896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70448" cy="896112"/>
            </a:xfrm>
            <a:custGeom>
              <a:avLst/>
              <a:gdLst/>
              <a:ahLst/>
              <a:cxnLst/>
              <a:rect r="r" b="b" t="t" l="l"/>
              <a:pathLst>
                <a:path h="896112" w="5870448">
                  <a:moveTo>
                    <a:pt x="0" y="0"/>
                  </a:moveTo>
                  <a:lnTo>
                    <a:pt x="5870448" y="0"/>
                  </a:lnTo>
                  <a:lnTo>
                    <a:pt x="587044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46" r="0" b="-776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870448" cy="9151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임산공학(목재 물리학)</a:t>
              </a:r>
            </a:p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2017.03–2019.02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3292" y="7626096"/>
            <a:ext cx="4430268" cy="370332"/>
            <a:chOff x="0" y="0"/>
            <a:chExt cx="5907024" cy="49377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07024" cy="493776"/>
            </a:xfrm>
            <a:custGeom>
              <a:avLst/>
              <a:gdLst/>
              <a:ahLst/>
              <a:cxnLst/>
              <a:rect r="r" b="b" t="t" l="l"/>
              <a:pathLst>
                <a:path h="49377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98" r="0" b="-18309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· 학사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3292" y="8147304"/>
            <a:ext cx="4430268" cy="301752"/>
            <a:chOff x="0" y="0"/>
            <a:chExt cx="5907024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07024" cy="402336"/>
            </a:xfrm>
            <a:custGeom>
              <a:avLst/>
              <a:gdLst/>
              <a:ahLst/>
              <a:cxnLst/>
              <a:rect r="r" b="b" t="t" l="l"/>
              <a:pathLst>
                <a:path h="402336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075" r="0" b="-2360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90702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3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 |  2011.03–2017.02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93292" y="8723376"/>
            <a:ext cx="4430268" cy="562356"/>
            <a:chOff x="0" y="0"/>
            <a:chExt cx="5907024" cy="7498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07024" cy="749808"/>
            </a:xfrm>
            <a:custGeom>
              <a:avLst/>
              <a:gdLst/>
              <a:ahLst/>
              <a:cxnLst/>
              <a:rect r="r" b="b" t="t" l="l"/>
              <a:pathLst>
                <a:path h="749808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504" r="0" b="-1035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907024" cy="759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한국폴리텍대학 대구캠퍼스</a:t>
              </a:r>
            </a:p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AI 엔지니어링 과정 수강 중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28816" y="2852928"/>
            <a:ext cx="2414016" cy="672084"/>
            <a:chOff x="0" y="0"/>
            <a:chExt cx="3218688" cy="8961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18688" cy="896112"/>
            </a:xfrm>
            <a:custGeom>
              <a:avLst/>
              <a:gdLst/>
              <a:ahLst/>
              <a:cxnLst/>
              <a:rect r="r" b="b" t="t" l="l"/>
              <a:pathLst>
                <a:path h="896112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87" r="0" b="-1998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218688" cy="934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3편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42532" y="3717036"/>
            <a:ext cx="3086100" cy="301752"/>
            <a:chOff x="0" y="0"/>
            <a:chExt cx="4114800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14800" cy="402336"/>
            </a:xfrm>
            <a:custGeom>
              <a:avLst/>
              <a:gdLst/>
              <a:ahLst/>
              <a:cxnLst/>
              <a:rect r="r" b="b" t="t" l="l"/>
              <a:pathLst>
                <a:path h="402336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78" r="0" b="-14927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논문 · 학위논문 포함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5358720">
            <a:off x="9292742" y="3437954"/>
            <a:ext cx="111069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259568" y="2852928"/>
            <a:ext cx="2180844" cy="672084"/>
            <a:chOff x="0" y="0"/>
            <a:chExt cx="2907792" cy="8961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907792" cy="896112"/>
            </a:xfrm>
            <a:custGeom>
              <a:avLst/>
              <a:gdLst/>
              <a:ahLst/>
              <a:cxnLst/>
              <a:rect r="r" b="b" t="t" l="l"/>
              <a:pathLst>
                <a:path h="896112" w="2907792">
                  <a:moveTo>
                    <a:pt x="0" y="0"/>
                  </a:moveTo>
                  <a:lnTo>
                    <a:pt x="2907792" y="0"/>
                  </a:lnTo>
                  <a:lnTo>
                    <a:pt x="2907792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26" r="0" b="-1322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907792" cy="934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1회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73284" y="3717036"/>
            <a:ext cx="2441448" cy="301752"/>
            <a:chOff x="0" y="0"/>
            <a:chExt cx="3255264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55264" cy="402336"/>
            </a:xfrm>
            <a:custGeom>
              <a:avLst/>
              <a:gdLst/>
              <a:ahLst/>
              <a:cxnLst/>
              <a:rect r="r" b="b" t="t" l="l"/>
              <a:pathLst>
                <a:path h="402336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255264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국제학회 발표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5358720">
            <a:off x="12625730" y="3437954"/>
            <a:ext cx="111069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3606272" y="3017520"/>
            <a:ext cx="3607308" cy="411480"/>
            <a:chOff x="0" y="0"/>
            <a:chExt cx="4809744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09744" cy="548640"/>
            </a:xfrm>
            <a:custGeom>
              <a:avLst/>
              <a:gdLst/>
              <a:ahLst/>
              <a:cxnLst/>
              <a:rect r="r" b="b" t="t" l="l"/>
              <a:pathLst>
                <a:path h="548640" w="4809744">
                  <a:moveTo>
                    <a:pt x="0" y="0"/>
                  </a:moveTo>
                  <a:lnTo>
                    <a:pt x="4809744" y="0"/>
                  </a:lnTo>
                  <a:lnTo>
                    <a:pt x="48097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18" r="0" b="-1208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480974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8"/>
                </a:lnSpc>
              </a:pPr>
              <a:r>
                <a:rPr lang="en-US" sz="2729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연구실 운영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06272" y="3717036"/>
            <a:ext cx="3826764" cy="315468"/>
            <a:chOff x="0" y="0"/>
            <a:chExt cx="5102352" cy="4206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02352" cy="420624"/>
            </a:xfrm>
            <a:custGeom>
              <a:avLst/>
              <a:gdLst/>
              <a:ahLst/>
              <a:cxnLst/>
              <a:rect r="r" b="b" t="t" l="l"/>
              <a:pathLst>
                <a:path h="420624" w="5102352">
                  <a:moveTo>
                    <a:pt x="0" y="0"/>
                  </a:moveTo>
                  <a:lnTo>
                    <a:pt x="5102352" y="0"/>
                  </a:lnTo>
                  <a:lnTo>
                    <a:pt x="510235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361" r="0" b="-18636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102352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80"/>
                </a:lnSpc>
              </a:pPr>
              <a:r>
                <a:rPr lang="en-US" sz="160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방장 · 학부생 졸업논문 지도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528816" y="4608576"/>
            <a:ext cx="9326880" cy="329184"/>
            <a:chOff x="0" y="0"/>
            <a:chExt cx="12435840" cy="4389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435840" cy="438912"/>
            </a:xfrm>
            <a:custGeom>
              <a:avLst/>
              <a:gdLst/>
              <a:ahLst/>
              <a:cxnLst/>
              <a:rect r="r" b="b" t="t" l="l"/>
              <a:pathLst>
                <a:path h="438912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76" r="0" b="-50207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243584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핵심 역량과 수행 근거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528816" y="5417820"/>
            <a:ext cx="576072" cy="329184"/>
            <a:chOff x="0" y="0"/>
            <a:chExt cx="768096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296912" y="5349240"/>
            <a:ext cx="2427732" cy="521208"/>
            <a:chOff x="0" y="0"/>
            <a:chExt cx="3236976" cy="6949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연구·분석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75520" y="5280660"/>
            <a:ext cx="6309360" cy="781812"/>
            <a:chOff x="0" y="0"/>
            <a:chExt cx="8412480" cy="10424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 분포·경사 비교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통한 연구 결과 해석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4200">
            <a:off x="6522149" y="6236018"/>
            <a:ext cx="1093128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6528816" y="6583680"/>
            <a:ext cx="576072" cy="329184"/>
            <a:chOff x="0" y="0"/>
            <a:chExt cx="768096" cy="4389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296912" y="6515100"/>
            <a:ext cx="2427732" cy="521208"/>
            <a:chOff x="0" y="0"/>
            <a:chExt cx="3236976" cy="6949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구현·검증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75520" y="6446520"/>
            <a:ext cx="6309360" cy="781812"/>
            <a:chOff x="0" y="0"/>
            <a:chExt cx="8412480" cy="10424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분석과 로컬 LLM 연계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코드 분석 프로토타입 시험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4200">
            <a:off x="6522149" y="7401878"/>
            <a:ext cx="1093128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6528816" y="7749540"/>
            <a:ext cx="576072" cy="329184"/>
            <a:chOff x="0" y="0"/>
            <a:chExt cx="768096" cy="43891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8096" cy="438912"/>
            </a:xfrm>
            <a:custGeom>
              <a:avLst/>
              <a:gdLst/>
              <a:ahLst/>
              <a:cxnLst/>
              <a:rect r="r" b="b" t="t" l="l"/>
              <a:pathLst>
                <a:path h="438912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296912" y="7680960"/>
            <a:ext cx="2427732" cy="521208"/>
            <a:chOff x="0" y="0"/>
            <a:chExt cx="3236976" cy="69494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36976" cy="694944"/>
            </a:xfrm>
            <a:custGeom>
              <a:avLst/>
              <a:gdLst/>
              <a:ahLst/>
              <a:cxnLst/>
              <a:rect r="r" b="b" t="t" l="l"/>
              <a:pathLst>
                <a:path h="694944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59" r="0" b="-4075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데이터·학습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75520" y="7612380"/>
            <a:ext cx="6309360" cy="781812"/>
            <a:chOff x="0" y="0"/>
            <a:chExt cx="8412480" cy="104241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412480" cy="1042416"/>
            </a:xfrm>
            <a:custGeom>
              <a:avLst/>
              <a:gdLst/>
              <a:ahLst/>
              <a:cxnLst/>
              <a:rect r="r" b="b" t="t" l="l"/>
              <a:pathLst>
                <a:path h="1042416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247" r="0" b="-1072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파인튜닝 결과 분석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학습·평가 데이터셋 재구축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505575" y="8892159"/>
            <a:ext cx="10950702" cy="499110"/>
            <a:chOff x="0" y="0"/>
            <a:chExt cx="14600936" cy="6654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600937" cy="665480"/>
            </a:xfrm>
            <a:custGeom>
              <a:avLst/>
              <a:gdLst/>
              <a:ahLst/>
              <a:cxnLst/>
              <a:rect r="r" b="b" t="t" l="l"/>
              <a:pathLst>
                <a:path h="665480" w="14600937">
                  <a:moveTo>
                    <a:pt x="0" y="0"/>
                  </a:moveTo>
                  <a:lnTo>
                    <a:pt x="14600937" y="0"/>
                  </a:lnTo>
                  <a:lnTo>
                    <a:pt x="14600937" y="665480"/>
                  </a:lnTo>
                  <a:lnTo>
                    <a:pt x="0" y="665480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761988" y="9011412"/>
            <a:ext cx="1522476" cy="233172"/>
            <a:chOff x="0" y="0"/>
            <a:chExt cx="2029968" cy="3108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29968" cy="310896"/>
            </a:xfrm>
            <a:custGeom>
              <a:avLst/>
              <a:gdLst/>
              <a:ahLst/>
              <a:cxnLst/>
              <a:rect r="r" b="b" t="t" l="l"/>
              <a:pathLst>
                <a:path h="310896" w="2029968">
                  <a:moveTo>
                    <a:pt x="0" y="0"/>
                  </a:moveTo>
                  <a:lnTo>
                    <a:pt x="2029968" y="0"/>
                  </a:lnTo>
                  <a:lnTo>
                    <a:pt x="202996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25" r="0" b="-7722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029968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사용 도구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490204" y="8983980"/>
            <a:ext cx="8627364" cy="496721"/>
            <a:chOff x="0" y="0"/>
            <a:chExt cx="11503152" cy="66229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503152" cy="662294"/>
            </a:xfrm>
            <a:custGeom>
              <a:avLst/>
              <a:gdLst/>
              <a:ahLst/>
              <a:cxnLst/>
              <a:rect r="r" b="b" t="t" l="l"/>
              <a:pathLst>
                <a:path h="662294" w="11503152">
                  <a:moveTo>
                    <a:pt x="0" y="0"/>
                  </a:moveTo>
                  <a:lnTo>
                    <a:pt x="11503152" y="0"/>
                  </a:lnTo>
                  <a:lnTo>
                    <a:pt x="11503152" y="662294"/>
                  </a:lnTo>
                  <a:lnTo>
                    <a:pt x="0" y="6622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054" r="0" b="-268802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11503152" cy="6813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2"/>
                </a:lnSpc>
              </a:pPr>
              <a:r>
                <a:rPr lang="en-US" sz="1800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 ·  PyTorch  ·  vLLM · Nvidia Rapids · GPU-based ML</a:t>
              </a:r>
            </a:p>
          </p:txBody>
        </p:sp>
      </p:grpSp>
      <p:sp>
        <p:nvSpPr>
          <p:cNvPr name="AutoShape 100" id="100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  /  MASTER’S RESEARCH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섬유포화점 이하에서의 목재 내 함수율 분포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임산공학(목재 물리학) · 석사 연구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1540" y="2811780"/>
            <a:ext cx="4183380" cy="329184"/>
            <a:chOff x="0" y="0"/>
            <a:chExt cx="5577840" cy="438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77840" cy="438912"/>
            </a:xfrm>
            <a:custGeom>
              <a:avLst/>
              <a:gdLst/>
              <a:ahLst/>
              <a:cxnLst/>
              <a:rect r="r" b="b" t="t" l="l"/>
              <a:pathLst>
                <a:path h="438912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622" r="0" b="-1976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57784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연구 질문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" y="3374136"/>
            <a:ext cx="4155948" cy="1508760"/>
            <a:chOff x="0" y="0"/>
            <a:chExt cx="5541264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41264" cy="2011680"/>
            </a:xfrm>
            <a:custGeom>
              <a:avLst/>
              <a:gdLst/>
              <a:ahLst/>
              <a:cxnLst/>
              <a:rect r="r" b="b" t="t" l="l"/>
              <a:pathLst>
                <a:path h="2011680" w="5541264">
                  <a:moveTo>
                    <a:pt x="0" y="0"/>
                  </a:moveTo>
                  <a:lnTo>
                    <a:pt x="5541264" y="0"/>
                  </a:lnTo>
                  <a:lnTo>
                    <a:pt x="554126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2" r="0" b="-36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541264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93"/>
                </a:lnSpc>
              </a:pPr>
              <a:r>
                <a:rPr lang="en-US" sz="270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목재 내 수분 이동의 구동력에 대해서 발견할 수 있을까?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1540" y="5294376"/>
            <a:ext cx="4197096" cy="329184"/>
            <a:chOff x="0" y="0"/>
            <a:chExt cx="5596128" cy="4389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96128" cy="438912"/>
            </a:xfrm>
            <a:custGeom>
              <a:avLst/>
              <a:gdLst/>
              <a:ahLst/>
              <a:cxnLst/>
              <a:rect r="r" b="b" t="t" l="l"/>
              <a:pathLst>
                <a:path h="438912" w="5596128">
                  <a:moveTo>
                    <a:pt x="0" y="0"/>
                  </a:moveTo>
                  <a:lnTo>
                    <a:pt x="5596128" y="0"/>
                  </a:lnTo>
                  <a:lnTo>
                    <a:pt x="55961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596128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분석 접근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" y="5801868"/>
            <a:ext cx="4238244" cy="1234440"/>
            <a:chOff x="0" y="0"/>
            <a:chExt cx="5650992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50992" cy="1645920"/>
            </a:xfrm>
            <a:custGeom>
              <a:avLst/>
              <a:gdLst/>
              <a:ahLst/>
              <a:cxnLst/>
              <a:rect r="r" b="b" t="t" l="l"/>
              <a:pathLst>
                <a:path h="1645920" w="5650992">
                  <a:moveTo>
                    <a:pt x="0" y="0"/>
                  </a:moveTo>
                  <a:lnTo>
                    <a:pt x="5650992" y="0"/>
                  </a:lnTo>
                  <a:lnTo>
                    <a:pt x="565099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98" r="0" b="-1689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650992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함수율·수증기압·화학 포텐셜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에너지 경사를 비교하고,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통해 구동력 규명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7523" y="7255764"/>
            <a:ext cx="3892553" cy="1248156"/>
            <a:chOff x="0" y="0"/>
            <a:chExt cx="5190071" cy="1664208"/>
          </a:xfrm>
        </p:grpSpPr>
        <p:sp>
          <p:nvSpPr>
            <p:cNvPr name="Freeform 24" id="24" descr="/mnt/data/work_major/assets/original_2.png"/>
            <p:cNvSpPr/>
            <p:nvPr/>
          </p:nvSpPr>
          <p:spPr>
            <a:xfrm flipH="false" flipV="false" rot="0">
              <a:off x="0" y="0"/>
              <a:ext cx="5190109" cy="1664208"/>
            </a:xfrm>
            <a:custGeom>
              <a:avLst/>
              <a:gdLst/>
              <a:ahLst/>
              <a:cxnLst/>
              <a:rect r="r" b="b" t="t" l="l"/>
              <a:pathLst>
                <a:path h="1664208" w="5190109">
                  <a:moveTo>
                    <a:pt x="0" y="0"/>
                  </a:moveTo>
                  <a:lnTo>
                    <a:pt x="5190109" y="0"/>
                  </a:lnTo>
                  <a:lnTo>
                    <a:pt x="5190109" y="1664208"/>
                  </a:lnTo>
                  <a:lnTo>
                    <a:pt x="0" y="166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7552" y="8599932"/>
            <a:ext cx="4306824" cy="329184"/>
            <a:chOff x="0" y="0"/>
            <a:chExt cx="5742432" cy="43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42432" cy="438912"/>
            </a:xfrm>
            <a:custGeom>
              <a:avLst/>
              <a:gdLst/>
              <a:ahLst/>
              <a:cxnLst/>
              <a:rect r="r" b="b" t="t" l="l"/>
              <a:pathLst>
                <a:path h="438912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929" r="0" b="-20492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05"/>
                </a:lnSpc>
              </a:pPr>
              <a:r>
                <a:rPr lang="en-US" sz="147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D_c: 확산계수  ·  dc/dx: 농도경사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507164" y="2590714"/>
            <a:ext cx="3826383" cy="5033391"/>
            <a:chOff x="0" y="0"/>
            <a:chExt cx="5101844" cy="67111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637276" y="2871702"/>
            <a:ext cx="3566160" cy="438912"/>
            <a:chOff x="0" y="0"/>
            <a:chExt cx="4754880" cy="585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50992" y="4124963"/>
            <a:ext cx="3538728" cy="2650684"/>
            <a:chOff x="0" y="0"/>
            <a:chExt cx="4718304" cy="3534245"/>
          </a:xfrm>
        </p:grpSpPr>
        <p:sp>
          <p:nvSpPr>
            <p:cNvPr name="Freeform 34" id="34" descr="/mnt/data/work_major/assets/plot_5.png"/>
            <p:cNvSpPr/>
            <p:nvPr/>
          </p:nvSpPr>
          <p:spPr>
            <a:xfrm flipH="false" flipV="false" rot="0">
              <a:off x="0" y="0"/>
              <a:ext cx="4718304" cy="3534283"/>
            </a:xfrm>
            <a:custGeom>
              <a:avLst/>
              <a:gdLst/>
              <a:ahLst/>
              <a:cxnLst/>
              <a:rect r="r" b="b" t="t" l="l"/>
              <a:pathLst>
                <a:path h="3534283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3534283"/>
                  </a:lnTo>
                  <a:lnTo>
                    <a:pt x="0" y="353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3384" y="2590714"/>
            <a:ext cx="3826383" cy="5033391"/>
            <a:chOff x="0" y="0"/>
            <a:chExt cx="5101844" cy="6711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683496" y="2871702"/>
            <a:ext cx="3566160" cy="438912"/>
            <a:chOff x="0" y="0"/>
            <a:chExt cx="4754880" cy="5852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수증기압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97212" y="4141508"/>
            <a:ext cx="3538728" cy="2617603"/>
            <a:chOff x="0" y="0"/>
            <a:chExt cx="4718304" cy="3490138"/>
          </a:xfrm>
        </p:grpSpPr>
        <p:sp>
          <p:nvSpPr>
            <p:cNvPr name="Freeform 41" id="41" descr="/mnt/data/work_major/assets/plot_4.png"/>
            <p:cNvSpPr/>
            <p:nvPr/>
          </p:nvSpPr>
          <p:spPr>
            <a:xfrm flipH="false" flipV="false" rot="0">
              <a:off x="0" y="0"/>
              <a:ext cx="4718304" cy="3490087"/>
            </a:xfrm>
            <a:custGeom>
              <a:avLst/>
              <a:gdLst/>
              <a:ahLst/>
              <a:cxnLst/>
              <a:rect r="r" b="b" t="t" l="l"/>
              <a:pathLst>
                <a:path h="3490087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3490087"/>
                  </a:lnTo>
                  <a:lnTo>
                    <a:pt x="0" y="3490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99604" y="2590714"/>
            <a:ext cx="3826383" cy="5033391"/>
            <a:chOff x="0" y="0"/>
            <a:chExt cx="5101844" cy="67111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01844" cy="6711188"/>
            </a:xfrm>
            <a:custGeom>
              <a:avLst/>
              <a:gdLst/>
              <a:ahLst/>
              <a:cxnLst/>
              <a:rect r="r" b="b" t="t" l="l"/>
              <a:pathLst>
                <a:path h="6711188" w="5101844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729716" y="2871702"/>
            <a:ext cx="3566160" cy="438912"/>
            <a:chOff x="0" y="0"/>
            <a:chExt cx="475488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66"/>
                </a:lnSpc>
              </a:pPr>
              <a:r>
                <a:rPr lang="en-US" sz="1979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화학 포텐셜 에너지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743432" y="3709283"/>
            <a:ext cx="3538728" cy="3482045"/>
            <a:chOff x="0" y="0"/>
            <a:chExt cx="4718304" cy="4642726"/>
          </a:xfrm>
        </p:grpSpPr>
        <p:sp>
          <p:nvSpPr>
            <p:cNvPr name="Freeform 48" id="48" descr="/mnt/data/work_major/assets/plot_6.png"/>
            <p:cNvSpPr/>
            <p:nvPr/>
          </p:nvSpPr>
          <p:spPr>
            <a:xfrm flipH="false" flipV="false" rot="0">
              <a:off x="0" y="0"/>
              <a:ext cx="4718304" cy="4642739"/>
            </a:xfrm>
            <a:custGeom>
              <a:avLst/>
              <a:gdLst/>
              <a:ahLst/>
              <a:cxnLst/>
              <a:rect r="r" b="b" t="t" l="l"/>
              <a:pathLst>
                <a:path h="4642739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4642739"/>
                  </a:lnTo>
                  <a:lnTo>
                    <a:pt x="0" y="464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13435" y="9125331"/>
            <a:ext cx="16656558" cy="430530"/>
            <a:chOff x="0" y="0"/>
            <a:chExt cx="22208744" cy="574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208744" cy="574040"/>
            </a:xfrm>
            <a:custGeom>
              <a:avLst/>
              <a:gdLst/>
              <a:ahLst/>
              <a:cxnLst/>
              <a:rect r="r" b="b" t="t" l="l"/>
              <a:pathLst>
                <a:path h="57404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56132" y="9210294"/>
            <a:ext cx="1536192" cy="219456"/>
            <a:chOff x="0" y="0"/>
            <a:chExt cx="2048256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8256" cy="292608"/>
            </a:xfrm>
            <a:custGeom>
              <a:avLst/>
              <a:gdLst/>
              <a:ahLst/>
              <a:cxnLst/>
              <a:rect r="r" b="b" t="t" l="l"/>
              <a:pathLst>
                <a:path h="292608" w="2048256">
                  <a:moveTo>
                    <a:pt x="0" y="0"/>
                  </a:moveTo>
                  <a:lnTo>
                    <a:pt x="2048256" y="0"/>
                  </a:lnTo>
                  <a:lnTo>
                    <a:pt x="2048256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2048256" cy="3116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8"/>
                </a:lnSpc>
              </a:pPr>
              <a:r>
                <a:rPr lang="en-US" sz="163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핵심 결과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770632" y="9196578"/>
            <a:ext cx="14374368" cy="274320"/>
            <a:chOff x="0" y="0"/>
            <a:chExt cx="19165824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165824" cy="365760"/>
            </a:xfrm>
            <a:custGeom>
              <a:avLst/>
              <a:gdLst/>
              <a:ahLst/>
              <a:cxnLst/>
              <a:rect r="r" b="b" t="t" l="l"/>
              <a:pathLst>
                <a:path h="365760" w="19165824">
                  <a:moveTo>
                    <a:pt x="0" y="0"/>
                  </a:moveTo>
                  <a:lnTo>
                    <a:pt x="19165824" y="0"/>
                  </a:lnTo>
                  <a:lnTo>
                    <a:pt x="191658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016" r="0" b="-97101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9165824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수분 이동의 구동력 규명을 회귀분석으로 설명 시도.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5513832" y="7694676"/>
            <a:ext cx="11905488" cy="1234440"/>
            <a:chOff x="0" y="0"/>
            <a:chExt cx="15873984" cy="1645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873985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873985">
                  <a:moveTo>
                    <a:pt x="0" y="0"/>
                  </a:moveTo>
                  <a:lnTo>
                    <a:pt x="15873985" y="0"/>
                  </a:lnTo>
                  <a:lnTo>
                    <a:pt x="1587398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22" r="0" b="-13792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5873984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 (steady-state) 에서 상대 습도 조건이 수분 분포 형태를 표현하는 데 중요한 요인이었다.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상태에서 정확한 확산 계수를 얻는다면, 비정상 상태(non-steady state) 조건에서 확산 계수를 확보할 수 있을 것이고, 확산계수를 활용해서 구동력을 규명할 수 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 과정을 위해서 더욱 치밀한 실험 설계와 더 많은 데이터를 확보하는 것이 요구된다.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  /  SYSTEM DEVELOPMENT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기반 악성 코드 분석 시스템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공개 프로젝트 구조를 프로젝트 요구에 맞게 재구성하고, 임의의 Python code를 테스트하는 프로토타입 구현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6293" y="2750248"/>
            <a:ext cx="10506075" cy="6624447"/>
            <a:chOff x="0" y="0"/>
            <a:chExt cx="14008100" cy="88325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08100" cy="8832596"/>
            </a:xfrm>
            <a:custGeom>
              <a:avLst/>
              <a:gdLst/>
              <a:ahLst/>
              <a:cxnLst/>
              <a:rect r="r" b="b" t="t" l="l"/>
              <a:pathLst>
                <a:path h="8832596" w="14008100">
                  <a:moveTo>
                    <a:pt x="0" y="0"/>
                  </a:moveTo>
                  <a:lnTo>
                    <a:pt x="14008100" y="0"/>
                  </a:lnTo>
                  <a:lnTo>
                    <a:pt x="14008100" y="8832596"/>
                  </a:lnTo>
                  <a:lnTo>
                    <a:pt x="0" y="8832596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93292" y="3058668"/>
            <a:ext cx="9573768" cy="342900"/>
            <a:chOff x="0" y="0"/>
            <a:chExt cx="12765024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65024" cy="457200"/>
            </a:xfrm>
            <a:custGeom>
              <a:avLst/>
              <a:gdLst/>
              <a:ahLst/>
              <a:cxnLst/>
              <a:rect r="r" b="b" t="t" l="l"/>
              <a:pathLst>
                <a:path h="457200" w="12765024">
                  <a:moveTo>
                    <a:pt x="0" y="0"/>
                  </a:moveTo>
                  <a:lnTo>
                    <a:pt x="12765024" y="0"/>
                  </a:lnTo>
                  <a:lnTo>
                    <a:pt x="127650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022" r="0" b="-4940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765024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5"/>
                </a:lnSpc>
              </a:pPr>
              <a:r>
                <a:rPr lang="en-US" sz="199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개발 구조  |  핵심 처리 흐름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340" y="3902392"/>
            <a:ext cx="2591943" cy="932307"/>
            <a:chOff x="0" y="0"/>
            <a:chExt cx="3455924" cy="12430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55924" cy="1243076"/>
            </a:xfrm>
            <a:custGeom>
              <a:avLst/>
              <a:gdLst/>
              <a:ahLst/>
              <a:cxnLst/>
              <a:rect r="r" b="b" t="t" l="l"/>
              <a:pathLst>
                <a:path h="1243076" w="345592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307461" y="0"/>
                  </a:lnTo>
                  <a:cubicBezTo>
                    <a:pt x="3389376" y="0"/>
                    <a:pt x="3455924" y="66421"/>
                    <a:pt x="3455924" y="148463"/>
                  </a:cubicBezTo>
                  <a:lnTo>
                    <a:pt x="3455924" y="1094613"/>
                  </a:lnTo>
                  <a:cubicBezTo>
                    <a:pt x="3455924" y="1176528"/>
                    <a:pt x="3389503" y="1243076"/>
                    <a:pt x="3307461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F0F3F6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16736" y="4032504"/>
            <a:ext cx="2359152" cy="370332"/>
            <a:chOff x="0" y="0"/>
            <a:chExt cx="3145536" cy="4937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5536" cy="493776"/>
            </a:xfrm>
            <a:custGeom>
              <a:avLst/>
              <a:gdLst/>
              <a:ahLst/>
              <a:cxnLst/>
              <a:rect r="r" b="b" t="t" l="l"/>
              <a:pathLst>
                <a:path h="493776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26" r="0" b="-741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145536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코드 · 기준 PDF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4457700"/>
            <a:ext cx="2386584" cy="274320"/>
            <a:chOff x="0" y="0"/>
            <a:chExt cx="3182112" cy="365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82112" cy="365760"/>
            </a:xfrm>
            <a:custGeom>
              <a:avLst/>
              <a:gdLst/>
              <a:ahLst/>
              <a:cxnLst/>
              <a:rect r="r" b="b" t="t" l="l"/>
              <a:pathLst>
                <a:path h="36576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182112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입력 자료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41304" y="3902392"/>
            <a:ext cx="2468499" cy="932307"/>
            <a:chOff x="0" y="0"/>
            <a:chExt cx="3291332" cy="12430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332" cy="1243076"/>
            </a:xfrm>
            <a:custGeom>
              <a:avLst/>
              <a:gdLst/>
              <a:ahLst/>
              <a:cxnLst/>
              <a:rect r="r" b="b" t="t" l="l"/>
              <a:pathLst>
                <a:path h="1243076" w="329133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142869" y="0"/>
                  </a:lnTo>
                  <a:cubicBezTo>
                    <a:pt x="3224784" y="0"/>
                    <a:pt x="3291332" y="66421"/>
                    <a:pt x="3291332" y="148463"/>
                  </a:cubicBezTo>
                  <a:lnTo>
                    <a:pt x="3291332" y="1094613"/>
                  </a:lnTo>
                  <a:cubicBezTo>
                    <a:pt x="3291332" y="1176528"/>
                    <a:pt x="3224911" y="1243076"/>
                    <a:pt x="3142869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57700" y="4032504"/>
            <a:ext cx="2235708" cy="370332"/>
            <a:chOff x="0" y="0"/>
            <a:chExt cx="2980944" cy="4937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0944" cy="493776"/>
            </a:xfrm>
            <a:custGeom>
              <a:avLst/>
              <a:gdLst/>
              <a:ahLst/>
              <a:cxnLst/>
              <a:rect r="r" b="b" t="t" l="l"/>
              <a:pathLst>
                <a:path h="493776" w="2980944">
                  <a:moveTo>
                    <a:pt x="0" y="0"/>
                  </a:moveTo>
                  <a:lnTo>
                    <a:pt x="2980944" y="0"/>
                  </a:lnTo>
                  <a:lnTo>
                    <a:pt x="29809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631" r="0" b="-676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98094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MCP Server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43984" y="4457700"/>
            <a:ext cx="2263140" cy="274320"/>
            <a:chOff x="0" y="0"/>
            <a:chExt cx="3017520" cy="365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17520" cy="365760"/>
            </a:xfrm>
            <a:custGeom>
              <a:avLst/>
              <a:gdLst/>
              <a:ahLst/>
              <a:cxnLst/>
              <a:rect r="r" b="b" t="t" l="l"/>
              <a:pathLst>
                <a:path h="36576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301752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Jadx-ai-mcp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58825" y="3902392"/>
            <a:ext cx="3387471" cy="932307"/>
            <a:chOff x="0" y="0"/>
            <a:chExt cx="4516628" cy="124307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16628" cy="1243076"/>
            </a:xfrm>
            <a:custGeom>
              <a:avLst/>
              <a:gdLst/>
              <a:ahLst/>
              <a:cxnLst/>
              <a:rect r="r" b="b" t="t" l="l"/>
              <a:pathLst>
                <a:path h="1243076" w="4516628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368165" y="0"/>
                  </a:lnTo>
                  <a:cubicBezTo>
                    <a:pt x="4450080" y="0"/>
                    <a:pt x="4516628" y="66421"/>
                    <a:pt x="4516628" y="148463"/>
                  </a:cubicBezTo>
                  <a:lnTo>
                    <a:pt x="4516628" y="1094613"/>
                  </a:lnTo>
                  <a:cubicBezTo>
                    <a:pt x="4516628" y="1176528"/>
                    <a:pt x="4450207" y="1243076"/>
                    <a:pt x="4368165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475220" y="4032504"/>
            <a:ext cx="3154680" cy="370332"/>
            <a:chOff x="0" y="0"/>
            <a:chExt cx="4206240" cy="4937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06240" cy="493776"/>
            </a:xfrm>
            <a:custGeom>
              <a:avLst/>
              <a:gdLst/>
              <a:ahLst/>
              <a:cxnLst/>
              <a:rect r="r" b="b" t="t" l="l"/>
              <a:pathLst>
                <a:path h="49377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983" r="0" b="-11598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420624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Remediation Service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61504" y="4457700"/>
            <a:ext cx="3182112" cy="274320"/>
            <a:chOff x="0" y="0"/>
            <a:chExt cx="4242816" cy="3657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42816" cy="365760"/>
            </a:xfrm>
            <a:custGeom>
              <a:avLst/>
              <a:gdLst/>
              <a:ahLst/>
              <a:cxnLst/>
              <a:rect r="r" b="b" t="t" l="l"/>
              <a:pathLst>
                <a:path h="365760" w="4242816">
                  <a:moveTo>
                    <a:pt x="0" y="0"/>
                  </a:moveTo>
                  <a:lnTo>
                    <a:pt x="4242816" y="0"/>
                  </a:lnTo>
                  <a:lnTo>
                    <a:pt x="4242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24281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호출 · 결과 조정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201240">
            <a:off x="3814020" y="435692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rot="201240">
            <a:off x="6831540" y="435692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rot="5209380">
            <a:off x="8849763" y="5029010"/>
            <a:ext cx="378152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9780">
            <a:off x="2293791" y="5207318"/>
            <a:ext cx="7386476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385316" y="4882896"/>
            <a:ext cx="3223260" cy="233172"/>
            <a:chOff x="0" y="0"/>
            <a:chExt cx="4297680" cy="310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310896"/>
            </a:xfrm>
            <a:custGeom>
              <a:avLst/>
              <a:gdLst/>
              <a:ahLst/>
              <a:cxnLst/>
              <a:rect r="r" b="b" t="t" l="l"/>
              <a:pathLst>
                <a:path h="31089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352" r="0" b="-2193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297680" cy="320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7"/>
                </a:lnSpc>
              </a:pPr>
              <a:r>
                <a:rPr lang="en-US" sz="1395" spc="5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A2A / gRPC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5177100">
            <a:off x="2157298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8" id="48"/>
          <p:cNvGrpSpPr/>
          <p:nvPr/>
        </p:nvGrpSpPr>
        <p:grpSpPr>
          <a:xfrm rot="0">
            <a:off x="1200340" y="5534596"/>
            <a:ext cx="2194179" cy="1014603"/>
            <a:chOff x="0" y="0"/>
            <a:chExt cx="2925572" cy="13528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16736" y="5664708"/>
            <a:ext cx="1961388" cy="370332"/>
            <a:chOff x="0" y="0"/>
            <a:chExt cx="2615184" cy="4937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Quick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3020" y="6089904"/>
            <a:ext cx="1988820" cy="274320"/>
            <a:chOff x="0" y="0"/>
            <a:chExt cx="265176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패턴 검사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198040">
            <a:off x="2158308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rot="5177100">
            <a:off x="4612462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8" id="58"/>
          <p:cNvGrpSpPr/>
          <p:nvPr/>
        </p:nvGrpSpPr>
        <p:grpSpPr>
          <a:xfrm rot="0">
            <a:off x="3655504" y="5534596"/>
            <a:ext cx="2194179" cy="1014603"/>
            <a:chOff x="0" y="0"/>
            <a:chExt cx="2925572" cy="13528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771900" y="5664708"/>
            <a:ext cx="1961388" cy="370332"/>
            <a:chOff x="0" y="0"/>
            <a:chExt cx="2615184" cy="4937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Secrets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758184" y="6089904"/>
            <a:ext cx="1988820" cy="274320"/>
            <a:chOff x="0" y="0"/>
            <a:chExt cx="265176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시크릿 탐지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5198040">
            <a:off x="4613472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177100">
            <a:off x="7067626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6110668" y="5534596"/>
            <a:ext cx="2194179" cy="1014603"/>
            <a:chOff x="0" y="0"/>
            <a:chExt cx="2925572" cy="13528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6227064" y="5664708"/>
            <a:ext cx="1961388" cy="370332"/>
            <a:chOff x="0" y="0"/>
            <a:chExt cx="2615184" cy="49377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Static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213348" y="6089904"/>
            <a:ext cx="1988820" cy="274320"/>
            <a:chOff x="0" y="0"/>
            <a:chExt cx="2651760" cy="365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5198040">
            <a:off x="7068636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5177100">
            <a:off x="9522790" y="5344478"/>
            <a:ext cx="293989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8" id="78"/>
          <p:cNvGrpSpPr/>
          <p:nvPr/>
        </p:nvGrpSpPr>
        <p:grpSpPr>
          <a:xfrm rot="0">
            <a:off x="8565832" y="5534596"/>
            <a:ext cx="2194179" cy="1014603"/>
            <a:chOff x="0" y="0"/>
            <a:chExt cx="2925572" cy="13528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925572" cy="1352804"/>
            </a:xfrm>
            <a:custGeom>
              <a:avLst/>
              <a:gdLst/>
              <a:ahLst/>
              <a:cxnLst/>
              <a:rect r="r" b="b" t="t" l="l"/>
              <a:pathLst>
                <a:path h="1352804" w="2925572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682228" y="5664708"/>
            <a:ext cx="1961388" cy="370332"/>
            <a:chOff x="0" y="0"/>
            <a:chExt cx="2615184" cy="4937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15184" cy="493776"/>
            </a:xfrm>
            <a:custGeom>
              <a:avLst/>
              <a:gdLst/>
              <a:ahLst/>
              <a:cxnLst/>
              <a:rect r="r" b="b" t="t" l="l"/>
              <a:pathLst>
                <a:path h="493776" w="2615184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8" r="0" b="-5319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Criteria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668512" y="6089904"/>
            <a:ext cx="1988820" cy="274320"/>
            <a:chOff x="0" y="0"/>
            <a:chExt cx="2651760" cy="3657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PDF 기준 추출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 rot="5198040">
            <a:off x="9523800" y="6688646"/>
            <a:ext cx="291970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7980">
            <a:off x="2295706" y="6825806"/>
            <a:ext cx="7382656" cy="0"/>
          </a:xfrm>
          <a:prstGeom prst="line">
            <a:avLst/>
          </a:prstGeom>
          <a:ln cap="rnd" w="9525">
            <a:solidFill>
              <a:srgbClr val="66728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5167200">
            <a:off x="2478624" y="6969824"/>
            <a:ext cx="309705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9" id="89"/>
          <p:cNvGrpSpPr/>
          <p:nvPr/>
        </p:nvGrpSpPr>
        <p:grpSpPr>
          <a:xfrm rot="0">
            <a:off x="1200340" y="7194232"/>
            <a:ext cx="2907411" cy="1069467"/>
            <a:chOff x="0" y="0"/>
            <a:chExt cx="3876548" cy="14259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7654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87654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16736" y="7324344"/>
            <a:ext cx="2674620" cy="370332"/>
            <a:chOff x="0" y="0"/>
            <a:chExt cx="3566160" cy="49377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66160" cy="493776"/>
            </a:xfrm>
            <a:custGeom>
              <a:avLst/>
              <a:gdLst/>
              <a:ahLst/>
              <a:cxnLst/>
              <a:rect r="r" b="b" t="t" l="l"/>
              <a:pathLst>
                <a:path h="4937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03020" y="7749540"/>
            <a:ext cx="2702052" cy="274320"/>
            <a:chOff x="0" y="0"/>
            <a:chExt cx="3602736" cy="3657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02736" cy="365760"/>
            </a:xfrm>
            <a:custGeom>
              <a:avLst/>
              <a:gdLst/>
              <a:ahLst/>
              <a:cxnLst/>
              <a:rect r="r" b="b" t="t" l="l"/>
              <a:pathLst>
                <a:path h="3657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27" r="0" b="-14192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종합 분석 · 수정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4656772" y="7194232"/>
            <a:ext cx="2907411" cy="1069467"/>
            <a:chOff x="0" y="0"/>
            <a:chExt cx="3876548" cy="14259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7654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87654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4773168" y="7324344"/>
            <a:ext cx="2674620" cy="370332"/>
            <a:chOff x="0" y="0"/>
            <a:chExt cx="3566160" cy="49377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566160" cy="493776"/>
            </a:xfrm>
            <a:custGeom>
              <a:avLst/>
              <a:gdLst/>
              <a:ahLst/>
              <a:cxnLst/>
              <a:rect r="r" b="b" t="t" l="l"/>
              <a:pathLst>
                <a:path h="493776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Summary Agent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4759452" y="7749540"/>
            <a:ext cx="2702052" cy="274320"/>
            <a:chOff x="0" y="0"/>
            <a:chExt cx="3602736" cy="365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602736" cy="365760"/>
            </a:xfrm>
            <a:custGeom>
              <a:avLst/>
              <a:gdLst/>
              <a:ahLst/>
              <a:cxnLst/>
              <a:rect r="r" b="b" t="t" l="l"/>
              <a:pathLst>
                <a:path h="3657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27" r="0" b="-14192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리포트 생성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099488" y="7194232"/>
            <a:ext cx="2633091" cy="1069467"/>
            <a:chOff x="0" y="0"/>
            <a:chExt cx="3510788" cy="14259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10788" cy="1426083"/>
            </a:xfrm>
            <a:custGeom>
              <a:avLst/>
              <a:gdLst/>
              <a:ahLst/>
              <a:cxnLst/>
              <a:rect r="r" b="b" t="t" l="l"/>
              <a:pathLst>
                <a:path h="1426083" w="3510788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62579" y="0"/>
                  </a:lnTo>
                  <a:cubicBezTo>
                    <a:pt x="3444367" y="0"/>
                    <a:pt x="3510788" y="66294"/>
                    <a:pt x="3510788" y="148209"/>
                  </a:cubicBezTo>
                  <a:lnTo>
                    <a:pt x="3510788" y="1277874"/>
                  </a:lnTo>
                  <a:cubicBezTo>
                    <a:pt x="3510788" y="1359662"/>
                    <a:pt x="3444494" y="1426083"/>
                    <a:pt x="336257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8215884" y="7324344"/>
            <a:ext cx="2400300" cy="370332"/>
            <a:chOff x="0" y="0"/>
            <a:chExt cx="3200400" cy="49377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200400" cy="493776"/>
            </a:xfrm>
            <a:custGeom>
              <a:avLst/>
              <a:gdLst/>
              <a:ahLst/>
              <a:cxnLst/>
              <a:rect r="r" b="b" t="t" l="l"/>
              <a:pathLst>
                <a:path h="493776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291" r="0" b="-762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3200400" cy="5223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결과 반환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202168" y="7749540"/>
            <a:ext cx="2427732" cy="274320"/>
            <a:chOff x="0" y="0"/>
            <a:chExt cx="3236976" cy="3657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236976" cy="365760"/>
            </a:xfrm>
            <a:custGeom>
              <a:avLst/>
              <a:gdLst/>
              <a:ahLst/>
              <a:cxnLst/>
              <a:rect r="r" b="b" t="t" l="l"/>
              <a:pathLst>
                <a:path h="365760" w="3236976">
                  <a:moveTo>
                    <a:pt x="0" y="0"/>
                  </a:moveTo>
                  <a:lnTo>
                    <a:pt x="3236976" y="0"/>
                  </a:lnTo>
                  <a:lnTo>
                    <a:pt x="32369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442" r="0" b="-12244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3236976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요약 · 코드 · 경로</a:t>
              </a:r>
            </a:p>
          </p:txBody>
        </p:sp>
      </p:grpSp>
      <p:sp>
        <p:nvSpPr>
          <p:cNvPr name="AutoShape 113" id="113"/>
          <p:cNvSpPr/>
          <p:nvPr/>
        </p:nvSpPr>
        <p:spPr>
          <a:xfrm rot="201240">
            <a:off x="4129488" y="771734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4" id="114"/>
          <p:cNvSpPr/>
          <p:nvPr/>
        </p:nvSpPr>
        <p:spPr>
          <a:xfrm rot="201240">
            <a:off x="7585920" y="7717346"/>
            <a:ext cx="423253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1207008" y="8737092"/>
            <a:ext cx="9532620" cy="301752"/>
            <a:chOff x="0" y="0"/>
            <a:chExt cx="12710160" cy="4023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2710160" cy="402336"/>
            </a:xfrm>
            <a:custGeom>
              <a:avLst/>
              <a:gdLst/>
              <a:ahLst/>
              <a:cxnLst/>
              <a:rect r="r" b="b" t="t" l="l"/>
              <a:pathLst>
                <a:path h="402336" w="12710160">
                  <a:moveTo>
                    <a:pt x="0" y="0"/>
                  </a:moveTo>
                  <a:lnTo>
                    <a:pt x="12710160" y="0"/>
                  </a:lnTo>
                  <a:lnTo>
                    <a:pt x="12710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550" r="0" b="-56555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9525"/>
              <a:ext cx="127101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구조 참고: A2A-MCP / </a:t>
              </a:r>
              <a:r>
                <a:rPr lang="en-US" sz="1500" spc="5" u="sng">
                  <a:solidFill>
                    <a:srgbClr val="0563C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github.com/gilbutITbook/080493/tree/main/Code_Vulnerability"/>
                </a:rPr>
                <a:t>Code_Vulnerability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713464" y="2880360"/>
            <a:ext cx="5719572" cy="466344"/>
            <a:chOff x="0" y="0"/>
            <a:chExt cx="7626096" cy="6217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626096" cy="621792"/>
            </a:xfrm>
            <a:custGeom>
              <a:avLst/>
              <a:gdLst/>
              <a:ahLst/>
              <a:cxnLst/>
              <a:rect r="r" b="b" t="t" l="l"/>
              <a:pathLst>
                <a:path h="621792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78" r="0" b="-18897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7626096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7"/>
                </a:lnSpc>
              </a:pPr>
              <a:r>
                <a:rPr lang="en-US" sz="249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프로토타입 시험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690223" y="3721227"/>
            <a:ext cx="1788414" cy="1555242"/>
            <a:chOff x="0" y="0"/>
            <a:chExt cx="2384552" cy="2073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809476" y="3977640"/>
            <a:ext cx="1549908" cy="603504"/>
            <a:chOff x="0" y="0"/>
            <a:chExt cx="2066544" cy="80467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23/23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754612" y="4800600"/>
            <a:ext cx="1659636" cy="246888"/>
            <a:chOff x="0" y="0"/>
            <a:chExt cx="2212848" cy="3291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분석 파일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679043" y="3721227"/>
            <a:ext cx="1788414" cy="1555242"/>
            <a:chOff x="0" y="0"/>
            <a:chExt cx="2384552" cy="207365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3798296" y="3977640"/>
            <a:ext cx="1549908" cy="603504"/>
            <a:chOff x="0" y="0"/>
            <a:chExt cx="2066544" cy="80467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3,524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743432" y="4800600"/>
            <a:ext cx="1659636" cy="246888"/>
            <a:chOff x="0" y="0"/>
            <a:chExt cx="2212848" cy="3291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코드 줄 수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5667863" y="3721227"/>
            <a:ext cx="1788414" cy="1555242"/>
            <a:chOff x="0" y="0"/>
            <a:chExt cx="2384552" cy="20736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384552" cy="2073656"/>
            </a:xfrm>
            <a:custGeom>
              <a:avLst/>
              <a:gdLst/>
              <a:ahLst/>
              <a:cxnLst/>
              <a:rect r="r" b="b" t="t" l="l"/>
              <a:pathLst>
                <a:path h="2073656" w="2384552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787116" y="3977640"/>
            <a:ext cx="1549908" cy="603504"/>
            <a:chOff x="0" y="0"/>
            <a:chExt cx="2066544" cy="80467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066544" cy="804672"/>
            </a:xfrm>
            <a:custGeom>
              <a:avLst/>
              <a:gdLst/>
              <a:ahLst/>
              <a:cxnLst/>
              <a:rect r="r" b="b" t="t" l="l"/>
              <a:pathLst>
                <a:path h="804672" w="2066544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" r="0" b="-41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18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5732252" y="4800600"/>
            <a:ext cx="1659636" cy="246888"/>
            <a:chOff x="0" y="0"/>
            <a:chExt cx="2212848" cy="329184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212848" cy="329184"/>
            </a:xfrm>
            <a:custGeom>
              <a:avLst/>
              <a:gdLst/>
              <a:ahLst/>
              <a:cxnLst/>
              <a:rect r="r" b="b" t="t" l="l"/>
              <a:pathLst>
                <a:path h="32918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982" r="0" b="-80982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 신호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713464" y="5623560"/>
            <a:ext cx="5719572" cy="384048"/>
            <a:chOff x="0" y="0"/>
            <a:chExt cx="7626096" cy="51206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626096" cy="512064"/>
            </a:xfrm>
            <a:custGeom>
              <a:avLst/>
              <a:gdLst/>
              <a:ahLst/>
              <a:cxnLst/>
              <a:rect r="r" b="b" t="t" l="l"/>
              <a:pathLst>
                <a:path h="512064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7" r="0" b="-240187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19050"/>
              <a:ext cx="762609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4"/>
                </a:lnSpc>
              </a:pPr>
              <a:r>
                <a:rPr lang="en-US" sz="201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위험 호출 8건 · Secret 후보 10건</a:t>
              </a:r>
            </a:p>
          </p:txBody>
        </p:sp>
      </p:grpSp>
      <p:sp>
        <p:nvSpPr>
          <p:cNvPr name="AutoShape 148" id="148"/>
          <p:cNvSpPr/>
          <p:nvPr/>
        </p:nvSpPr>
        <p:spPr>
          <a:xfrm rot="8040">
            <a:off x="11706787" y="6290882"/>
            <a:ext cx="5719210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9" id="149"/>
          <p:cNvGrpSpPr/>
          <p:nvPr/>
        </p:nvGrpSpPr>
        <p:grpSpPr>
          <a:xfrm rot="0">
            <a:off x="11713464" y="6665976"/>
            <a:ext cx="5719572" cy="466344"/>
            <a:chOff x="0" y="0"/>
            <a:chExt cx="7626096" cy="6217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7626096" cy="621792"/>
            </a:xfrm>
            <a:custGeom>
              <a:avLst/>
              <a:gdLst/>
              <a:ahLst/>
              <a:cxnLst/>
              <a:rect r="r" b="b" t="t" l="l"/>
              <a:pathLst>
                <a:path h="621792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978" r="0" b="-188978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19050"/>
              <a:ext cx="7626096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04"/>
                </a:lnSpc>
              </a:pPr>
              <a:r>
                <a:rPr lang="en-US" sz="2550" spc="9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로컬 LLM 리뷰 18개 생성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713464" y="7351776"/>
            <a:ext cx="5719572" cy="726948"/>
            <a:chOff x="0" y="0"/>
            <a:chExt cx="7626096" cy="96926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7626096" cy="969264"/>
            </a:xfrm>
            <a:custGeom>
              <a:avLst/>
              <a:gdLst/>
              <a:ahLst/>
              <a:cxnLst/>
              <a:rect r="r" b="b" t="t" l="l"/>
              <a:pathLst>
                <a:path h="969264" w="7626096">
                  <a:moveTo>
                    <a:pt x="0" y="0"/>
                  </a:moveTo>
                  <a:lnTo>
                    <a:pt x="7626096" y="0"/>
                  </a:lnTo>
                  <a:lnTo>
                    <a:pt x="7626096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306" r="0" b="-103306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28575"/>
              <a:ext cx="7626096" cy="997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LLM 리뷰에서 이 코드가 치명적인 이유, 권고사항까지는 Rule + LLM 추론을 통하여 도출 가능.</a:t>
              </a:r>
            </a:p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그러나 이 코드는 임의의 테스트 코드라는 점을 명시. 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1690223" y="8384667"/>
            <a:ext cx="5766054" cy="979170"/>
            <a:chOff x="0" y="0"/>
            <a:chExt cx="7688072" cy="130556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688072" cy="1305560"/>
            </a:xfrm>
            <a:custGeom>
              <a:avLst/>
              <a:gdLst/>
              <a:ahLst/>
              <a:cxnLst/>
              <a:rect r="r" b="b" t="t" l="l"/>
              <a:pathLst>
                <a:path h="1305560" w="7688072">
                  <a:moveTo>
                    <a:pt x="0" y="0"/>
                  </a:moveTo>
                  <a:lnTo>
                    <a:pt x="7688072" y="0"/>
                  </a:lnTo>
                  <a:lnTo>
                    <a:pt x="7688072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8F1E7"/>
            </a:solid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1946636" y="8558784"/>
            <a:ext cx="5239512" cy="274320"/>
            <a:chOff x="0" y="0"/>
            <a:chExt cx="6986016" cy="36576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986016" cy="365760"/>
            </a:xfrm>
            <a:custGeom>
              <a:avLst/>
              <a:gdLst/>
              <a:ahLst/>
              <a:cxnLst/>
              <a:rect r="r" b="b" t="t" l="l"/>
              <a:pathLst>
                <a:path h="365760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164" r="0" b="-322164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9525"/>
              <a:ext cx="698601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별도 검증 과제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11946636" y="8956548"/>
            <a:ext cx="5239512" cy="260604"/>
            <a:chOff x="0" y="0"/>
            <a:chExt cx="6986016" cy="34747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986016" cy="347472"/>
            </a:xfrm>
            <a:custGeom>
              <a:avLst/>
              <a:gdLst/>
              <a:ahLst/>
              <a:cxnLst/>
              <a:rect r="r" b="b" t="t" l="l"/>
              <a:pathLst>
                <a:path h="347472" w="6986016">
                  <a:moveTo>
                    <a:pt x="0" y="0"/>
                  </a:moveTo>
                  <a:lnTo>
                    <a:pt x="6986016" y="0"/>
                  </a:lnTo>
                  <a:lnTo>
                    <a:pt x="6986016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751" r="0" b="-341751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9525"/>
              <a:ext cx="6986016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4"/>
                </a:lnSpc>
              </a:pPr>
              <a:r>
                <a:rPr lang="en-US" sz="1754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설명 근거의 타당성 · 권고사항의 적절성</a:t>
              </a:r>
            </a:p>
          </p:txBody>
        </p:sp>
      </p:grpSp>
      <p:sp>
        <p:nvSpPr>
          <p:cNvPr name="AutoShape 163" id="163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301752"/>
            <a:chOff x="0" y="0"/>
            <a:chExt cx="2212848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402336"/>
            </a:xfrm>
            <a:custGeom>
              <a:avLst/>
              <a:gdLst/>
              <a:ahLst/>
              <a:cxnLst/>
              <a:rect r="r" b="b" t="t" l="l"/>
              <a:pathLst>
                <a:path h="402336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1677" r="0" b="-102167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04  /  MODEL EXPERIMENTS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685800"/>
            <a:chOff x="0" y="0"/>
            <a:chExt cx="2212848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LLM 파인튜닝: 평가 결과에서 데이터 설계로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411480"/>
            <a:chOff x="0" y="0"/>
            <a:chExt cx="219456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1차 실험 데이터셋 : DiverseVul, BigVul, Cybersecurity QA v2, 2차 실험 데이터셋 : NIST SARD/Juliet C/C++ 1.3 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77824" y="2852928"/>
            <a:ext cx="7228332" cy="466344"/>
            <a:chOff x="0" y="0"/>
            <a:chExt cx="9637776" cy="6217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37776" cy="621792"/>
            </a:xfrm>
            <a:custGeom>
              <a:avLst/>
              <a:gdLst/>
              <a:ahLst/>
              <a:cxnLst/>
              <a:rect r="r" b="b" t="t" l="l"/>
              <a:pathLst>
                <a:path h="621792" w="9637776">
                  <a:moveTo>
                    <a:pt x="0" y="0"/>
                  </a:moveTo>
                  <a:lnTo>
                    <a:pt x="9637776" y="0"/>
                  </a:lnTo>
                  <a:lnTo>
                    <a:pt x="963777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637776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1차 실험  /  한계 확인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1540" y="3538728"/>
            <a:ext cx="7159752" cy="315468"/>
            <a:chOff x="0" y="0"/>
            <a:chExt cx="9546336" cy="4206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46336" cy="420624"/>
            </a:xfrm>
            <a:custGeom>
              <a:avLst/>
              <a:gdLst/>
              <a:ahLst/>
              <a:cxnLst/>
              <a:rect r="r" b="b" t="t" l="l"/>
              <a:pathLst>
                <a:path h="420624" w="9546336">
                  <a:moveTo>
                    <a:pt x="0" y="0"/>
                  </a:moveTo>
                  <a:lnTo>
                    <a:pt x="9546336" y="0"/>
                  </a:lnTo>
                  <a:lnTo>
                    <a:pt x="95463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25" r="0" b="-3922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546336" cy="439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DiverseVul 기반 · 취약 250 / 정상 250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8299" y="4118991"/>
            <a:ext cx="7178802" cy="663702"/>
            <a:chOff x="0" y="0"/>
            <a:chExt cx="9571736" cy="8849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71736" cy="884936"/>
            </a:xfrm>
            <a:custGeom>
              <a:avLst/>
              <a:gdLst/>
              <a:ahLst/>
              <a:cxnLst/>
              <a:rect r="r" b="b" t="t" l="l"/>
              <a:pathLst>
                <a:path h="884936" w="9571736">
                  <a:moveTo>
                    <a:pt x="0" y="0"/>
                  </a:moveTo>
                  <a:lnTo>
                    <a:pt x="9571736" y="0"/>
                  </a:lnTo>
                  <a:lnTo>
                    <a:pt x="9571736" y="884936"/>
                  </a:lnTo>
                  <a:lnTo>
                    <a:pt x="0" y="88493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" y="4306824"/>
            <a:ext cx="6665976" cy="260604"/>
            <a:chOff x="0" y="0"/>
            <a:chExt cx="8887968" cy="3474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87968" cy="347472"/>
            </a:xfrm>
            <a:custGeom>
              <a:avLst/>
              <a:gdLst/>
              <a:ahLst/>
              <a:cxnLst/>
              <a:rect r="r" b="b" t="t" l="l"/>
              <a:pathLst>
                <a:path h="347472" w="8887968">
                  <a:moveTo>
                    <a:pt x="0" y="0"/>
                  </a:moveTo>
                  <a:lnTo>
                    <a:pt x="8887968" y="0"/>
                  </a:lnTo>
                  <a:lnTo>
                    <a:pt x="8887968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8406" r="0" b="-4484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887968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1"/>
                </a:lnSpc>
              </a:pPr>
              <a:r>
                <a:rPr lang="en-US" sz="184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 332,807개 · 10,401 step · B200 × 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4712" y="5225796"/>
            <a:ext cx="4128516" cy="356616"/>
            <a:chOff x="0" y="0"/>
            <a:chExt cx="5504688" cy="475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280660" y="5225796"/>
            <a:ext cx="2496312" cy="356616"/>
            <a:chOff x="0" y="0"/>
            <a:chExt cx="3328416" cy="4754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42.00%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840">
            <a:off x="1104319" y="5728525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124712" y="5897880"/>
            <a:ext cx="4128516" cy="356616"/>
            <a:chOff x="0" y="0"/>
            <a:chExt cx="5504688" cy="4754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80660" y="5897880"/>
            <a:ext cx="2496312" cy="356616"/>
            <a:chOff x="0" y="0"/>
            <a:chExt cx="3328416" cy="4754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33.60%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6840">
            <a:off x="1104319" y="6400610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124712" y="6569964"/>
            <a:ext cx="4128516" cy="356616"/>
            <a:chOff x="0" y="0"/>
            <a:chExt cx="5504688" cy="475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04688" cy="475488"/>
            </a:xfrm>
            <a:custGeom>
              <a:avLst/>
              <a:gdLst/>
              <a:ahLst/>
              <a:cxnLst/>
              <a:rect r="r" b="b" t="t" l="l"/>
              <a:pathLst>
                <a:path h="475488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576" r="0" b="-1755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JSON 파싱 실패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80660" y="6569964"/>
            <a:ext cx="2496312" cy="356616"/>
            <a:chOff x="0" y="0"/>
            <a:chExt cx="3328416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28416" cy="475488"/>
            </a:xfrm>
            <a:custGeom>
              <a:avLst/>
              <a:gdLst/>
              <a:ahLst/>
              <a:cxnLst/>
              <a:rect r="r" b="b" t="t" l="l"/>
              <a:pathLst>
                <a:path h="475488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222 / 500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840">
            <a:off x="1104319" y="7072694"/>
            <a:ext cx="6679321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110996" y="7612380"/>
            <a:ext cx="6858000" cy="891540"/>
            <a:chOff x="0" y="0"/>
            <a:chExt cx="91440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914400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과적합 가능성 의심</a:t>
              </a:r>
            </a:p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응답 형식 실패를 함께 확인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0996" y="8682228"/>
            <a:ext cx="6885432" cy="589788"/>
            <a:chOff x="0" y="0"/>
            <a:chExt cx="9180576" cy="7863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80576" cy="786384"/>
            </a:xfrm>
            <a:custGeom>
              <a:avLst/>
              <a:gdLst/>
              <a:ahLst/>
              <a:cxnLst/>
              <a:rect r="r" b="b" t="t" l="l"/>
              <a:pathLst>
                <a:path h="786384" w="9180576">
                  <a:moveTo>
                    <a:pt x="0" y="0"/>
                  </a:moveTo>
                  <a:lnTo>
                    <a:pt x="9180576" y="0"/>
                  </a:lnTo>
                  <a:lnTo>
                    <a:pt x="9180576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476" r="0" b="-1774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80576" cy="8054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낮은 학습 loss만으로 품질을 판단하지 않고</a:t>
              </a:r>
            </a:p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데이터 구성과 출력 형식을 재검토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07424" y="2852928"/>
            <a:ext cx="8339328" cy="466344"/>
            <a:chOff x="0" y="0"/>
            <a:chExt cx="11119104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119104" cy="621792"/>
            </a:xfrm>
            <a:custGeom>
              <a:avLst/>
              <a:gdLst/>
              <a:ahLst/>
              <a:cxnLst/>
              <a:rect r="r" b="b" t="t" l="l"/>
              <a:pathLst>
                <a:path h="621792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38" r="0" b="-2984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1119104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재설계  /  데이터·학습 목표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21140" y="3511296"/>
            <a:ext cx="8311896" cy="891540"/>
            <a:chOff x="0" y="0"/>
            <a:chExt cx="11082528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082528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082528">
                  <a:moveTo>
                    <a:pt x="0" y="0"/>
                  </a:moveTo>
                  <a:lnTo>
                    <a:pt x="11082528" y="0"/>
                  </a:lnTo>
                  <a:lnTo>
                    <a:pt x="110825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660" r="0" b="-1316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1082528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Qwen3-Coder-Next 80B · B200 × 2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학습/검증 구성 10,000 / 1,000개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정제 후 학습 사용 9,975 / 996개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1904" y="4601908"/>
            <a:ext cx="2537079" cy="671703"/>
            <a:chOff x="0" y="0"/>
            <a:chExt cx="3382772" cy="89560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230868" y="4786884"/>
            <a:ext cx="2359152" cy="274320"/>
            <a:chOff x="0" y="0"/>
            <a:chExt cx="3145536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취약점 판단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316860">
            <a:off x="11716217" y="4919282"/>
            <a:ext cx="227657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12008548" y="4601908"/>
            <a:ext cx="2537079" cy="671703"/>
            <a:chOff x="0" y="0"/>
            <a:chExt cx="3382772" cy="8956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097512" y="4786884"/>
            <a:ext cx="2359152" cy="274320"/>
            <a:chOff x="0" y="0"/>
            <a:chExt cx="3145536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근거 line 선택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316860">
            <a:off x="14582861" y="4919282"/>
            <a:ext cx="227657" cy="0"/>
          </a:xfrm>
          <a:prstGeom prst="line">
            <a:avLst/>
          </a:prstGeom>
          <a:ln cap="rnd" w="9525">
            <a:solidFill>
              <a:srgbClr val="2859A6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14875193" y="4601908"/>
            <a:ext cx="2537079" cy="671703"/>
            <a:chOff x="0" y="0"/>
            <a:chExt cx="3382772" cy="8956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382772" cy="895604"/>
            </a:xfrm>
            <a:custGeom>
              <a:avLst/>
              <a:gdLst/>
              <a:ahLst/>
              <a:cxnLst/>
              <a:rect r="r" b="b" t="t" l="l"/>
              <a:pathLst>
                <a:path h="895604" w="3382772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964156" y="4786884"/>
            <a:ext cx="2359152" cy="274320"/>
            <a:chOff x="0" y="0"/>
            <a:chExt cx="3145536" cy="3657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45536" cy="365760"/>
            </a:xfrm>
            <a:custGeom>
              <a:avLst/>
              <a:gdLst/>
              <a:ahLst/>
              <a:cxnLst/>
              <a:rect r="r" b="b" t="t" l="l"/>
              <a:pathLst>
                <a:path h="365760" w="3145536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원문 span 추출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8572" y="5513832"/>
            <a:ext cx="8257032" cy="301752"/>
            <a:chOff x="0" y="0"/>
            <a:chExt cx="11009376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009376" cy="402336"/>
            </a:xfrm>
            <a:custGeom>
              <a:avLst/>
              <a:gdLst/>
              <a:ahLst/>
              <a:cxnLst/>
              <a:rect r="r" b="b" t="t" l="l"/>
              <a:pathLst>
                <a:path h="402336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181" r="0" b="-48318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1009376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판단과 근거 추출의 학습 목표 분리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111615" y="6094095"/>
            <a:ext cx="8317230" cy="2337054"/>
            <a:chOff x="0" y="0"/>
            <a:chExt cx="11089640" cy="31160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089640" cy="3116072"/>
            </a:xfrm>
            <a:custGeom>
              <a:avLst/>
              <a:gdLst/>
              <a:ahLst/>
              <a:cxnLst/>
              <a:rect r="r" b="b" t="t" l="l"/>
              <a:pathLst>
                <a:path h="3116072" w="11089640">
                  <a:moveTo>
                    <a:pt x="0" y="0"/>
                  </a:moveTo>
                  <a:lnTo>
                    <a:pt x="11089640" y="0"/>
                  </a:lnTo>
                  <a:lnTo>
                    <a:pt x="11089640" y="3116072"/>
                  </a:lnTo>
                  <a:lnTo>
                    <a:pt x="0" y="3116072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409176" y="6350508"/>
            <a:ext cx="7694676" cy="342900"/>
            <a:chOff x="0" y="0"/>
            <a:chExt cx="10259568" cy="457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259568" cy="457200"/>
            </a:xfrm>
            <a:custGeom>
              <a:avLst/>
              <a:gdLst/>
              <a:ahLst/>
              <a:cxnLst/>
              <a:rect r="r" b="b" t="t" l="l"/>
              <a:pathLst>
                <a:path h="457200" w="10259568">
                  <a:moveTo>
                    <a:pt x="0" y="0"/>
                  </a:moveTo>
                  <a:lnTo>
                    <a:pt x="10259568" y="0"/>
                  </a:lnTo>
                  <a:lnTo>
                    <a:pt x="102595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244" r="0" b="-38724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25956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2차 평가 기록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409176" y="6830568"/>
            <a:ext cx="7694676" cy="274320"/>
            <a:chOff x="0" y="0"/>
            <a:chExt cx="10259568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259568" cy="365760"/>
            </a:xfrm>
            <a:custGeom>
              <a:avLst/>
              <a:gdLst/>
              <a:ahLst/>
              <a:cxnLst/>
              <a:rect r="r" b="b" t="t" l="l"/>
              <a:pathLst>
                <a:path h="365760" w="10259568">
                  <a:moveTo>
                    <a:pt x="0" y="0"/>
                  </a:moveTo>
                  <a:lnTo>
                    <a:pt x="10259568" y="0"/>
                  </a:lnTo>
                  <a:lnTo>
                    <a:pt x="10259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6555" r="0" b="-49655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025956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NIST SARD/Juliet · C/C++ 함수 · 지정 CWE · 500건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409176" y="7338060"/>
            <a:ext cx="2386584" cy="548640"/>
            <a:chOff x="0" y="0"/>
            <a:chExt cx="3182112" cy="7315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98.81%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409176" y="8078724"/>
            <a:ext cx="2386584" cy="219456"/>
            <a:chOff x="0" y="0"/>
            <a:chExt cx="3182112" cy="2926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015216" y="7338060"/>
            <a:ext cx="2386584" cy="548640"/>
            <a:chOff x="0" y="0"/>
            <a:chExt cx="3182112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100%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015216" y="8078724"/>
            <a:ext cx="2386584" cy="219456"/>
            <a:chOff x="0" y="0"/>
            <a:chExt cx="3182112" cy="29260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4621256" y="7338060"/>
            <a:ext cx="2386584" cy="548640"/>
            <a:chOff x="0" y="0"/>
            <a:chExt cx="3182112" cy="7315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182112" cy="731520"/>
            </a:xfrm>
            <a:custGeom>
              <a:avLst/>
              <a:gdLst/>
              <a:ahLst/>
              <a:cxnLst/>
              <a:rect r="r" b="b" t="t" l="l"/>
              <a:pathLst>
                <a:path h="731520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9" r="0" b="-34759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1.20%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621256" y="8078724"/>
            <a:ext cx="2386584" cy="219456"/>
            <a:chOff x="0" y="0"/>
            <a:chExt cx="3182112" cy="29260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182112" cy="292608"/>
            </a:xfrm>
            <a:custGeom>
              <a:avLst/>
              <a:gdLst/>
              <a:ahLst/>
              <a:cxnLst/>
              <a:rect r="r" b="b" t="t" l="l"/>
              <a:pathLst>
                <a:path h="292608" w="3182112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99" r="0" b="-16189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FPR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134856" y="8627364"/>
            <a:ext cx="8243316" cy="288036"/>
            <a:chOff x="0" y="0"/>
            <a:chExt cx="10991088" cy="3840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991088" cy="384048"/>
            </a:xfrm>
            <a:custGeom>
              <a:avLst/>
              <a:gdLst/>
              <a:ahLst/>
              <a:cxnLst/>
              <a:rect r="r" b="b" t="t" l="l"/>
              <a:pathLst>
                <a:path h="384048" w="10991088">
                  <a:moveTo>
                    <a:pt x="0" y="0"/>
                  </a:moveTo>
                  <a:lnTo>
                    <a:pt x="10991088" y="0"/>
                  </a:lnTo>
                  <a:lnTo>
                    <a:pt x="1099108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643" r="0" b="-50764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10991088" cy="393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모델 단독 평가 · HF 최초 blind 평가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134856" y="9066276"/>
            <a:ext cx="8257032" cy="301752"/>
            <a:chOff x="0" y="0"/>
            <a:chExt cx="11009376" cy="4023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09376" cy="402336"/>
            </a:xfrm>
            <a:custGeom>
              <a:avLst/>
              <a:gdLst/>
              <a:ahLst/>
              <a:cxnLst/>
              <a:rect r="r" b="b" t="t" l="l"/>
              <a:pathLst>
                <a:path h="402336" w="1100937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181" r="0" b="-48318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1009376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진행 상태: 데이터셋 구축 · 실증 테스트 예정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91540" y="9436608"/>
            <a:ext cx="16459200" cy="233172"/>
            <a:chOff x="0" y="0"/>
            <a:chExt cx="21945600" cy="31089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45600" cy="310896"/>
            </a:xfrm>
            <a:custGeom>
              <a:avLst/>
              <a:gdLst/>
              <a:ahLst/>
              <a:cxnLst/>
              <a:rect r="r" b="b" t="t" l="l"/>
              <a:pathLst>
                <a:path h="310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414" r="0" b="-132541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1945600" cy="329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6"/>
                </a:lnSpc>
              </a:pPr>
              <a:r>
                <a:rPr lang="en-US" sz="1439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※ 1차를 진행하면서 정답 + 근거의 필요성을 느꼈고, 데이터셋을 재설계하면서 취약점 판단 + 근거 선택을 할 수 있도록 학습 데이터셋을 재구축함. 그 과정에서 원천 데이터셋 교체가 이루어짐.</a:t>
              </a:r>
            </a:p>
          </p:txBody>
        </p:sp>
      </p:grpSp>
      <p:sp>
        <p:nvSpPr>
          <p:cNvPr name="AutoShape 111" id="111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93776"/>
            <a:ext cx="16596360" cy="438476"/>
            <a:chOff x="0" y="0"/>
            <a:chExt cx="22128480" cy="5846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584635"/>
            </a:xfrm>
            <a:custGeom>
              <a:avLst/>
              <a:gdLst/>
              <a:ahLst/>
              <a:cxnLst/>
              <a:rect r="r" b="b" t="t" l="l"/>
              <a:pathLst>
                <a:path h="58463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84635"/>
                  </a:lnTo>
                  <a:lnTo>
                    <a:pt x="0" y="5846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101" r="0" b="-6719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594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05  /  FRAMEWORK DEVELOPMENT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24712"/>
            <a:ext cx="16596360" cy="1110478"/>
            <a:chOff x="0" y="0"/>
            <a:chExt cx="22128480" cy="1480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480637"/>
            </a:xfrm>
            <a:custGeom>
              <a:avLst/>
              <a:gdLst/>
              <a:ahLst/>
              <a:cxnLst/>
              <a:rect r="r" b="b" t="t" l="l"/>
              <a:pathLst>
                <a:path h="1480637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480637"/>
                  </a:lnTo>
                  <a:lnTo>
                    <a:pt x="0" y="1480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329" r="0" b="-2220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128480" cy="15187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GUAM — GPU 기반 AutoML 프레임워크 개발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0392" y="1920240"/>
            <a:ext cx="16459200" cy="529201"/>
            <a:chOff x="0" y="0"/>
            <a:chExt cx="21945600" cy="705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05601"/>
            </a:xfrm>
            <a:custGeom>
              <a:avLst/>
              <a:gdLst/>
              <a:ahLst/>
              <a:cxnLst/>
              <a:rect r="r" b="b" t="t" l="l"/>
              <a:pathLst>
                <a:path h="70560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05601"/>
                  </a:lnTo>
                  <a:lnTo>
                    <a:pt x="0" y="705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46" r="0" b="-5449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7151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LightAutoML 구조를 RAPIDS로 포팅하는 팀 프로젝트 · 비공개 알파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079992" y="2449441"/>
            <a:ext cx="8339328" cy="769441"/>
            <a:chOff x="0" y="0"/>
            <a:chExt cx="11119104" cy="10259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19104" cy="1025921"/>
            </a:xfrm>
            <a:custGeom>
              <a:avLst/>
              <a:gdLst/>
              <a:ahLst/>
              <a:cxnLst/>
              <a:rect r="r" b="b" t="t" l="l"/>
              <a:pathLst>
                <a:path h="1025921" w="11119104">
                  <a:moveTo>
                    <a:pt x="0" y="0"/>
                  </a:moveTo>
                  <a:lnTo>
                    <a:pt x="11119104" y="0"/>
                  </a:lnTo>
                  <a:lnTo>
                    <a:pt x="11119104" y="1025921"/>
                  </a:lnTo>
                  <a:lnTo>
                    <a:pt x="0" y="102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77" r="0" b="-1414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119104" cy="1054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2361" indent="-301180" lvl="1">
                <a:lnSpc>
                  <a:spcPts val="3615"/>
                </a:lnSpc>
                <a:buAutoNum type="arabicPeriod" startAt="2"/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프레임워크 개발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cap="rnd" w="9525">
            <a:solidFill>
              <a:srgbClr val="DDE3E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16295" y="2376678"/>
            <a:ext cx="7289861" cy="5612750"/>
            <a:chOff x="0" y="0"/>
            <a:chExt cx="9719814" cy="748366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82038" y="0"/>
              <a:ext cx="9637776" cy="1025921"/>
              <a:chOff x="0" y="0"/>
              <a:chExt cx="9637776" cy="102592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637776" cy="1025921"/>
              </a:xfrm>
              <a:custGeom>
                <a:avLst/>
                <a:gdLst/>
                <a:ahLst/>
                <a:cxnLst/>
                <a:rect r="r" b="b" t="t" l="l"/>
                <a:pathLst>
                  <a:path h="1025921" w="9637776">
                    <a:moveTo>
                      <a:pt x="0" y="0"/>
                    </a:moveTo>
                    <a:lnTo>
                      <a:pt x="9637776" y="0"/>
                    </a:lnTo>
                    <a:lnTo>
                      <a:pt x="9637776" y="1025921"/>
                    </a:lnTo>
                    <a:lnTo>
                      <a:pt x="0" y="10259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2743" r="0" b="-113351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637776" cy="105449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 marL="602361" indent="-301180" lvl="1">
                  <a:lnSpc>
                    <a:spcPts val="3615"/>
                  </a:lnSpc>
                  <a:buAutoNum type="arabicPeriod" startAt="1"/>
                </a:pPr>
                <a:r>
                  <a:rPr lang="en-US" sz="2790" spc="10">
                    <a:solidFill>
                      <a:srgbClr val="172B43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스터디</a:t>
                </a: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82038" y="1012072"/>
              <a:ext cx="8718844" cy="2287791"/>
            </a:xfrm>
            <a:custGeom>
              <a:avLst/>
              <a:gdLst/>
              <a:ahLst/>
              <a:cxnLst/>
              <a:rect r="r" b="b" t="t" l="l"/>
              <a:pathLst>
                <a:path h="2287791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287791"/>
                  </a:lnTo>
                  <a:lnTo>
                    <a:pt x="0" y="228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4" r="0" b="-64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2038" y="2325769"/>
              <a:ext cx="8718844" cy="2452800"/>
            </a:xfrm>
            <a:custGeom>
              <a:avLst/>
              <a:gdLst/>
              <a:ahLst/>
              <a:cxnLst/>
              <a:rect r="r" b="b" t="t" l="l"/>
              <a:pathLst>
                <a:path h="2452800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452800"/>
                  </a:lnTo>
                  <a:lnTo>
                    <a:pt x="0" y="24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8" r="0" b="-68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3705286"/>
              <a:ext cx="8800882" cy="2594404"/>
            </a:xfrm>
            <a:custGeom>
              <a:avLst/>
              <a:gdLst/>
              <a:ahLst/>
              <a:cxnLst/>
              <a:rect r="r" b="b" t="t" l="l"/>
              <a:pathLst>
                <a:path h="2594404" w="8800882">
                  <a:moveTo>
                    <a:pt x="0" y="0"/>
                  </a:moveTo>
                  <a:lnTo>
                    <a:pt x="8800882" y="0"/>
                  </a:lnTo>
                  <a:lnTo>
                    <a:pt x="8800882" y="2594404"/>
                  </a:lnTo>
                  <a:lnTo>
                    <a:pt x="0" y="2594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1" r="0" b="-71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82038" y="5106835"/>
              <a:ext cx="8718844" cy="2376831"/>
            </a:xfrm>
            <a:custGeom>
              <a:avLst/>
              <a:gdLst/>
              <a:ahLst/>
              <a:cxnLst/>
              <a:rect r="r" b="b" t="t" l="l"/>
              <a:pathLst>
                <a:path h="2376831" w="8718844">
                  <a:moveTo>
                    <a:pt x="0" y="0"/>
                  </a:moveTo>
                  <a:lnTo>
                    <a:pt x="8718844" y="0"/>
                  </a:lnTo>
                  <a:lnTo>
                    <a:pt x="8718844" y="2376832"/>
                  </a:lnTo>
                  <a:lnTo>
                    <a:pt x="0" y="237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6" r="0" b="-66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173886" y="8065628"/>
            <a:ext cx="457467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엔비디아 수료증 4종 취득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/ ML / DL 관련 수료증</a:t>
            </a:r>
          </a:p>
        </p:txBody>
      </p:sp>
      <p:sp>
        <p:nvSpPr>
          <p:cNvPr id="25" name="GUAM_PR213_lead">
            <a:extLst>
              <a:ext uri="{FF2B5EF4-FFF2-40B4-BE49-F238E27FC236}">
                <a16:creationId xmlns:a16="http://schemas.microsoft.com/office/drawing/2014/main" id="{610EF11E-92B6-4650-A840-D7FF265A9745}"/>
              </a:ext>
            </a:extLst>
          </p:cNvPr>
          <p:cNvSpPr>
            <a:spLocks noGrp="1"/>
          </p:cNvSpPr>
          <p:nvPr/>
        </p:nvSpPr>
        <p:spPr>
          <a:xfrm>
            <a:off x="9382125" y="3343275"/>
            <a:ext cx="7905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기술 문서 정합성 감사 및 최신화</a:t>
            </a:r>
          </a:p>
        </p:txBody>
      </p:sp>
      <p:sp>
        <p:nvSpPr>
          <p:cNvPr id="26" name="GUAM_PR213_scope">
            <a:extLst>
              <a:ext uri="{FF2B5EF4-FFF2-40B4-BE49-F238E27FC236}">
                <a16:creationId xmlns:a16="http://schemas.microsoft.com/office/drawing/2014/main" id="{AA2F7988-876D-4A65-A7AB-787BD7A2952C}"/>
              </a:ext>
            </a:extLst>
          </p:cNvPr>
          <p:cNvSpPr>
            <a:spLocks noGrp="1"/>
          </p:cNvSpPr>
          <p:nvPr/>
        </p:nvSpPr>
        <p:spPr>
          <a:xfrm>
            <a:off x="9382125" y="4010025"/>
            <a:ext cx="7905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README · API 명세 · 아키텍처 · 코드 주석</a:t>
            </a:r>
          </a:p>
          <a:p>
            <a:pPr>
              <a:def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총 31개 파일을 코드·테스트·이슈 상태와 대조해 정비</a:t>
            </a:r>
          </a:p>
        </p:txBody>
      </p:sp>
      <p:sp>
        <p:nvSpPr>
          <p:cNvPr id="27" name="GUAM_PR213_work1">
            <a:extLst>
              <a:ext uri="{FF2B5EF4-FFF2-40B4-BE49-F238E27FC236}">
                <a16:creationId xmlns:a16="http://schemas.microsoft.com/office/drawing/2014/main" id="{4FC13B66-E091-4260-8ED9-F787F32BA767}"/>
              </a:ext>
            </a:extLst>
          </p:cNvPr>
          <p:cNvSpPr>
            <a:spLocks noGrp="1"/>
          </p:cNvSpPr>
          <p:nvPr/>
        </p:nvSpPr>
        <p:spPr>
          <a:xfrm>
            <a:off x="9382125" y="51816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기본 OOF·블렌딩과 멀티레벨 스태킹 구분</a:t>
            </a:r>
          </a:p>
        </p:txBody>
      </p:sp>
      <p:sp>
        <p:nvSpPr>
          <p:cNvPr id="28" name="GUAM_PR213_detail1">
            <a:extLst>
              <a:ext uri="{FF2B5EF4-FFF2-40B4-BE49-F238E27FC236}">
                <a16:creationId xmlns:a16="http://schemas.microsoft.com/office/drawing/2014/main" id="{4C04E9CF-AEA0-4F18-A531-FDDA9CA9F3E8}"/>
              </a:ext>
            </a:extLst>
          </p:cNvPr>
          <p:cNvSpPr>
            <a:spLocks noGrp="1"/>
          </p:cNvSpPr>
          <p:nvPr/>
        </p:nvSpPr>
        <p:spPr>
          <a:xfrm>
            <a:off x="9382125" y="5676900"/>
            <a:ext cx="7905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기본 프리셋의 동작과 고급 API의 조립 경로 명확화</a:t>
            </a:r>
          </a:p>
        </p:txBody>
      </p:sp>
      <p:sp>
        <p:nvSpPr>
          <p:cNvPr id="29" name="GUAM_PR213_work2">
            <a:extLst>
              <a:ext uri="{FF2B5EF4-FFF2-40B4-BE49-F238E27FC236}">
                <a16:creationId xmlns:a16="http://schemas.microsoft.com/office/drawing/2014/main" id="{86EBCC43-2873-4597-867B-72A2C4409868}"/>
              </a:ext>
            </a:extLst>
          </p:cNvPr>
          <p:cNvSpPr>
            <a:spLocks noGrp="1"/>
          </p:cNvSpPr>
          <p:nvPr/>
        </p:nvSpPr>
        <p:spPr>
          <a:xfrm>
            <a:off x="9382125" y="62865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구현 상태와 지원 범위 정정</a:t>
            </a:r>
          </a:p>
        </p:txBody>
      </p:sp>
      <p:sp>
        <p:nvSpPr>
          <p:cNvPr id="30" name="GUAM_PR213_detail2">
            <a:extLst>
              <a:ext uri="{FF2B5EF4-FFF2-40B4-BE49-F238E27FC236}">
                <a16:creationId xmlns:a16="http://schemas.microsoft.com/office/drawing/2014/main" id="{1A7D9F4A-822B-4DC9-A86D-A34431004B0B}"/>
              </a:ext>
            </a:extLst>
          </p:cNvPr>
          <p:cNvSpPr>
            <a:spLocks noGrp="1"/>
          </p:cNvSpPr>
          <p:nvPr/>
        </p:nvSpPr>
        <p:spPr>
          <a:xfrm>
            <a:off x="9382125" y="6781800"/>
            <a:ext cx="7905750" cy="847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오래된 stub 표기 수정 · 분산 기능의 제약 문서화</a:t>
            </a:r>
          </a:p>
          <a:p>
            <a:pPr>
              <a:def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Code ID·파일·Linear 연결 보완</a:t>
            </a:r>
          </a:p>
        </p:txBody>
      </p:sp>
      <p:sp>
        <p:nvSpPr>
          <p:cNvPr id="31" name="GUAM_PR213_result">
            <a:extLst>
              <a:ext uri="{FF2B5EF4-FFF2-40B4-BE49-F238E27FC236}">
                <a16:creationId xmlns:a16="http://schemas.microsoft.com/office/drawing/2014/main" id="{D683B34C-1868-4448-AE26-3F8DFE2D0F71}"/>
              </a:ext>
            </a:extLst>
          </p:cNvPr>
          <p:cNvSpPr>
            <a:spLocks noGrp="1"/>
          </p:cNvSpPr>
          <p:nvPr/>
        </p:nvSpPr>
        <p:spPr>
          <a:xfrm>
            <a:off x="9382125" y="792480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PR #213 병합 완료</a:t>
            </a:r>
          </a:p>
        </p:txBody>
      </p:sp>
      <p:sp>
        <p:nvSpPr>
          <p:cNvPr id="32" name="GUAM_PR213_evidence">
            <a:extLst>
              <a:ext uri="{FF2B5EF4-FFF2-40B4-BE49-F238E27FC236}">
                <a16:creationId xmlns:a16="http://schemas.microsoft.com/office/drawing/2014/main" id="{78275775-B5EF-470A-977A-E4A95E10D2DD}"/>
              </a:ext>
            </a:extLst>
          </p:cNvPr>
          <p:cNvSpPr>
            <a:spLocks noGrp="1"/>
          </p:cNvSpPr>
          <p:nvPr/>
        </p:nvSpPr>
        <p:spPr>
          <a:xfrm>
            <a:off x="9382125" y="8486775"/>
            <a:ext cx="7905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2026.09.01 병합 · +380 / −143줄</a:t>
            </a:r>
          </a:p>
          <a:p>
            <a:pPr>
              <a:def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17184"/>
                </a:solidFill>
                <a:latin typeface="Noto Sans Kr"/>
                <a:ea typeface="Noto Sans Kr"/>
                <a:cs typeface="Noto Sans Kr"/>
              </a:rPr>
              <a:t>PR 검증 기록: 비GPU 테스트 1,595개 통과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DAHVzXPJomk</dc:identifier>
  <dcterms:modified xsi:type="dcterms:W3CDTF">2011-08-01T06:04:30Z</dcterms:modified>
  <cp:revision>1</cp:revision>
  <dc:title>이정민_포트폴리오.pptx</dc:title>
</cp:coreProperties>
</file>