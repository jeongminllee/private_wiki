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7a64722f5147cc" /><Relationship Type="http://schemas.openxmlformats.org/officeDocument/2006/relationships/extended-properties" Target="/docProps/app.xml" Id="Rf981de9235ec434d" /><Relationship Type="http://schemas.openxmlformats.org/officeDocument/2006/relationships/officeDocument" Target="/ppt/presentation.xml" Id="R751e8f3c4f5b432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53feea552b5458a"/>
  </p:sldMasterIdLst>
  <p:notesMasterIdLst>
    <p:notesMasterId xmlns:r="http://schemas.openxmlformats.org/officeDocument/2006/relationships" r:id="R5869c93ca102457f"/>
  </p:notesMasterIdLst>
  <p:sldIdLst>
    <p:sldId xmlns:r="http://schemas.openxmlformats.org/officeDocument/2006/relationships" id="256" r:id="Rb39cb7fcac5b4821"/>
    <p:sldId xmlns:r="http://schemas.openxmlformats.org/officeDocument/2006/relationships" id="257" r:id="R8b35c928cf794065"/>
    <p:sldId xmlns:r="http://schemas.openxmlformats.org/officeDocument/2006/relationships" id="258" r:id="Rd7a07aacdab14d45"/>
    <p:sldId xmlns:r="http://schemas.openxmlformats.org/officeDocument/2006/relationships" id="259" r:id="Rf3ed19201235478a"/>
    <p:sldId xmlns:r="http://schemas.openxmlformats.org/officeDocument/2006/relationships" id="260" r:id="R2d7754d91f8c4630"/>
    <p:sldId xmlns:r="http://schemas.openxmlformats.org/officeDocument/2006/relationships" id="261" r:id="R896db483fe084dce"/>
  </p:sldIdLst>
  <p:sldSz cx="18288000" cy="10287000"/>
  <p:notesSz cx="6858000" cy="9144000"/>
  <p:embeddedFontLst>
    <p:embeddedFont>
      <p:font typeface="Mandali"/>
      <p:regular xmlns:r="http://schemas.openxmlformats.org/officeDocument/2006/relationships" r:id="Rc6f834f94dcf42d3"/>
    </p:embeddedFont>
    <p:embeddedFont>
      <p:font typeface="Noto Sans Kr"/>
      <p:regular xmlns:r="http://schemas.openxmlformats.org/officeDocument/2006/relationships" r:id="Rbcdf3736e3d245f8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b52ae76cc74d90" /><Relationship Type="http://schemas.openxmlformats.org/officeDocument/2006/relationships/slideMaster" Target="/ppt/slideMasters/slideMaster1.xml" Id="R753feea552b5458a" /><Relationship Type="http://schemas.openxmlformats.org/officeDocument/2006/relationships/notesMaster" Target="/ppt/notesMasters/notesMaster1.xml" Id="R5869c93ca102457f" /><Relationship Type="http://schemas.openxmlformats.org/officeDocument/2006/relationships/presProps" Target="/ppt/presProps.xml" Id="R1ecdd587be8246a6" /><Relationship Type="http://schemas.openxmlformats.org/officeDocument/2006/relationships/viewProps" Target="/ppt/viewProps.xml" Id="R8206d488f5b246ed" /><Relationship Type="http://schemas.openxmlformats.org/officeDocument/2006/relationships/tableStyles" Target="/ppt/tableStyles.xml" Id="R489954ce612240f7" /><Relationship Type="http://schemas.openxmlformats.org/officeDocument/2006/relationships/font" Target="/ppt/fonts/font.dat" Id="Rc6f834f94dcf42d3" /><Relationship Type="http://schemas.openxmlformats.org/officeDocument/2006/relationships/font" Target="/ppt/fonts/font2.dat" Id="Rbcdf3736e3d245f8" /><Relationship Type="http://schemas.openxmlformats.org/officeDocument/2006/relationships/slide" Target="/ppt/slides/slide1.xml" Id="Rb39cb7fcac5b4821" /><Relationship Type="http://schemas.openxmlformats.org/officeDocument/2006/relationships/slide" Target="/ppt/slides/slide2.xml" Id="R8b35c928cf794065" /><Relationship Type="http://schemas.openxmlformats.org/officeDocument/2006/relationships/slide" Target="/ppt/slides/slide3.xml" Id="Rd7a07aacdab14d45" /><Relationship Type="http://schemas.openxmlformats.org/officeDocument/2006/relationships/slide" Target="/ppt/slides/slide4.xml" Id="Rf3ed19201235478a" /><Relationship Type="http://schemas.openxmlformats.org/officeDocument/2006/relationships/slide" Target="/ppt/slides/slide5.xml" Id="R2d7754d91f8c4630" /><Relationship Type="http://schemas.openxmlformats.org/officeDocument/2006/relationships/slide" Target="/ppt/slides/slide6.xml" Id="R896db483fe084d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c1b43f0a514a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ece30dbc594786" /><Relationship Type="http://schemas.openxmlformats.org/officeDocument/2006/relationships/notesMaster" Target="/ppt/notesMasters/notesMaster1.xml" Id="Ra0fc52a636a046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fbb645a8234ec2" /><Relationship Type="http://schemas.openxmlformats.org/officeDocument/2006/relationships/notesMaster" Target="/ppt/notesMasters/notesMaster1.xml" Id="R21aacaa4b11e48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505dcf342e4bd8" /><Relationship Type="http://schemas.openxmlformats.org/officeDocument/2006/relationships/notesMaster" Target="/ppt/notesMasters/notesMaster1.xml" Id="Rdd7798cbcd7248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7ab772f4894663" /><Relationship Type="http://schemas.openxmlformats.org/officeDocument/2006/relationships/notesMaster" Target="/ppt/notesMasters/notesMaster1.xml" Id="Rffa8d6be8aae4c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5073749e5d43f4" /><Relationship Type="http://schemas.openxmlformats.org/officeDocument/2006/relationships/notesMaster" Target="/ppt/notesMasters/notesMaster1.xml" Id="Rcd51ed6f7e8b45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9ce16789a1460d" /><Relationship Type="http://schemas.openxmlformats.org/officeDocument/2006/relationships/notesMaster" Target="/ppt/notesMasters/notesMaster1.xml" Id="R1605e64b83ba42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구성 자료: 이정민 전공소개서 원본(표지·프로필·석사 연구·시스템 개발·모델 실험).</a:t>
            </a:r>
          </a:p>
          <a:p xmlns:a="http://schemas.openxmlformats.org/drawingml/2006/main">
            <a:r>
              <a:t>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학력·연구 실적·현재 교육: 전공소개서 원본 2p. 연구실 활동·Python·PyTorch 경험: 기존 Notion 포트폴리오.</a:t>
            </a:r>
          </a:p>
          <a:p xmlns:a="http://schemas.openxmlformats.org/drawingml/2006/main">
            <a:r>
              <a:t>https://momentous-loaf-283.notion.site/ML-bc41a73cf20b833c85b90151bffc455d</a:t>
            </a:r>
          </a:p>
          <a:p xmlns:a="http://schemas.openxmlformats.org/drawingml/2006/main">
            <a:r>
              <a:t>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전공소개서 원본 3p의 석사 연구 제목, 설명, 확산식, 세 가지 물리량의 분포 그래프. 그래프의 축·데이터점·회귀선은 원본과 동일함.</a:t>
            </a:r>
          </a:p>
          <a:p xmlns:a="http://schemas.openxmlformats.org/drawingml/2006/main">
            <a:r>
              <a:t>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구조 참고: A2A-MCP / Code_Vulnerability. 수치 출처: 전공소개서 원본 4p의 프로토타입 시험 기록. 분석 23/23개 파일, 3,524줄, 정적 분석 신호 18개(위험 호출 8·Secret 후보 10), 로컬 LLM 리뷰 18개. 개발 구조 요약과 프로토타입 시험 결과는 구분하여 제시함.</a:t>
            </a:r>
          </a:p>
          <a:p xmlns:a="http://schemas.openxmlformats.org/drawingml/2006/main">
            <a:r>
              <a:t>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수치 출처: 전공소개서 원본 5p의 1차·재설계·2차 실험 기록. 1차는 DiverseVul 기반 평가, 2차는 NIST SARD/Juliet 기반 C/C++ 함수 및 지정 CWE 평가. 평가 데이터셋이 달라 직접적인 향상률 비교가 아님. 재설계 화면의 모델은 Qwen3-Coder-Next 80B, B200 2장. 원본의 진행 상태 문구는 데이터셋 구축 후 실증 테스트 예정으로 기재되어 있음.</a:t>
            </a:r>
          </a:p>
          <a:p xmlns:a="http://schemas.openxmlformats.org/drawingml/2006/main">
            <a:r>
              <a:t>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수치 출처: 전공소개서 원본 5p의 1차·재설계·2차 실험 기록. 1차는 DiverseVul 기반 평가, 2차는 NIST SARD/Juliet 기반 C/C++ 함수 및 지정 CWE 평가. 평가 데이터셋이 달라 직접적인 향상률 비교가 아님. 재설계 화면의 모델은 Qwen3-Coder-Next 80B, B200 2장. 원본의 진행 상태 문구는 데이터셋 구축 후 실증 테스트 예정으로 기재되어 있음.</a:t>
            </a:r>
          </a:p>
          <a:p xmlns:a="http://schemas.openxmlformats.org/drawingml/2006/main">
            <a:r>
              <a:t>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ae3bedb5f41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28509af0a49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40784290244d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07ef7b56a04b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6ef5da1ae47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7cb4d04c90417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7dae4b9b34b0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8c4d6f641845e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b4f47da244400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45a2b495ce493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4f2b0259e40f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648272-881B-49A6-B1B8-34E02975BB9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C1775-D8C8-49B8-A050-B092836254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054738-B5C6-4594-818C-F4AE4ABFED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CBE288-39E7-4317-A54E-B097DF8BDB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F728BE-E7A6-4305-8B9D-DD4746CC93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E265B8-7BED-4645-8373-6283574E6E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0425DB5-982C-415B-8D5E-147B3297931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86B70B1-7ADB-473E-B9DB-9115BE7AFA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930A6D-8A16-4121-8F1C-174609C565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09A234-370B-48CF-9FD6-947F278EC2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E405E7-4821-4C9C-A4A9-EFCD6E521A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365AA05-B7D5-4C3C-B34C-8438FBC448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6C34BD-90F2-4897-839A-B8F908AE72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E009C2-4172-4C35-9520-0B3F20DFFC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E66F34-94A6-4C0A-85BF-66141EF09A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EBB3EC-AFA3-48A9-90F2-A601CD0B8B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85E229B-7AFF-4EA2-B444-5744016947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9A6A600-21CD-4DB4-8A82-6C89BEFCF74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C8CE85D-9D93-46EC-9221-B9C3E6E065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1361E7D-1EA7-49A3-A4F3-AFA302ED91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B9D605D-C071-45B3-A953-00E81BDC42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71F214-7AC7-4549-BB8C-FD55AA7E9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1CBD54-6523-4886-A1AE-BC93DE10B7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16EAAB3-5FFD-46EA-ABB1-E904A6D533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ECA21E3-0405-459D-A10A-7B3A058C8DC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39E02A0-FEB0-45BA-9329-2C92C74530D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391DECC-E190-4ADA-85CD-6453D5BBB9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A91DAEE-760C-41DD-BA57-893895E6D2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BECD2ED-0945-4B04-B67C-41E7714DC6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A09714-7ECF-487A-8852-672235C042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1CFF4C2-731B-4E25-A946-691FEFF554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6AA95D4-01FB-4CAF-A6CC-953DE1C137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66AD770-8534-4FD1-81F3-4D59676E64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C88A966-ECF0-4ED6-BE54-03F743D3F0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C96188F-85A5-4FE0-904C-427FE23C6E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C5F1F18-2A3D-41F2-AEEC-C7F5A3D9AC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2F41-C6F2-4502-806B-182AC54FFA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47B29B-A068-42F6-987D-48650C9B47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66AED02-6045-4F83-86B2-9D15E867FD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107B561-6787-4A28-A6BF-69BA67194D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96296BE-D3E5-4B1E-9176-F7C8963E82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E6E8BCD-B7C1-43B9-AF4A-EC41754FF8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FE026E-91BD-4A0E-AEEB-D84F5412D5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A6F6616-ED1E-48EC-BFD3-2CE3013483E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5EEA8B4-F590-4C32-8F2C-3A1E79893A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1A18708-0E82-4E7A-B837-AE88C8420D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88384ED-7E3F-4E59-AD2A-E596732473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3E60A5E-5E8F-49FD-828E-39B238F15F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1C0CCE-C01B-431B-B17C-2F6BB05BB6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F10D47-47B1-432C-AE4F-7B7B31DEF2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9D508F-9241-4196-A7D7-E52DE96DAD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CDAC45-B495-4154-8D01-254AC6E4CF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7E03B4-7DC4-4667-9AAB-7A4B476C98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B57C7FE-925F-4ADB-A218-2062B884A5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7C7BF7-12A9-4E6D-9297-62E19F9D28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72F96D1-C4CE-4D2C-8EF1-564F835B4E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21DD0D-DCA6-4794-89AB-A86D6CE1AB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896A-2D28-4AFF-B99D-F42389C40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15b692242d47c1" /><Relationship Type="http://schemas.openxmlformats.org/officeDocument/2006/relationships/slideLayout" Target="/ppt/slideLayouts/slideLayout1.xml" Id="R02795e7244334d3b" /><Relationship Type="http://schemas.openxmlformats.org/officeDocument/2006/relationships/slideLayout" Target="/ppt/slideLayouts/slideLayout2.xml" Id="Rabb1e66627504e7d" /><Relationship Type="http://schemas.openxmlformats.org/officeDocument/2006/relationships/slideLayout" Target="/ppt/slideLayouts/slideLayout3.xml" Id="R1bc53a57088a450e" /><Relationship Type="http://schemas.openxmlformats.org/officeDocument/2006/relationships/slideLayout" Target="/ppt/slideLayouts/slideLayout4.xml" Id="Re42940c939274c23" /><Relationship Type="http://schemas.openxmlformats.org/officeDocument/2006/relationships/slideLayout" Target="/ppt/slideLayouts/slideLayout5.xml" Id="R2fc189fa8dfb4334" /><Relationship Type="http://schemas.openxmlformats.org/officeDocument/2006/relationships/slideLayout" Target="/ppt/slideLayouts/slideLayout6.xml" Id="R8e4c0bbc10784657" /><Relationship Type="http://schemas.openxmlformats.org/officeDocument/2006/relationships/slideLayout" Target="/ppt/slideLayouts/slideLayout7.xml" Id="R0bd210e8cb314db2" /><Relationship Type="http://schemas.openxmlformats.org/officeDocument/2006/relationships/slideLayout" Target="/ppt/slideLayouts/slideLayout8.xml" Id="Ra28a49befc1f483e" /><Relationship Type="http://schemas.openxmlformats.org/officeDocument/2006/relationships/slideLayout" Target="/ppt/slideLayouts/slideLayout9.xml" Id="R84eb9162c8194d7c" /><Relationship Type="http://schemas.openxmlformats.org/officeDocument/2006/relationships/slideLayout" Target="/ppt/slideLayouts/slideLayout10.xml" Id="R8364c9b4443a435c" /><Relationship Type="http://schemas.openxmlformats.org/officeDocument/2006/relationships/slideLayout" Target="/ppt/slideLayouts/slideLayout11.xml" Id="R95f0856d970c481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FD808C7-2AE6-4B54-B663-1C47BECF3E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780E6A1-F6E0-4E07-ACEC-0FA1AD69A4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56DDC1-1851-4603-BFA8-3FD15E5A8AC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990B7F-1495-4C01-A2E8-11EA5D83313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06302B-EEFA-47F1-8C7E-F2B365B0302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795e7244334d3b"/>
    <p:sldLayoutId xmlns:r="http://schemas.openxmlformats.org/officeDocument/2006/relationships" id="2147483650" r:id="Rabb1e66627504e7d"/>
    <p:sldLayoutId xmlns:r="http://schemas.openxmlformats.org/officeDocument/2006/relationships" id="2147483651" r:id="R1bc53a57088a450e"/>
    <p:sldLayoutId xmlns:r="http://schemas.openxmlformats.org/officeDocument/2006/relationships" id="2147483652" r:id="Re42940c939274c23"/>
    <p:sldLayoutId xmlns:r="http://schemas.openxmlformats.org/officeDocument/2006/relationships" id="2147483653" r:id="R2fc189fa8dfb4334"/>
    <p:sldLayoutId xmlns:r="http://schemas.openxmlformats.org/officeDocument/2006/relationships" id="2147483654" r:id="R8e4c0bbc10784657"/>
    <p:sldLayoutId xmlns:r="http://schemas.openxmlformats.org/officeDocument/2006/relationships" id="2147483655" r:id="R0bd210e8cb314db2"/>
    <p:sldLayoutId xmlns:r="http://schemas.openxmlformats.org/officeDocument/2006/relationships" id="2147483656" r:id="Ra28a49befc1f483e"/>
    <p:sldLayoutId xmlns:r="http://schemas.openxmlformats.org/officeDocument/2006/relationships" id="2147483657" r:id="R84eb9162c8194d7c"/>
    <p:sldLayoutId xmlns:r="http://schemas.openxmlformats.org/officeDocument/2006/relationships" id="2147483658" r:id="R8364c9b4443a435c"/>
    <p:sldLayoutId xmlns:r="http://schemas.openxmlformats.org/officeDocument/2006/relationships" id="2147483659" r:id="R95f0856d970c4818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1f3dfeae0b24129" /><Relationship Type="http://schemas.openxmlformats.org/officeDocument/2006/relationships/image" Target="/ppt/media/image.jpeg" Id="Rcb3ae1a252b248b4" /><Relationship Type="http://schemas.openxmlformats.org/officeDocument/2006/relationships/notesSlide" Target="/ppt/notesSlides/notesSlide1.xml" Id="Ra8074a8054ec4d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516f963d264da2" /><Relationship Type="http://schemas.openxmlformats.org/officeDocument/2006/relationships/image" Target="/ppt/media/image.jpeg" Id="R77fe4b91fe064924" /><Relationship Type="http://schemas.openxmlformats.org/officeDocument/2006/relationships/image" Target="/ppt/media/image.png" Id="R0f43511f00cb49cb" /><Relationship Type="http://schemas.openxmlformats.org/officeDocument/2006/relationships/notesSlide" Target="/ppt/notesSlides/notesSlide2.xml" Id="R968b97aa42b24a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914bffbaa940b8" /><Relationship Type="http://schemas.openxmlformats.org/officeDocument/2006/relationships/image" Target="/ppt/media/image.jpeg" Id="R004d4f3ff8884455" /><Relationship Type="http://schemas.openxmlformats.org/officeDocument/2006/relationships/image" Target="/ppt/media/image2.png" Id="R7e564ee4b5264f3f" /><Relationship Type="http://schemas.openxmlformats.org/officeDocument/2006/relationships/image" Target="/ppt/media/image3.png" Id="R4ac02bb376fe4cee" /><Relationship Type="http://schemas.openxmlformats.org/officeDocument/2006/relationships/image" Target="/ppt/media/image4.png" Id="Rc803d089cfeb4269" /><Relationship Type="http://schemas.openxmlformats.org/officeDocument/2006/relationships/image" Target="/ppt/media/image5.png" Id="Re2585f76f7c54016" /><Relationship Type="http://schemas.openxmlformats.org/officeDocument/2006/relationships/notesSlide" Target="/ppt/notesSlides/notesSlide3.xml" Id="R44bc2d5ab72440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b084be937d456c" /><Relationship Type="http://schemas.openxmlformats.org/officeDocument/2006/relationships/image" Target="/ppt/media/image.jpeg" Id="Rc8eb27572ac14603" /><Relationship Type="http://schemas.openxmlformats.org/officeDocument/2006/relationships/hyperlink" Target="https://github.com/gilbutITbook/080493/tree/main/Code_Vulnerability" TargetMode="External" Id="R7e9039a5d27d4485" /><Relationship Type="http://schemas.openxmlformats.org/officeDocument/2006/relationships/notesSlide" Target="/ppt/notesSlides/notesSlide4.xml" Id="Rad24ee8f92cd49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9b63c8b51a4c5c" /><Relationship Type="http://schemas.openxmlformats.org/officeDocument/2006/relationships/image" Target="/ppt/media/image.jpeg" Id="R708e98a806274486" /><Relationship Type="http://schemas.openxmlformats.org/officeDocument/2006/relationships/notesSlide" Target="/ppt/notesSlides/notesSlide5.xml" Id="Rec09971d4d9547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da92995437445f" /><Relationship Type="http://schemas.openxmlformats.org/officeDocument/2006/relationships/image" Target="/ppt/media/image.jpeg" Id="R607acd088c5a4859" /><Relationship Type="http://schemas.openxmlformats.org/officeDocument/2006/relationships/image" Target="/ppt/media/image6.png" Id="R226ead09b6c94711" /><Relationship Type="http://schemas.openxmlformats.org/officeDocument/2006/relationships/image" Target="/ppt/media/image7.png" Id="Rc3ba1ba74a874453" /><Relationship Type="http://schemas.openxmlformats.org/officeDocument/2006/relationships/image" Target="/ppt/media/image8.png" Id="Re0c92cb173dc4779" /><Relationship Type="http://schemas.openxmlformats.org/officeDocument/2006/relationships/image" Target="/ppt/media/image9.png" Id="R3d8e7ba2a9034b78" /><Relationship Type="http://schemas.openxmlformats.org/officeDocument/2006/relationships/notesSlide" Target="/ppt/notesSlides/notesSlide6.xml" Id="Rd6fdde5a343a42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C4F1BCC-7DCF-4C46-94AD-310238D9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38863" y="-9525"/>
            <a:ext cx="6058662" cy="10306050"/>
          </a:xfrm>
          <a:custGeom xmlns:a="http://schemas.openxmlformats.org/drawingml/2006/main">
            <a:rect l="l" t="t" r="r" b="b"/>
            <a:pathLst>
              <a:path w="8078216" h="13741400">
                <a:moveTo>
                  <a:pt x="0" y="0"/>
                </a:moveTo>
                <a:lnTo>
                  <a:pt x="8078216" y="0"/>
                </a:lnTo>
                <a:lnTo>
                  <a:pt x="8078216" y="13741400"/>
                </a:lnTo>
                <a:lnTo>
                  <a:pt x="0" y="13741400"/>
                </a:lnTo>
                <a:close/>
              </a:path>
            </a:pathLst>
          </a:custGeom>
          <a:solidFill xmlns:a="http://schemas.openxmlformats.org/drawingml/2006/main">
            <a:srgbClr val="162B43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028B1DD-041F-41D6-855A-8361D173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905256"/>
            <a:ext cx="10424160" cy="516318"/>
          </a:xfrm>
          <a:custGeom xmlns:a="http://schemas.openxmlformats.org/drawingml/2006/main">
            <a:rect l="l" t="t" r="r" b="b"/>
            <a:pathLst>
              <a:path w="13898880" h="688424">
                <a:moveTo>
                  <a:pt x="0" y="0"/>
                </a:moveTo>
                <a:lnTo>
                  <a:pt x="13898880" y="0"/>
                </a:lnTo>
                <a:lnTo>
                  <a:pt x="13898880" y="688424"/>
                </a:lnTo>
                <a:lnTo>
                  <a:pt x="0" y="68842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3ae1a252b248b4">
              <a:alphaModFix amt="0"/>
            </a:blip>
            <a:stretch>
              <a:fillRect l="0" t="-360185" r="0" b="-326597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925BD4E-2486-4E12-A103-38E5BC71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890969"/>
            <a:ext cx="10424160" cy="530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49"/>
              </a:lnSpc>
              <a:buNone/>
            </a:pPr>
            <a:r>
              <a:rPr sz="1889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목재 물리학</a:t>
            </a:r>
            <a:r>
              <a:rPr sz="1889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|  시스템 개발  |  LLM  | AutoML 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5B66852-FA23-4EBE-B4CB-558FF984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40" y="1740791"/>
            <a:ext cx="554174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859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21E24118-1723-428B-B1E0-62DF527F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120" y="2510028"/>
            <a:ext cx="10835640" cy="1941520"/>
          </a:xfrm>
          <a:custGeom xmlns:a="http://schemas.openxmlformats.org/drawingml/2006/main">
            <a:rect l="l" t="t" r="r" b="b"/>
            <a:pathLst>
              <a:path w="14447520" h="2588695">
                <a:moveTo>
                  <a:pt x="0" y="0"/>
                </a:moveTo>
                <a:lnTo>
                  <a:pt x="14447520" y="0"/>
                </a:lnTo>
                <a:lnTo>
                  <a:pt x="14447520" y="2588695"/>
                </a:lnTo>
                <a:lnTo>
                  <a:pt x="0" y="258869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3ae1a252b248b4">
              <a:alphaModFix amt="0"/>
            </a:blip>
            <a:stretch>
              <a:fillRect l="0" t="-77662" r="0" b="-39830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0C697CCC-FD19-4FAD-9A42-7DEED214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120" y="2467166"/>
            <a:ext cx="10835640" cy="19843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9136"/>
              </a:lnSpc>
              <a:buNone/>
            </a:pPr>
            <a:r>
              <a:rPr sz="7050" spc="2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포트폴리오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158A60B-FAA0-4485-9B1D-2592D95A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132" y="4059936"/>
            <a:ext cx="9052560" cy="644652"/>
          </a:xfrm>
          <a:custGeom xmlns:a="http://schemas.openxmlformats.org/drawingml/2006/main">
            <a:rect l="l" t="t" r="r" b="b"/>
            <a:pathLst>
              <a:path w="12070080" h="859536">
                <a:moveTo>
                  <a:pt x="0" y="0"/>
                </a:moveTo>
                <a:lnTo>
                  <a:pt x="12070080" y="0"/>
                </a:lnTo>
                <a:lnTo>
                  <a:pt x="12070080" y="859536"/>
                </a:lnTo>
                <a:lnTo>
                  <a:pt x="0" y="8595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3ae1a252b248b4">
              <a:alphaModFix amt="0"/>
            </a:blip>
            <a:stretch>
              <a:fillRect l="0" t="-223619" r="0" b="-223619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B1C2CF0-9913-4EF0-BE5F-784B6EBA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132" y="4031361"/>
            <a:ext cx="9052560" cy="673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860"/>
              </a:lnSpc>
              <a:buNone/>
            </a:pPr>
            <a:r>
              <a:rPr sz="3750" spc="14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이정민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F1D4F6F-5C95-483B-8271-72486900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9848" y="5678424"/>
            <a:ext cx="10081260" cy="1591056"/>
          </a:xfrm>
          <a:custGeom xmlns:a="http://schemas.openxmlformats.org/drawingml/2006/main">
            <a:rect l="l" t="t" r="r" b="b"/>
            <a:pathLst>
              <a:path w="13441680" h="2121408">
                <a:moveTo>
                  <a:pt x="0" y="0"/>
                </a:moveTo>
                <a:lnTo>
                  <a:pt x="13441680" y="0"/>
                </a:lnTo>
                <a:lnTo>
                  <a:pt x="13441680" y="2121408"/>
                </a:lnTo>
                <a:lnTo>
                  <a:pt x="0" y="212140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3ae1a252b248b4">
              <a:alphaModFix amt="0"/>
            </a:blip>
            <a:stretch>
              <a:fillRect l="0" t="-73461" r="0" b="-73461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34A95596-9C6B-4AD7-B663-388BEF61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9848" y="5628418"/>
            <a:ext cx="10081260" cy="1641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5011"/>
              </a:lnSpc>
              <a:buNone/>
            </a:pPr>
            <a:r>
              <a:rPr sz="3600" spc="13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실험 데이터 분석에서</a:t>
            </a:r>
          </a:p>
          <a:p xmlns:a="http://schemas.openxmlformats.org/drawingml/2006/main">
            <a:pPr algn="l">
              <a:lnSpc>
                <a:spcPts val="5011"/>
              </a:lnSpc>
              <a:buNone/>
            </a:pPr>
            <a:r>
              <a:rPr sz="3600" spc="13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로컬 LLM 개발·검증까지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140E426-1598-4263-A283-E6A81489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3564" y="8778240"/>
            <a:ext cx="10012679" cy="397764"/>
          </a:xfrm>
          <a:custGeom xmlns:a="http://schemas.openxmlformats.org/drawingml/2006/main">
            <a:rect l="l" t="t" r="r" b="b"/>
            <a:pathLst>
              <a:path w="13350239" h="530352">
                <a:moveTo>
                  <a:pt x="0" y="0"/>
                </a:moveTo>
                <a:lnTo>
                  <a:pt x="13350239" y="0"/>
                </a:lnTo>
                <a:lnTo>
                  <a:pt x="13350239" y="530352"/>
                </a:lnTo>
                <a:lnTo>
                  <a:pt x="0" y="53035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3ae1a252b248b4">
              <a:alphaModFix amt="0"/>
            </a:blip>
            <a:stretch>
              <a:fillRect l="0" t="-440485" r="0" b="-440485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A1CFCA7-9D5B-4253-BB37-AEB8E7B2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3564" y="8763953"/>
            <a:ext cx="10012680" cy="4120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799"/>
              </a:lnSpc>
              <a:buNone/>
            </a:pPr>
            <a:r>
              <a:rPr sz="2160" spc="8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임산공학 · 목재 물리학 석사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8B47BFC5-4FEC-4B92-9C03-13FE9C48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3564" y="9354312"/>
            <a:ext cx="10012679" cy="467599"/>
          </a:xfrm>
          <a:custGeom xmlns:a="http://schemas.openxmlformats.org/drawingml/2006/main">
            <a:rect l="l" t="t" r="r" b="b"/>
            <a:pathLst>
              <a:path w="13350239" h="623465">
                <a:moveTo>
                  <a:pt x="0" y="0"/>
                </a:moveTo>
                <a:lnTo>
                  <a:pt x="13350239" y="0"/>
                </a:lnTo>
                <a:lnTo>
                  <a:pt x="13350239" y="623465"/>
                </a:lnTo>
                <a:lnTo>
                  <a:pt x="0" y="62346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3ae1a252b248b4">
              <a:alphaModFix amt="0"/>
            </a:blip>
            <a:stretch>
              <a:fillRect l="0" t="-384966" r="0" b="-349498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F909244-8507-4E9B-B10A-16F4A103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3564" y="9340025"/>
            <a:ext cx="10012680" cy="481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16"/>
              </a:lnSpc>
              <a:buNone/>
            </a:pPr>
            <a:r>
              <a:rPr sz="171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연구 · 시스템 구현 · 모델 개선, 프레임워크 개발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6C394ABD-E786-4FA9-B798-0B998006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0200" y="946404"/>
            <a:ext cx="4457700" cy="1110996"/>
          </a:xfrm>
          <a:custGeom xmlns:a="http://schemas.openxmlformats.org/drawingml/2006/main">
            <a:rect l="l" t="t" r="r" b="b"/>
            <a:pathLst>
              <a:path w="5943600" h="1481328">
                <a:moveTo>
                  <a:pt x="0" y="0"/>
                </a:moveTo>
                <a:lnTo>
                  <a:pt x="5943600" y="0"/>
                </a:lnTo>
                <a:lnTo>
                  <a:pt x="5943600" y="1481328"/>
                </a:lnTo>
                <a:lnTo>
                  <a:pt x="0" y="148132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3ae1a252b248b4">
              <a:alphaModFix amt="0"/>
            </a:blip>
            <a:stretch>
              <a:fillRect l="0" t="-28180" r="0" b="-28180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AA26DFE3-D165-4204-BE5E-62CCE1B0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0200" y="932117"/>
            <a:ext cx="4457700" cy="1125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817"/>
              </a:lnSpc>
              <a:buNone/>
            </a:pPr>
            <a:r>
              <a:rPr sz="3029" spc="11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RESEARCH &amp;</a:t>
            </a:r>
          </a:p>
          <a:p xmlns:a="http://schemas.openxmlformats.org/drawingml/2006/main">
            <a:pPr algn="l">
              <a:lnSpc>
                <a:spcPts val="3817"/>
              </a:lnSpc>
              <a:buNone/>
            </a:pPr>
            <a:r>
              <a:rPr sz="3029" spc="11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ENGINEERING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50C015A5-7E67-4E48-B043-1A9E110D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2166180"/>
            <a:ext cx="3977640" cy="836639"/>
          </a:xfrm>
          <a:custGeom xmlns:a="http://schemas.openxmlformats.org/drawingml/2006/main">
            <a:rect l="l" t="t" r="r" b="b"/>
            <a:pathLst>
              <a:path w="5303520" h="1115519">
                <a:moveTo>
                  <a:pt x="0" y="0"/>
                </a:moveTo>
                <a:lnTo>
                  <a:pt x="5303520" y="0"/>
                </a:lnTo>
                <a:lnTo>
                  <a:pt x="5303520" y="1115519"/>
                </a:lnTo>
                <a:lnTo>
                  <a:pt x="0" y="111551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3ae1a252b248b4">
              <a:alphaModFix amt="0"/>
            </a:blip>
            <a:stretch>
              <a:fillRect l="0" t="-63128" r="0" b="-22147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0FB81272-4C16-41AD-A7B4-EA5E2214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2144749"/>
            <a:ext cx="3977640" cy="858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52"/>
              </a:lnSpc>
              <a:buNone/>
            </a:pPr>
            <a:r>
              <a:rPr sz="3050" spc="11">
                <a:solidFill>
                  <a:srgbClr val="C8D7E6"/>
                </a:solidFill>
                <a:latin typeface="Mandali"/>
                <a:ea typeface="Mandali"/>
                <a:cs typeface="Mandali"/>
              </a:rPr>
              <a:t>01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79BB556B-0B4B-4AE2-9CB6-1F1DB743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2778080"/>
            <a:ext cx="4457700" cy="705041"/>
          </a:xfrm>
          <a:custGeom xmlns:a="http://schemas.openxmlformats.org/drawingml/2006/main">
            <a:rect l="l" t="t" r="r" b="b"/>
            <a:pathLst>
              <a:path w="5943600" h="940055">
                <a:moveTo>
                  <a:pt x="0" y="0"/>
                </a:moveTo>
                <a:lnTo>
                  <a:pt x="5943600" y="0"/>
                </a:lnTo>
                <a:lnTo>
                  <a:pt x="5943600" y="940055"/>
                </a:lnTo>
                <a:lnTo>
                  <a:pt x="0" y="94005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3ae1a252b248b4">
              <a:alphaModFix amt="0"/>
            </a:blip>
            <a:stretch>
              <a:fillRect l="0" t="-91096" r="0" b="-55295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D8BC14B1-88BB-4EB7-8378-09F3DFA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2763793"/>
            <a:ext cx="4457700" cy="7193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555" spc="9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목재 물리학 연구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085DF5FA-8A50-4E91-88AF-A5D9038A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3398309"/>
            <a:ext cx="4457700" cy="451917"/>
          </a:xfrm>
          <a:custGeom xmlns:a="http://schemas.openxmlformats.org/drawingml/2006/main">
            <a:rect l="l" t="t" r="r" b="b"/>
            <a:pathLst>
              <a:path w="5943600" h="602558">
                <a:moveTo>
                  <a:pt x="0" y="0"/>
                </a:moveTo>
                <a:lnTo>
                  <a:pt x="5943600" y="0"/>
                </a:lnTo>
                <a:lnTo>
                  <a:pt x="5943600" y="602558"/>
                </a:lnTo>
                <a:lnTo>
                  <a:pt x="0" y="60255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3ae1a252b248b4">
              <a:alphaModFix amt="0"/>
            </a:blip>
            <a:stretch>
              <a:fillRect l="0" t="-155778" r="0" b="-128620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EECFC4B-9800-4F61-8FAC-0DA95870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3384022"/>
            <a:ext cx="4457700" cy="466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44"/>
              </a:lnSpc>
              <a:buNone/>
            </a:pPr>
            <a:r>
              <a:rPr sz="1655" spc="6">
                <a:solidFill>
                  <a:srgbClr val="C8D7E6"/>
                </a:solidFill>
                <a:latin typeface="Mandali"/>
                <a:ea typeface="Mandali"/>
                <a:cs typeface="Mandali"/>
              </a:rPr>
              <a:t>수분 분포 · 회귀분석</a:t>
            </a:r>
          </a:p>
        </p:txBody>
      </p:sp>
      <p:sp>
        <p:nvSpPr>
          <p:cNvPr id="35" name="AutoShape 35">
            <a:extLst xmlns:a="http://schemas.openxmlformats.org/drawingml/2006/main">
              <a:ext uri="{FF2B5EF4-FFF2-40B4-BE49-F238E27FC236}">
                <a16:creationId xmlns:a16="http://schemas.microsoft.com/office/drawing/2014/main" id="{750E130F-8383-451A-B76F-AF8004BD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6018" y="3818936"/>
            <a:ext cx="4457318" cy="1247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4C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FB04E64F-06BB-484D-9934-832EC0A9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4017331"/>
            <a:ext cx="3977640" cy="836639"/>
          </a:xfrm>
          <a:custGeom xmlns:a="http://schemas.openxmlformats.org/drawingml/2006/main">
            <a:rect l="l" t="t" r="r" b="b"/>
            <a:pathLst>
              <a:path w="5303520" h="1115519">
                <a:moveTo>
                  <a:pt x="0" y="0"/>
                </a:moveTo>
                <a:lnTo>
                  <a:pt x="5303520" y="0"/>
                </a:lnTo>
                <a:lnTo>
                  <a:pt x="5303520" y="1115519"/>
                </a:lnTo>
                <a:lnTo>
                  <a:pt x="0" y="111551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3ae1a252b248b4">
              <a:alphaModFix amt="0"/>
            </a:blip>
            <a:stretch>
              <a:fillRect l="0" t="-63128" r="0" b="-22147"/>
            </a:stretch>
          </a:blipFill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2BCDC801-129A-4ECD-A683-6B2C7D45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3995900"/>
            <a:ext cx="3977640" cy="858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52"/>
              </a:lnSpc>
              <a:buNone/>
            </a:pPr>
            <a:r>
              <a:rPr sz="3050" spc="11">
                <a:solidFill>
                  <a:srgbClr val="C8D7E6"/>
                </a:solidFill>
                <a:latin typeface="Mandali"/>
                <a:ea typeface="Mandali"/>
                <a:cs typeface="Mandali"/>
              </a:rPr>
              <a:t>02</a:t>
            </a: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4DF37EC4-9155-4E06-B48D-56581058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4681421"/>
            <a:ext cx="4457700" cy="705041"/>
          </a:xfrm>
          <a:custGeom xmlns:a="http://schemas.openxmlformats.org/drawingml/2006/main">
            <a:rect l="l" t="t" r="r" b="b"/>
            <a:pathLst>
              <a:path w="5943600" h="940055">
                <a:moveTo>
                  <a:pt x="0" y="0"/>
                </a:moveTo>
                <a:lnTo>
                  <a:pt x="5943600" y="0"/>
                </a:lnTo>
                <a:lnTo>
                  <a:pt x="5943600" y="940055"/>
                </a:lnTo>
                <a:lnTo>
                  <a:pt x="0" y="94005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3ae1a252b248b4">
              <a:alphaModFix amt="0"/>
            </a:blip>
            <a:stretch>
              <a:fillRect l="0" t="-91096" r="0" b="-55295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686EB5EC-9533-40A2-8407-A8057C3D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4667134"/>
            <a:ext cx="4457700" cy="7193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555" spc="9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로컬 LLM 시스템</a:t>
            </a:r>
          </a:p>
        </p:txBody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269CFB6D-DC15-4B0B-8DA8-1EDE7DF5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5301650"/>
            <a:ext cx="4457700" cy="451917"/>
          </a:xfrm>
          <a:custGeom xmlns:a="http://schemas.openxmlformats.org/drawingml/2006/main">
            <a:rect l="l" t="t" r="r" b="b"/>
            <a:pathLst>
              <a:path w="5943600" h="602558">
                <a:moveTo>
                  <a:pt x="0" y="0"/>
                </a:moveTo>
                <a:lnTo>
                  <a:pt x="5943600" y="0"/>
                </a:lnTo>
                <a:lnTo>
                  <a:pt x="5943600" y="602558"/>
                </a:lnTo>
                <a:lnTo>
                  <a:pt x="0" y="60255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3ae1a252b248b4">
              <a:alphaModFix amt="0"/>
            </a:blip>
            <a:stretch>
              <a:fillRect l="0" t="-155778" r="0" b="-128620"/>
            </a:stretch>
          </a:blipFill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0E463366-FC08-4A07-882E-24AB3A1E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5287363"/>
            <a:ext cx="4457700" cy="466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44"/>
              </a:lnSpc>
              <a:buNone/>
            </a:pPr>
            <a:r>
              <a:rPr sz="1655" spc="6">
                <a:solidFill>
                  <a:srgbClr val="C8D7E6"/>
                </a:solidFill>
                <a:latin typeface="Mandali"/>
                <a:ea typeface="Mandali"/>
                <a:cs typeface="Mandali"/>
              </a:rPr>
              <a:t>악성 코드 분석 · 프로토타입</a:t>
            </a:r>
          </a:p>
        </p:txBody>
      </p:sp>
      <p:sp>
        <p:nvSpPr>
          <p:cNvPr id="45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85465925-2783-48A7-8E3A-54EDECE6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6018" y="5722276"/>
            <a:ext cx="4457318" cy="1247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4C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6B57420E-DFFD-4AC7-9D68-F29C1444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5920672"/>
            <a:ext cx="3977640" cy="836639"/>
          </a:xfrm>
          <a:custGeom xmlns:a="http://schemas.openxmlformats.org/drawingml/2006/main">
            <a:rect l="l" t="t" r="r" b="b"/>
            <a:pathLst>
              <a:path w="5303520" h="1115519">
                <a:moveTo>
                  <a:pt x="0" y="0"/>
                </a:moveTo>
                <a:lnTo>
                  <a:pt x="5303520" y="0"/>
                </a:lnTo>
                <a:lnTo>
                  <a:pt x="5303520" y="1115519"/>
                </a:lnTo>
                <a:lnTo>
                  <a:pt x="0" y="111551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3ae1a252b248b4">
              <a:alphaModFix amt="0"/>
            </a:blip>
            <a:stretch>
              <a:fillRect l="0" t="-63128" r="0" b="-22147"/>
            </a:stretch>
          </a:blip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B02B97AB-6FAF-45EC-AD68-DCA99D31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5899241"/>
            <a:ext cx="3977640" cy="858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52"/>
              </a:lnSpc>
              <a:buNone/>
            </a:pPr>
            <a:r>
              <a:rPr sz="3050" spc="11">
                <a:solidFill>
                  <a:srgbClr val="C8D7E6"/>
                </a:solidFill>
                <a:latin typeface="Mandali"/>
                <a:ea typeface="Mandali"/>
                <a:cs typeface="Mandali"/>
              </a:rPr>
              <a:t>03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4C693699-2CCA-4221-86CD-4989E28A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6584761"/>
            <a:ext cx="4457700" cy="705041"/>
          </a:xfrm>
          <a:custGeom xmlns:a="http://schemas.openxmlformats.org/drawingml/2006/main">
            <a:rect l="l" t="t" r="r" b="b"/>
            <a:pathLst>
              <a:path w="5943600" h="940055">
                <a:moveTo>
                  <a:pt x="0" y="0"/>
                </a:moveTo>
                <a:lnTo>
                  <a:pt x="5943600" y="0"/>
                </a:lnTo>
                <a:lnTo>
                  <a:pt x="5943600" y="940055"/>
                </a:lnTo>
                <a:lnTo>
                  <a:pt x="0" y="94005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3ae1a252b248b4">
              <a:alphaModFix amt="0"/>
            </a:blip>
            <a:stretch>
              <a:fillRect l="0" t="-91096" r="0" b="-55295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D4583A92-7E7B-43DB-A06C-3AAD0781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6570474"/>
            <a:ext cx="4457700" cy="7193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555" spc="9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보안 LLM 파인튜닝</a:t>
            </a:r>
          </a:p>
        </p:txBody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E641FEF6-B3B6-4E46-A4DC-851D7EFB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7204990"/>
            <a:ext cx="4457700" cy="451917"/>
          </a:xfrm>
          <a:custGeom xmlns:a="http://schemas.openxmlformats.org/drawingml/2006/main">
            <a:rect l="l" t="t" r="r" b="b"/>
            <a:pathLst>
              <a:path w="5943600" h="602558">
                <a:moveTo>
                  <a:pt x="0" y="0"/>
                </a:moveTo>
                <a:lnTo>
                  <a:pt x="5943600" y="0"/>
                </a:lnTo>
                <a:lnTo>
                  <a:pt x="5943600" y="602558"/>
                </a:lnTo>
                <a:lnTo>
                  <a:pt x="0" y="60255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3ae1a252b248b4">
              <a:alphaModFix amt="0"/>
            </a:blip>
            <a:stretch>
              <a:fillRect l="0" t="-155778" r="0" b="-128620"/>
            </a:stretch>
          </a:blipFill>
        </p:spPr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4EBE21EE-2553-43B2-BA76-A7C4281D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7190703"/>
            <a:ext cx="4457700" cy="466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44"/>
              </a:lnSpc>
              <a:buNone/>
            </a:pPr>
            <a:r>
              <a:rPr sz="1655" spc="6">
                <a:solidFill>
                  <a:srgbClr val="C8D7E6"/>
                </a:solidFill>
                <a:latin typeface="Mandali"/>
                <a:ea typeface="Mandali"/>
                <a:cs typeface="Mandali"/>
              </a:rPr>
              <a:t>실험 평가 · 데이터 재설계</a:t>
            </a:r>
          </a:p>
        </p:txBody>
      </p:sp>
      <p:sp>
        <p:nvSpPr>
          <p:cNvPr id="55" name="AutoShape 55">
            <a:extLst xmlns:a="http://schemas.openxmlformats.org/drawingml/2006/main">
              <a:ext uri="{FF2B5EF4-FFF2-40B4-BE49-F238E27FC236}">
                <a16:creationId xmlns:a16="http://schemas.microsoft.com/office/drawing/2014/main" id="{E7B292D9-764A-4016-A9A3-BA2A750E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2699" y="7817443"/>
            <a:ext cx="4457318" cy="1247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4C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46D56B69-F596-4CE4-BAD7-A27303DF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9366" y="8015839"/>
            <a:ext cx="3977640" cy="836639"/>
          </a:xfrm>
          <a:custGeom xmlns:a="http://schemas.openxmlformats.org/drawingml/2006/main">
            <a:rect l="l" t="t" r="r" b="b"/>
            <a:pathLst>
              <a:path w="5303520" h="1115519">
                <a:moveTo>
                  <a:pt x="0" y="0"/>
                </a:moveTo>
                <a:lnTo>
                  <a:pt x="5303520" y="0"/>
                </a:lnTo>
                <a:lnTo>
                  <a:pt x="5303520" y="1115519"/>
                </a:lnTo>
                <a:lnTo>
                  <a:pt x="0" y="111551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3ae1a252b248b4">
              <a:alphaModFix amt="0"/>
            </a:blip>
            <a:stretch>
              <a:fillRect l="0" t="-63128" r="0" b="-22147"/>
            </a:stretch>
          </a:blipFill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381466EB-DF1C-49D0-B67B-3D5BF79B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9366" y="7994408"/>
            <a:ext cx="3977640" cy="858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52"/>
              </a:lnSpc>
              <a:buNone/>
            </a:pPr>
            <a:r>
              <a:rPr sz="3050" spc="11">
                <a:solidFill>
                  <a:srgbClr val="C8D7E6"/>
                </a:solidFill>
                <a:latin typeface="Mandali"/>
                <a:ea typeface="Mandali"/>
                <a:cs typeface="Mandali"/>
              </a:rPr>
              <a:t>04</a:t>
            </a:r>
          </a:p>
        </p:txBody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626E0409-ADFA-4E04-8C11-4FD94250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9366" y="8679929"/>
            <a:ext cx="4457700" cy="705041"/>
          </a:xfrm>
          <a:custGeom xmlns:a="http://schemas.openxmlformats.org/drawingml/2006/main">
            <a:rect l="l" t="t" r="r" b="b"/>
            <a:pathLst>
              <a:path w="5943600" h="940055">
                <a:moveTo>
                  <a:pt x="0" y="0"/>
                </a:moveTo>
                <a:lnTo>
                  <a:pt x="5943600" y="0"/>
                </a:lnTo>
                <a:lnTo>
                  <a:pt x="5943600" y="940055"/>
                </a:lnTo>
                <a:lnTo>
                  <a:pt x="0" y="94005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3ae1a252b248b4">
              <a:alphaModFix amt="0"/>
            </a:blip>
            <a:stretch>
              <a:fillRect l="0" t="-91096" r="0" b="-55295"/>
            </a:stretch>
          </a:blipFill>
        </p:spPr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3AF4D2E7-CF13-4940-9F09-3D785DF7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9366" y="8665642"/>
            <a:ext cx="4457700" cy="7193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555" spc="9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GUAM</a:t>
            </a:r>
          </a:p>
        </p:txBody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779B5EB3-4E39-42BB-8906-0975290E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9366" y="9300158"/>
            <a:ext cx="4457700" cy="451917"/>
          </a:xfrm>
          <a:custGeom xmlns:a="http://schemas.openxmlformats.org/drawingml/2006/main">
            <a:rect l="l" t="t" r="r" b="b"/>
            <a:pathLst>
              <a:path w="5943600" h="602558">
                <a:moveTo>
                  <a:pt x="0" y="0"/>
                </a:moveTo>
                <a:lnTo>
                  <a:pt x="5943600" y="0"/>
                </a:lnTo>
                <a:lnTo>
                  <a:pt x="5943600" y="602558"/>
                </a:lnTo>
                <a:lnTo>
                  <a:pt x="0" y="60255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3ae1a252b248b4">
              <a:alphaModFix amt="0"/>
            </a:blip>
            <a:stretch>
              <a:fillRect l="0" t="-155778" r="0" b="-128620"/>
            </a:stretch>
          </a:blipFill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647E604F-3266-46A7-9068-53978E9D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9366" y="9285871"/>
            <a:ext cx="4457700" cy="466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44"/>
              </a:lnSpc>
              <a:buNone/>
            </a:pPr>
            <a:r>
              <a:rPr sz="1655" spc="6">
                <a:solidFill>
                  <a:srgbClr val="C8D7E6"/>
                </a:solidFill>
                <a:latin typeface="Mandali"/>
                <a:ea typeface="Mandali"/>
                <a:cs typeface="Mandali"/>
              </a:rPr>
              <a:t>모듈 구현, 문서 최신화, 테스트</a:t>
            </a:r>
          </a:p>
        </p:txBody>
      </p:sp>
    </p:spTree>
    <p:extLst>
      <p:ext uri="{BB962C8B-B14F-4D97-AF65-F5344CB8AC3E}">
        <p14:creationId xmlns:p14="http://schemas.microsoft.com/office/powerpoint/2010/main" val="57959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8477BF8-A2BC-49BA-BCC4-4350B4D1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93776"/>
            <a:ext cx="16596360" cy="301752"/>
          </a:xfrm>
          <a:custGeom xmlns:a="http://schemas.openxmlformats.org/drawingml/2006/main">
            <a:rect l="l" t="t" r="r" b="b"/>
            <a:pathLst>
              <a:path w="22128480" h="402336">
                <a:moveTo>
                  <a:pt x="0" y="0"/>
                </a:moveTo>
                <a:lnTo>
                  <a:pt x="22128480" y="0"/>
                </a:lnTo>
                <a:lnTo>
                  <a:pt x="22128480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1021677" r="0" b="-1021677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28482DD-58A3-4747-9015-EAA4A75C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86633"/>
            <a:ext cx="16596360" cy="308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99"/>
              </a:lnSpc>
              <a:buNone/>
            </a:pPr>
            <a:r>
              <a:rPr sz="1620" spc="12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01  /  PROFILE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FE922A89-B7FC-42A8-A773-310CC139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124712"/>
            <a:ext cx="16596360" cy="685800"/>
          </a:xfrm>
          <a:custGeom xmlns:a="http://schemas.openxmlformats.org/drawingml/2006/main">
            <a:rect l="l" t="t" r="r" b="b"/>
            <a:pathLst>
              <a:path w="22128480" h="914400">
                <a:moveTo>
                  <a:pt x="0" y="0"/>
                </a:moveTo>
                <a:lnTo>
                  <a:pt x="22128480" y="0"/>
                </a:lnTo>
                <a:lnTo>
                  <a:pt x="22128480" y="914400"/>
                </a:lnTo>
                <a:lnTo>
                  <a:pt x="0" y="914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421537" r="0" b="-421537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44C08F7-A4F5-4C76-ABA6-287E1753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096137"/>
            <a:ext cx="1659636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5248"/>
              </a:lnSpc>
              <a:buNone/>
            </a:pPr>
            <a:r>
              <a:rPr sz="4050" spc="15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연구 경험을 AI 시스템 개발로 연결합니다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95268C40-7496-498F-B3ED-4E6EE0DD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20240"/>
            <a:ext cx="16459200" cy="411480"/>
          </a:xfrm>
          <a:custGeom xmlns:a="http://schemas.openxmlformats.org/drawingml/2006/main">
            <a:rect l="l" t="t" r="r" b="b"/>
            <a:pathLst>
              <a:path w="21945600" h="548640">
                <a:moveTo>
                  <a:pt x="0" y="0"/>
                </a:moveTo>
                <a:lnTo>
                  <a:pt x="21945600" y="0"/>
                </a:lnTo>
                <a:lnTo>
                  <a:pt x="2194560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729401" r="0" b="-729401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A167309-E9E2-41A2-93C0-03DF52F8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13097"/>
            <a:ext cx="16459200" cy="418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88"/>
              </a:lnSpc>
              <a:buNone/>
            </a:pPr>
            <a:r>
              <a:rPr sz="1920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실험 데이터의 해석, 분석 시스템 구현, 데이터·모델 개선으로 이어지는 경험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5E10F99C-921F-4CD2-B375-E55E0834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3435" y="2692527"/>
            <a:ext cx="5217414" cy="6698742"/>
          </a:xfrm>
          <a:custGeom xmlns:a="http://schemas.openxmlformats.org/drawingml/2006/main">
            <a:rect l="l" t="t" r="r" b="b"/>
            <a:pathLst>
              <a:path w="6956552" h="8931656">
                <a:moveTo>
                  <a:pt x="0" y="0"/>
                </a:moveTo>
                <a:lnTo>
                  <a:pt x="6956552" y="0"/>
                </a:lnTo>
                <a:lnTo>
                  <a:pt x="6956552" y="8931656"/>
                </a:lnTo>
                <a:lnTo>
                  <a:pt x="0" y="8931656"/>
                </a:lnTo>
                <a:close/>
              </a:path>
            </a:pathLst>
          </a:custGeom>
          <a:solidFill xmlns:a="http://schemas.openxmlformats.org/drawingml/2006/main">
            <a:srgbClr val="F0F3F6"/>
          </a:solid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7A32CBCC-94FE-4EDC-BC28-07850785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8327" y="3044952"/>
            <a:ext cx="1490091" cy="1988820"/>
          </a:xfrm>
          <a:custGeom xmlns:a="http://schemas.openxmlformats.org/drawingml/2006/main">
            <a:rect l="l" t="t" r="r" b="b"/>
            <a:pathLst>
              <a:path w="1986788" h="2651760">
                <a:moveTo>
                  <a:pt x="0" y="0"/>
                </a:moveTo>
                <a:lnTo>
                  <a:pt x="1986788" y="0"/>
                </a:lnTo>
                <a:lnTo>
                  <a:pt x="1986788" y="2651760"/>
                </a:lnTo>
                <a:lnTo>
                  <a:pt x="0" y="26517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f43511f00cb49cb"/>
            <a:stretch>
              <a:fillRect l="0" t="0" r="-1" b="0"/>
            </a:stretch>
          </a:blip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AE75A64-413F-40EC-A42D-BCFE5ACD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7792" y="3236976"/>
            <a:ext cx="2729484" cy="534924"/>
          </a:xfrm>
          <a:custGeom xmlns:a="http://schemas.openxmlformats.org/drawingml/2006/main">
            <a:rect l="l" t="t" r="r" b="b"/>
            <a:pathLst>
              <a:path w="3639312" h="713232">
                <a:moveTo>
                  <a:pt x="0" y="0"/>
                </a:moveTo>
                <a:lnTo>
                  <a:pt x="3639312" y="0"/>
                </a:lnTo>
                <a:lnTo>
                  <a:pt x="3639312" y="713232"/>
                </a:lnTo>
                <a:lnTo>
                  <a:pt x="0" y="713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49423" r="0" b="-49423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90C21EC-ACD0-454F-891E-ED9E889E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7792" y="3215545"/>
            <a:ext cx="2729484" cy="5563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74"/>
              </a:lnSpc>
              <a:buNone/>
            </a:pPr>
            <a:r>
              <a:rPr sz="3375" spc="13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이정민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0913870-81BA-4322-90AF-DDD1AE4B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1508" y="4005072"/>
            <a:ext cx="2688336" cy="795528"/>
          </a:xfrm>
          <a:custGeom xmlns:a="http://schemas.openxmlformats.org/drawingml/2006/main">
            <a:rect l="l" t="t" r="r" b="b"/>
            <a:pathLst>
              <a:path w="3584448" h="1060704">
                <a:moveTo>
                  <a:pt x="0" y="0"/>
                </a:moveTo>
                <a:lnTo>
                  <a:pt x="3584448" y="0"/>
                </a:lnTo>
                <a:lnTo>
                  <a:pt x="3584448" y="1060704"/>
                </a:lnTo>
                <a:lnTo>
                  <a:pt x="0" y="106070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15845" r="0" b="-15845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E7A2D71E-5D05-454D-8E14-BCB7CCAB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1508" y="3983641"/>
            <a:ext cx="2688336" cy="8169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860"/>
              </a:lnSpc>
              <a:buNone/>
            </a:pPr>
            <a:r>
              <a:rPr sz="2054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임산공학 석사</a:t>
            </a:r>
          </a:p>
          <a:p xmlns:a="http://schemas.openxmlformats.org/drawingml/2006/main">
            <a:pPr algn="l">
              <a:lnSpc>
                <a:spcPts val="2860"/>
              </a:lnSpc>
              <a:buNone/>
            </a:pPr>
            <a:r>
              <a:rPr sz="2054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목재 물리학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4757DE09-63FF-4CDA-8168-11B47604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760">
            <a:off x="1185662" y="5399342"/>
            <a:ext cx="444553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7CD07EE0-1CF5-4A19-B666-78C81C82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5692140"/>
            <a:ext cx="4306824" cy="329184"/>
          </a:xfrm>
          <a:custGeom xmlns:a="http://schemas.openxmlformats.org/drawingml/2006/main">
            <a:rect l="l" t="t" r="r" b="b"/>
            <a:pathLst>
              <a:path w="5742432" h="438912">
                <a:moveTo>
                  <a:pt x="0" y="0"/>
                </a:moveTo>
                <a:lnTo>
                  <a:pt x="5742432" y="0"/>
                </a:lnTo>
                <a:lnTo>
                  <a:pt x="5742432" y="438912"/>
                </a:lnTo>
                <a:lnTo>
                  <a:pt x="0" y="4389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204929" r="0" b="-204929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3CF28EC9-C790-4181-AC33-1A1138E7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5677853"/>
            <a:ext cx="4306824" cy="3434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16"/>
              </a:lnSpc>
              <a:buNone/>
            </a:pPr>
            <a:r>
              <a:rPr sz="1710" spc="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학력 및 현재 교육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D220B2F2-319F-42C2-89AC-E15EB986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6199632"/>
            <a:ext cx="4430268" cy="370332"/>
          </a:xfrm>
          <a:custGeom xmlns:a="http://schemas.openxmlformats.org/drawingml/2006/main">
            <a:rect l="l" t="t" r="r" b="b"/>
            <a:pathLst>
              <a:path w="5907024" h="493776">
                <a:moveTo>
                  <a:pt x="0" y="0"/>
                </a:moveTo>
                <a:lnTo>
                  <a:pt x="5907024" y="0"/>
                </a:lnTo>
                <a:lnTo>
                  <a:pt x="5907024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183098" r="0" b="-183098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B53E978F-D700-4B7C-B1B7-C4B5A187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6185345"/>
            <a:ext cx="4430268" cy="3846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760"/>
              </a:lnSpc>
              <a:buNone/>
            </a:pPr>
            <a:r>
              <a:rPr sz="2129" spc="8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경북대학교 대학원 · 석사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381B7A-B7C3-4B94-9CAD-039A2EC4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6748272"/>
            <a:ext cx="4402836" cy="672084"/>
          </a:xfrm>
          <a:custGeom xmlns:a="http://schemas.openxmlformats.org/drawingml/2006/main">
            <a:rect l="l" t="t" r="r" b="b"/>
            <a:pathLst>
              <a:path w="5870448" h="896112">
                <a:moveTo>
                  <a:pt x="0" y="0"/>
                </a:moveTo>
                <a:lnTo>
                  <a:pt x="5870448" y="0"/>
                </a:lnTo>
                <a:lnTo>
                  <a:pt x="5870448" y="896112"/>
                </a:lnTo>
                <a:lnTo>
                  <a:pt x="0" y="8961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77646" r="0" b="-77646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C50D71FA-2089-4D3A-A78E-85E8AAE4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6733985"/>
            <a:ext cx="4402836" cy="686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78"/>
              </a:lnSpc>
              <a:buNone/>
            </a:pPr>
            <a:r>
              <a:rPr sz="177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임산공학(목재 물리학)</a:t>
            </a:r>
          </a:p>
          <a:p xmlns:a="http://schemas.openxmlformats.org/drawingml/2006/main">
            <a:pPr algn="l">
              <a:lnSpc>
                <a:spcPts val="2378"/>
              </a:lnSpc>
              <a:buNone/>
            </a:pPr>
            <a:r>
              <a:rPr sz="177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2017.03–2019.02</a:t>
            </a: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F2AED383-5179-42FA-ABF5-5AA6E17E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7626096"/>
            <a:ext cx="4430268" cy="370332"/>
          </a:xfrm>
          <a:custGeom xmlns:a="http://schemas.openxmlformats.org/drawingml/2006/main">
            <a:rect l="l" t="t" r="r" b="b"/>
            <a:pathLst>
              <a:path w="5907024" h="493776">
                <a:moveTo>
                  <a:pt x="0" y="0"/>
                </a:moveTo>
                <a:lnTo>
                  <a:pt x="5907024" y="0"/>
                </a:lnTo>
                <a:lnTo>
                  <a:pt x="5907024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183098" r="0" b="-183098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DDBED51-1DCF-4E72-B35A-02C9AE1A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7611809"/>
            <a:ext cx="4430268" cy="3846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760"/>
              </a:lnSpc>
              <a:buNone/>
            </a:pPr>
            <a:r>
              <a:rPr sz="2129" spc="8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경북대학교 · 학사</a:t>
            </a: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C0EDD98E-5967-4376-9827-5B3C75BB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8147304"/>
            <a:ext cx="4430268" cy="301752"/>
          </a:xfrm>
          <a:custGeom xmlns:a="http://schemas.openxmlformats.org/drawingml/2006/main">
            <a:rect l="l" t="t" r="r" b="b"/>
            <a:pathLst>
              <a:path w="5907024" h="402336">
                <a:moveTo>
                  <a:pt x="0" y="0"/>
                </a:moveTo>
                <a:lnTo>
                  <a:pt x="5907024" y="0"/>
                </a:lnTo>
                <a:lnTo>
                  <a:pt x="5907024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236075" r="0" b="-236075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2D06E4B1-F384-4E1E-88C6-E3263C94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8140161"/>
            <a:ext cx="4430268" cy="308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93"/>
              </a:lnSpc>
              <a:buNone/>
            </a:pPr>
            <a:r>
              <a:rPr sz="177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임산공학  |  2011.03–2017.02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BE57EC60-EF93-46BC-AE7A-31F5C463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8723376"/>
            <a:ext cx="4430268" cy="562356"/>
          </a:xfrm>
          <a:custGeom xmlns:a="http://schemas.openxmlformats.org/drawingml/2006/main">
            <a:rect l="l" t="t" r="r" b="b"/>
            <a:pathLst>
              <a:path w="5907024" h="749808">
                <a:moveTo>
                  <a:pt x="0" y="0"/>
                </a:moveTo>
                <a:lnTo>
                  <a:pt x="5907024" y="0"/>
                </a:lnTo>
                <a:lnTo>
                  <a:pt x="5907024" y="749808"/>
                </a:lnTo>
                <a:lnTo>
                  <a:pt x="0" y="74980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103504" r="0" b="-103504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25CABEA1-56B3-4C38-BE61-9ECBE45E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8716233"/>
            <a:ext cx="4430268" cy="56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70"/>
              </a:lnSpc>
              <a:buNone/>
            </a:pPr>
            <a:r>
              <a:rPr sz="1785" spc="6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한국폴리텍대학 대구캠퍼스</a:t>
            </a:r>
          </a:p>
          <a:p xmlns:a="http://schemas.openxmlformats.org/drawingml/2006/main">
            <a:pPr algn="l">
              <a:lnSpc>
                <a:spcPts val="2270"/>
              </a:lnSpc>
              <a:buNone/>
            </a:pPr>
            <a:r>
              <a:rPr sz="1785" spc="6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AI 엔지니어링 과정 수강 중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17EE7529-0739-425F-9106-E46BAFBB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2852928"/>
            <a:ext cx="2414016" cy="672084"/>
          </a:xfrm>
          <a:custGeom xmlns:a="http://schemas.openxmlformats.org/drawingml/2006/main">
            <a:rect l="l" t="t" r="r" b="b"/>
            <a:pathLst>
              <a:path w="3218688" h="896112">
                <a:moveTo>
                  <a:pt x="0" y="0"/>
                </a:moveTo>
                <a:lnTo>
                  <a:pt x="3218688" y="0"/>
                </a:lnTo>
                <a:lnTo>
                  <a:pt x="3218688" y="896112"/>
                </a:lnTo>
                <a:lnTo>
                  <a:pt x="0" y="8961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19987" r="0" b="-19987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74D81A3D-5AC9-47C5-817C-8867D1EC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2824353"/>
            <a:ext cx="2414016" cy="7006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5443"/>
              </a:lnSpc>
              <a:buNone/>
            </a:pPr>
            <a:r>
              <a:rPr sz="4200" spc="1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3편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FB5F8A3F-B753-48E2-B56F-76CECD42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2532" y="3717036"/>
            <a:ext cx="3086100" cy="301752"/>
          </a:xfrm>
          <a:custGeom xmlns:a="http://schemas.openxmlformats.org/drawingml/2006/main">
            <a:rect l="l" t="t" r="r" b="b"/>
            <a:pathLst>
              <a:path w="4114800" h="402336">
                <a:moveTo>
                  <a:pt x="0" y="0"/>
                </a:moveTo>
                <a:lnTo>
                  <a:pt x="4114800" y="0"/>
                </a:lnTo>
                <a:lnTo>
                  <a:pt x="4114800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149278" r="0" b="-149278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88CF4258-1DE6-4DF0-BC7D-B5BFCEE3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2532" y="3709893"/>
            <a:ext cx="3086100" cy="308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57"/>
              </a:lnSpc>
              <a:buNone/>
            </a:pPr>
            <a:r>
              <a:rPr sz="1664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논문 · 학위논문 포함</a:t>
            </a:r>
          </a:p>
        </p:txBody>
      </p:sp>
      <p:sp>
        <p:nvSpPr>
          <p:cNvPr id="46" name="AutoShape 46">
            <a:extLst xmlns:a="http://schemas.openxmlformats.org/drawingml/2006/main">
              <a:ext uri="{FF2B5EF4-FFF2-40B4-BE49-F238E27FC236}">
                <a16:creationId xmlns:a16="http://schemas.microsoft.com/office/drawing/2014/main" id="{7D17B9FF-B498-4292-8A08-7DEEDDD1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58720">
            <a:off x="9292742" y="3437954"/>
            <a:ext cx="1110691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4C3B8F6B-D8AD-44D4-864E-3DC3261D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59568" y="2852928"/>
            <a:ext cx="2180844" cy="672084"/>
          </a:xfrm>
          <a:custGeom xmlns:a="http://schemas.openxmlformats.org/drawingml/2006/main">
            <a:rect l="l" t="t" r="r" b="b"/>
            <a:pathLst>
              <a:path w="2907792" h="896112">
                <a:moveTo>
                  <a:pt x="0" y="0"/>
                </a:moveTo>
                <a:lnTo>
                  <a:pt x="2907792" y="0"/>
                </a:lnTo>
                <a:lnTo>
                  <a:pt x="2907792" y="896112"/>
                </a:lnTo>
                <a:lnTo>
                  <a:pt x="0" y="8961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13226" r="0" b="-13226"/>
            </a:stretch>
          </a:blip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5C736DC6-0F34-4916-ADD1-4B6F514F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59568" y="2824353"/>
            <a:ext cx="2180844" cy="7006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5443"/>
              </a:lnSpc>
              <a:buNone/>
            </a:pPr>
            <a:r>
              <a:rPr sz="4200" spc="1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1회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3A035A5-D82F-42BA-BEE4-7D59F19F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73284" y="3717036"/>
            <a:ext cx="2441448" cy="301752"/>
          </a:xfrm>
          <a:custGeom xmlns:a="http://schemas.openxmlformats.org/drawingml/2006/main">
            <a:rect l="l" t="t" r="r" b="b"/>
            <a:pathLst>
              <a:path w="3255264" h="402336">
                <a:moveTo>
                  <a:pt x="0" y="0"/>
                </a:moveTo>
                <a:lnTo>
                  <a:pt x="3255264" y="0"/>
                </a:lnTo>
                <a:lnTo>
                  <a:pt x="3255264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107651" r="0" b="-107651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4134364A-F741-470C-97D5-487BC7EF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73284" y="3709893"/>
            <a:ext cx="2441448" cy="308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57"/>
              </a:lnSpc>
              <a:buNone/>
            </a:pPr>
            <a:r>
              <a:rPr sz="1664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국제학회 발표</a:t>
            </a:r>
          </a:p>
        </p:txBody>
      </p:sp>
      <p:sp>
        <p:nvSpPr>
          <p:cNvPr id="53" name="AutoShape 53">
            <a:extLst xmlns:a="http://schemas.openxmlformats.org/drawingml/2006/main">
              <a:ext uri="{FF2B5EF4-FFF2-40B4-BE49-F238E27FC236}">
                <a16:creationId xmlns:a16="http://schemas.microsoft.com/office/drawing/2014/main" id="{B7592BC4-97D0-4880-99EB-39499D1E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58720">
            <a:off x="12625730" y="3437954"/>
            <a:ext cx="1110691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A0ED183C-F555-4C39-A518-2920EC63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06272" y="3017520"/>
            <a:ext cx="3607308" cy="411480"/>
          </a:xfrm>
          <a:custGeom xmlns:a="http://schemas.openxmlformats.org/drawingml/2006/main">
            <a:rect l="l" t="t" r="r" b="b"/>
            <a:pathLst>
              <a:path w="4809744" h="548640">
                <a:moveTo>
                  <a:pt x="0" y="0"/>
                </a:moveTo>
                <a:lnTo>
                  <a:pt x="4809744" y="0"/>
                </a:lnTo>
                <a:lnTo>
                  <a:pt x="4809744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120818" r="0" b="-120818"/>
            </a:stretch>
          </a:blipFill>
        </p:spPr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8E4C6941-89E6-4955-94B1-E40FCCC5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06272" y="2996089"/>
            <a:ext cx="3607308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538"/>
              </a:lnSpc>
              <a:buNone/>
            </a:pPr>
            <a:r>
              <a:rPr sz="2729" spc="10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연구실 운영</a:t>
            </a:r>
          </a:p>
        </p:txBody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A4A7B1E5-E2A9-4517-BF47-F7D47575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06272" y="3717036"/>
            <a:ext cx="3826764" cy="315468"/>
          </a:xfrm>
          <a:custGeom xmlns:a="http://schemas.openxmlformats.org/drawingml/2006/main">
            <a:rect l="l" t="t" r="r" b="b"/>
            <a:pathLst>
              <a:path w="5102352" h="420624">
                <a:moveTo>
                  <a:pt x="0" y="0"/>
                </a:moveTo>
                <a:lnTo>
                  <a:pt x="5102352" y="0"/>
                </a:lnTo>
                <a:lnTo>
                  <a:pt x="5102352" y="420624"/>
                </a:lnTo>
                <a:lnTo>
                  <a:pt x="0" y="42062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186361" r="0" b="-186361"/>
            </a:stretch>
          </a:blipFill>
        </p:spPr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0B98ECB6-F140-4711-B428-13406057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06272" y="3709893"/>
            <a:ext cx="3826764" cy="3226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80"/>
              </a:lnSpc>
              <a:buNone/>
            </a:pPr>
            <a:r>
              <a:rPr sz="1604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방장 · 학부생 졸업논문 지도</a:t>
            </a:r>
          </a:p>
        </p:txBody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9608CBD-4ECF-4E18-8855-E062E2DC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4608576"/>
            <a:ext cx="9326880" cy="329184"/>
          </a:xfrm>
          <a:custGeom xmlns:a="http://schemas.openxmlformats.org/drawingml/2006/main">
            <a:rect l="l" t="t" r="r" b="b"/>
            <a:pathLst>
              <a:path w="12435840" h="438912">
                <a:moveTo>
                  <a:pt x="0" y="0"/>
                </a:moveTo>
                <a:lnTo>
                  <a:pt x="12435840" y="0"/>
                </a:lnTo>
                <a:lnTo>
                  <a:pt x="12435840" y="438912"/>
                </a:lnTo>
                <a:lnTo>
                  <a:pt x="0" y="4389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502076" r="0" b="-502076"/>
            </a:stretch>
          </a:blipFill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3FF8F9DE-5BAC-43EB-A4C8-0FCE84BF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4594289"/>
            <a:ext cx="9326880" cy="3434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16"/>
              </a:lnSpc>
              <a:buNone/>
            </a:pPr>
            <a:r>
              <a:rPr sz="1710" spc="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핵심 역량과 수행 근거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11A3A39E-881E-42F4-99A3-77EEFE6E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5417820"/>
            <a:ext cx="576072" cy="329184"/>
          </a:xfrm>
          <a:custGeom xmlns:a="http://schemas.openxmlformats.org/drawingml/2006/main">
            <a:rect l="l" t="t" r="r" b="b"/>
            <a:pathLst>
              <a:path w="768096" h="438912">
                <a:moveTo>
                  <a:pt x="0" y="0"/>
                </a:moveTo>
                <a:lnTo>
                  <a:pt x="768096" y="0"/>
                </a:lnTo>
                <a:lnTo>
                  <a:pt x="768096" y="438912"/>
                </a:lnTo>
                <a:lnTo>
                  <a:pt x="0" y="4389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-23316" t="0" r="-23316" b="0"/>
            </a:stretch>
          </a:blipFill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F7A88B59-BD77-4519-92E4-2BCD7DC3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5410677"/>
            <a:ext cx="576072" cy="336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96"/>
              </a:lnSpc>
              <a:buNone/>
            </a:pPr>
            <a:r>
              <a:rPr sz="1695" spc="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01</a:t>
            </a:r>
          </a:p>
        </p:txBody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6A0E2046-0F4F-452E-9205-4A42B804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6912" y="5349240"/>
            <a:ext cx="2427732" cy="521208"/>
          </a:xfrm>
          <a:custGeom xmlns:a="http://schemas.openxmlformats.org/drawingml/2006/main">
            <a:rect l="l" t="t" r="r" b="b"/>
            <a:pathLst>
              <a:path w="3236976" h="694944">
                <a:moveTo>
                  <a:pt x="0" y="0"/>
                </a:moveTo>
                <a:lnTo>
                  <a:pt x="3236976" y="0"/>
                </a:lnTo>
                <a:lnTo>
                  <a:pt x="3236976" y="694944"/>
                </a:lnTo>
                <a:lnTo>
                  <a:pt x="0" y="69494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40759" r="0" b="-40759"/>
            </a:stretch>
          </a:blipFill>
        </p:spPr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F66EC40F-7C2F-464E-9547-1AF6F05F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6912" y="5334953"/>
            <a:ext cx="2427732" cy="535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110"/>
              </a:lnSpc>
              <a:buNone/>
            </a:pPr>
            <a:r>
              <a:rPr sz="2400" spc="9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연구·분석</a:t>
            </a:r>
          </a:p>
        </p:txBody>
      </p:sp>
      <p:sp>
        <p:nvSpPr>
          <p:cNvPr id="70" name="Freeform 70">
            <a:extLst xmlns:a="http://schemas.openxmlformats.org/drawingml/2006/main">
              <a:ext uri="{FF2B5EF4-FFF2-40B4-BE49-F238E27FC236}">
                <a16:creationId xmlns:a16="http://schemas.microsoft.com/office/drawing/2014/main" id="{B24B1C9C-ED9B-4DD6-8AD1-060BECD9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75520" y="5280660"/>
            <a:ext cx="6309360" cy="781812"/>
          </a:xfrm>
          <a:custGeom xmlns:a="http://schemas.openxmlformats.org/drawingml/2006/main">
            <a:rect l="l" t="t" r="r" b="b"/>
            <a:pathLst>
              <a:path w="8412480" h="1042416">
                <a:moveTo>
                  <a:pt x="0" y="0"/>
                </a:moveTo>
                <a:lnTo>
                  <a:pt x="8412480" y="0"/>
                </a:lnTo>
                <a:lnTo>
                  <a:pt x="8412480" y="1042416"/>
                </a:lnTo>
                <a:lnTo>
                  <a:pt x="0" y="104241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107247" r="0" b="-107247"/>
            </a:stretch>
          </a:blipFill>
        </p:spPr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F26C9F98-CDF4-4CC9-AB0A-574166B1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75520" y="5259229"/>
            <a:ext cx="6309360" cy="8032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buNone/>
            </a:pPr>
            <a:r>
              <a:rPr sz="202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함수율 분포·경사 비교</a:t>
            </a:r>
          </a:p>
          <a:p xmlns:a="http://schemas.openxmlformats.org/drawingml/2006/main">
            <a:pPr algn="l">
              <a:lnSpc>
                <a:spcPts val="2721"/>
              </a:lnSpc>
              <a:buNone/>
            </a:pPr>
            <a:r>
              <a:rPr sz="202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회귀분석을 통한 연구 결과 해석</a:t>
            </a:r>
          </a:p>
        </p:txBody>
      </p:sp>
      <p:sp>
        <p:nvSpPr>
          <p:cNvPr id="72" name="AutoShape 72">
            <a:extLst xmlns:a="http://schemas.openxmlformats.org/drawingml/2006/main">
              <a:ext uri="{FF2B5EF4-FFF2-40B4-BE49-F238E27FC236}">
                <a16:creationId xmlns:a16="http://schemas.microsoft.com/office/drawing/2014/main" id="{7FCB615E-717D-45E6-A1F6-DAF8B6C0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">
            <a:off x="6522149" y="6236018"/>
            <a:ext cx="10931281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1BC756FC-078B-4EDF-87C8-08EA56A3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6583680"/>
            <a:ext cx="576072" cy="329184"/>
          </a:xfrm>
          <a:custGeom xmlns:a="http://schemas.openxmlformats.org/drawingml/2006/main">
            <a:rect l="l" t="t" r="r" b="b"/>
            <a:pathLst>
              <a:path w="768096" h="438912">
                <a:moveTo>
                  <a:pt x="0" y="0"/>
                </a:moveTo>
                <a:lnTo>
                  <a:pt x="768096" y="0"/>
                </a:lnTo>
                <a:lnTo>
                  <a:pt x="768096" y="438912"/>
                </a:lnTo>
                <a:lnTo>
                  <a:pt x="0" y="4389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-23316" t="0" r="-23316" b="0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095EC817-94E7-44FE-902C-3CF05DE4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6576537"/>
            <a:ext cx="576072" cy="336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96"/>
              </a:lnSpc>
              <a:buNone/>
            </a:pPr>
            <a:r>
              <a:rPr sz="1695" spc="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02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C329B531-01A3-4E91-BE54-E9106D69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6912" y="6515100"/>
            <a:ext cx="2427732" cy="521208"/>
          </a:xfrm>
          <a:custGeom xmlns:a="http://schemas.openxmlformats.org/drawingml/2006/main">
            <a:rect l="l" t="t" r="r" b="b"/>
            <a:pathLst>
              <a:path w="3236976" h="694944">
                <a:moveTo>
                  <a:pt x="0" y="0"/>
                </a:moveTo>
                <a:lnTo>
                  <a:pt x="3236976" y="0"/>
                </a:lnTo>
                <a:lnTo>
                  <a:pt x="3236976" y="694944"/>
                </a:lnTo>
                <a:lnTo>
                  <a:pt x="0" y="69494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40759" r="0" b="-40759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539879A6-A155-49FB-89FE-F7F4F09C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6912" y="6500813"/>
            <a:ext cx="2427732" cy="535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110"/>
              </a:lnSpc>
              <a:buNone/>
            </a:pPr>
            <a:r>
              <a:rPr sz="2400" spc="9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구현·검증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E4358CF0-7EF3-4138-9E9D-A8DAC191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75520" y="6446520"/>
            <a:ext cx="6309360" cy="781812"/>
          </a:xfrm>
          <a:custGeom xmlns:a="http://schemas.openxmlformats.org/drawingml/2006/main">
            <a:rect l="l" t="t" r="r" b="b"/>
            <a:pathLst>
              <a:path w="8412480" h="1042416">
                <a:moveTo>
                  <a:pt x="0" y="0"/>
                </a:moveTo>
                <a:lnTo>
                  <a:pt x="8412480" y="0"/>
                </a:lnTo>
                <a:lnTo>
                  <a:pt x="8412480" y="1042416"/>
                </a:lnTo>
                <a:lnTo>
                  <a:pt x="0" y="104241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107247" r="0" b="-107247"/>
            </a:stretch>
          </a:blipFill>
        </p:spPr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FFB1F583-0ABA-415D-8E80-158FFE12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75520" y="6425089"/>
            <a:ext cx="6309360" cy="8032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buNone/>
            </a:pPr>
            <a:r>
              <a:rPr sz="202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정적 분석과 로컬 LLM 연계</a:t>
            </a:r>
          </a:p>
          <a:p xmlns:a="http://schemas.openxmlformats.org/drawingml/2006/main">
            <a:pPr algn="l">
              <a:lnSpc>
                <a:spcPts val="2721"/>
              </a:lnSpc>
              <a:buNone/>
            </a:pPr>
            <a:r>
              <a:rPr sz="202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Python 코드 분석 프로토타입 시험</a:t>
            </a:r>
          </a:p>
        </p:txBody>
      </p:sp>
      <p:sp>
        <p:nvSpPr>
          <p:cNvPr id="82" name="AutoShape 82">
            <a:extLst xmlns:a="http://schemas.openxmlformats.org/drawingml/2006/main">
              <a:ext uri="{FF2B5EF4-FFF2-40B4-BE49-F238E27FC236}">
                <a16:creationId xmlns:a16="http://schemas.microsoft.com/office/drawing/2014/main" id="{162F49AA-09C8-424C-899D-1720DAE8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">
            <a:off x="6522149" y="7401878"/>
            <a:ext cx="10931281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4" name="Freeform 84">
            <a:extLst xmlns:a="http://schemas.openxmlformats.org/drawingml/2006/main">
              <a:ext uri="{FF2B5EF4-FFF2-40B4-BE49-F238E27FC236}">
                <a16:creationId xmlns:a16="http://schemas.microsoft.com/office/drawing/2014/main" id="{F0195595-8AE7-4C3F-95A9-BD1D8A90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7749540"/>
            <a:ext cx="576072" cy="329184"/>
          </a:xfrm>
          <a:custGeom xmlns:a="http://schemas.openxmlformats.org/drawingml/2006/main">
            <a:rect l="l" t="t" r="r" b="b"/>
            <a:pathLst>
              <a:path w="768096" h="438912">
                <a:moveTo>
                  <a:pt x="0" y="0"/>
                </a:moveTo>
                <a:lnTo>
                  <a:pt x="768096" y="0"/>
                </a:lnTo>
                <a:lnTo>
                  <a:pt x="768096" y="438912"/>
                </a:lnTo>
                <a:lnTo>
                  <a:pt x="0" y="4389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-23316" t="0" r="-23316" b="0"/>
            </a:stretch>
          </a:blipFill>
        </p:spPr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64DA109A-29D3-46DE-8BC8-75808C61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7742397"/>
            <a:ext cx="576072" cy="336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96"/>
              </a:lnSpc>
              <a:buNone/>
            </a:pPr>
            <a:r>
              <a:rPr sz="1695" spc="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03</a:t>
            </a:r>
          </a:p>
        </p:txBody>
      </p:sp>
      <p:sp>
        <p:nvSpPr>
          <p:cNvPr id="87" name="Freeform 87">
            <a:extLst xmlns:a="http://schemas.openxmlformats.org/drawingml/2006/main">
              <a:ext uri="{FF2B5EF4-FFF2-40B4-BE49-F238E27FC236}">
                <a16:creationId xmlns:a16="http://schemas.microsoft.com/office/drawing/2014/main" id="{73F02585-0DDB-4245-9611-2B26F89B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6912" y="7680960"/>
            <a:ext cx="2427732" cy="521208"/>
          </a:xfrm>
          <a:custGeom xmlns:a="http://schemas.openxmlformats.org/drawingml/2006/main">
            <a:rect l="l" t="t" r="r" b="b"/>
            <a:pathLst>
              <a:path w="3236976" h="694944">
                <a:moveTo>
                  <a:pt x="0" y="0"/>
                </a:moveTo>
                <a:lnTo>
                  <a:pt x="3236976" y="0"/>
                </a:lnTo>
                <a:lnTo>
                  <a:pt x="3236976" y="694944"/>
                </a:lnTo>
                <a:lnTo>
                  <a:pt x="0" y="69494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40759" r="0" b="-40759"/>
            </a:stretch>
          </a:blipFill>
        </p:spPr>
      </p:sp>
      <p:sp>
        <p:nvSpPr>
          <p:cNvPr id="88" name="TextBox 88">
            <a:extLst xmlns:a="http://schemas.openxmlformats.org/drawingml/2006/main">
              <a:ext uri="{FF2B5EF4-FFF2-40B4-BE49-F238E27FC236}">
                <a16:creationId xmlns:a16="http://schemas.microsoft.com/office/drawing/2014/main" id="{54F0B554-48FF-4BEC-8C1F-8CBF7D2C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6912" y="7666673"/>
            <a:ext cx="2427732" cy="535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110"/>
              </a:lnSpc>
              <a:buNone/>
            </a:pPr>
            <a:r>
              <a:rPr sz="2400" spc="9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데이터·학습</a:t>
            </a:r>
          </a:p>
        </p:txBody>
      </p:sp>
      <p:sp>
        <p:nvSpPr>
          <p:cNvPr id="90" name="Freeform 90">
            <a:extLst xmlns:a="http://schemas.openxmlformats.org/drawingml/2006/main">
              <a:ext uri="{FF2B5EF4-FFF2-40B4-BE49-F238E27FC236}">
                <a16:creationId xmlns:a16="http://schemas.microsoft.com/office/drawing/2014/main" id="{165C2846-358F-43CF-9C8B-2E7D3BAC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75520" y="7612380"/>
            <a:ext cx="6309360" cy="781812"/>
          </a:xfrm>
          <a:custGeom xmlns:a="http://schemas.openxmlformats.org/drawingml/2006/main">
            <a:rect l="l" t="t" r="r" b="b"/>
            <a:pathLst>
              <a:path w="8412480" h="1042416">
                <a:moveTo>
                  <a:pt x="0" y="0"/>
                </a:moveTo>
                <a:lnTo>
                  <a:pt x="8412480" y="0"/>
                </a:lnTo>
                <a:lnTo>
                  <a:pt x="8412480" y="1042416"/>
                </a:lnTo>
                <a:lnTo>
                  <a:pt x="0" y="104241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107247" r="0" b="-107247"/>
            </a:stretch>
          </a:blipFill>
        </p:spPr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554AD224-64A4-4563-A106-AF9EF18B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75520" y="7590949"/>
            <a:ext cx="6309360" cy="8032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buNone/>
            </a:pPr>
            <a:r>
              <a:rPr sz="202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파인튜닝 결과 분석</a:t>
            </a:r>
          </a:p>
          <a:p xmlns:a="http://schemas.openxmlformats.org/drawingml/2006/main">
            <a:pPr algn="l">
              <a:lnSpc>
                <a:spcPts val="2721"/>
              </a:lnSpc>
              <a:buNone/>
            </a:pPr>
            <a:r>
              <a:rPr sz="202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학습·평가 데이터셋 재구축</a:t>
            </a:r>
          </a:p>
        </p:txBody>
      </p:sp>
      <p:sp>
        <p:nvSpPr>
          <p:cNvPr id="93" name="Freeform 93">
            <a:extLst xmlns:a="http://schemas.openxmlformats.org/drawingml/2006/main">
              <a:ext uri="{FF2B5EF4-FFF2-40B4-BE49-F238E27FC236}">
                <a16:creationId xmlns:a16="http://schemas.microsoft.com/office/drawing/2014/main" id="{ED370F4F-F324-4F82-BF86-11E69933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05575" y="8892159"/>
            <a:ext cx="10950702" cy="499110"/>
          </a:xfrm>
          <a:custGeom xmlns:a="http://schemas.openxmlformats.org/drawingml/2006/main">
            <a:rect l="l" t="t" r="r" b="b"/>
            <a:pathLst>
              <a:path w="14600937" h="665480">
                <a:moveTo>
                  <a:pt x="0" y="0"/>
                </a:moveTo>
                <a:lnTo>
                  <a:pt x="14600937" y="0"/>
                </a:lnTo>
                <a:lnTo>
                  <a:pt x="14600937" y="665480"/>
                </a:lnTo>
                <a:lnTo>
                  <a:pt x="0" y="665480"/>
                </a:lnTo>
                <a:close/>
              </a:path>
            </a:pathLst>
          </a:custGeom>
          <a:solidFill xmlns:a="http://schemas.openxmlformats.org/drawingml/2006/main">
            <a:srgbClr val="EDF3FA"/>
          </a:solidFill>
        </p:spPr>
      </p:sp>
      <p:sp>
        <p:nvSpPr>
          <p:cNvPr id="95" name="Freeform 95">
            <a:extLst xmlns:a="http://schemas.openxmlformats.org/drawingml/2006/main">
              <a:ext uri="{FF2B5EF4-FFF2-40B4-BE49-F238E27FC236}">
                <a16:creationId xmlns:a16="http://schemas.microsoft.com/office/drawing/2014/main" id="{B8495604-C208-477F-8CAF-241B32F0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1988" y="9011412"/>
            <a:ext cx="1522476" cy="233172"/>
          </a:xfrm>
          <a:custGeom xmlns:a="http://schemas.openxmlformats.org/drawingml/2006/main">
            <a:rect l="l" t="t" r="r" b="b"/>
            <a:pathLst>
              <a:path w="2029968" h="310896">
                <a:moveTo>
                  <a:pt x="0" y="0"/>
                </a:moveTo>
                <a:lnTo>
                  <a:pt x="2029968" y="0"/>
                </a:lnTo>
                <a:lnTo>
                  <a:pt x="2029968" y="310896"/>
                </a:lnTo>
                <a:lnTo>
                  <a:pt x="0" y="3108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77225" r="0" b="-77225"/>
            </a:stretch>
          </a:blipFill>
        </p:spPr>
      </p:sp>
      <p:sp>
        <p:nvSpPr>
          <p:cNvPr id="96" name="TextBox 96">
            <a:extLst xmlns:a="http://schemas.openxmlformats.org/drawingml/2006/main">
              <a:ext uri="{FF2B5EF4-FFF2-40B4-BE49-F238E27FC236}">
                <a16:creationId xmlns:a16="http://schemas.microsoft.com/office/drawing/2014/main" id="{64F52449-60E5-41B6-A087-2DBDFC1D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1988" y="9004269"/>
            <a:ext cx="1522476" cy="2403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99"/>
              </a:lnSpc>
              <a:buNone/>
            </a:pPr>
            <a:r>
              <a:rPr sz="1620" spc="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사용 도구</a:t>
            </a:r>
          </a:p>
        </p:txBody>
      </p:sp>
      <p:sp>
        <p:nvSpPr>
          <p:cNvPr id="98" name="Freeform 98">
            <a:extLst xmlns:a="http://schemas.openxmlformats.org/drawingml/2006/main">
              <a:ext uri="{FF2B5EF4-FFF2-40B4-BE49-F238E27FC236}">
                <a16:creationId xmlns:a16="http://schemas.microsoft.com/office/drawing/2014/main" id="{2DBD6B2F-0962-44DA-9C7A-87E0DF06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90204" y="8983980"/>
            <a:ext cx="8627364" cy="496721"/>
          </a:xfrm>
          <a:custGeom xmlns:a="http://schemas.openxmlformats.org/drawingml/2006/main">
            <a:rect l="l" t="t" r="r" b="b"/>
            <a:pathLst>
              <a:path w="11503152" h="662294">
                <a:moveTo>
                  <a:pt x="0" y="0"/>
                </a:moveTo>
                <a:lnTo>
                  <a:pt x="11503152" y="0"/>
                </a:lnTo>
                <a:lnTo>
                  <a:pt x="11503152" y="662294"/>
                </a:lnTo>
                <a:lnTo>
                  <a:pt x="0" y="66229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fe4b91fe064924">
              <a:alphaModFix amt="0"/>
            </a:blip>
            <a:stretch>
              <a:fillRect l="0" t="-308054" r="0" b="-268802"/>
            </a:stretch>
          </a:blipFill>
        </p:spPr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CB4ABB97-50FC-45FF-AB40-D6EACAE6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90204" y="8969693"/>
            <a:ext cx="8627364" cy="5110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32"/>
              </a:lnSpc>
              <a:buNone/>
            </a:pPr>
            <a:r>
              <a:rPr sz="1800" spc="6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Python  ·  PyTorch  ·  vLLM · Nvidia Rapids · GPU-based ML</a:t>
            </a:r>
          </a:p>
        </p:txBody>
      </p:sp>
      <p:sp>
        <p:nvSpPr>
          <p:cNvPr id="100" name="AutoShape 100">
            <a:extLst xmlns:a="http://schemas.openxmlformats.org/drawingml/2006/main">
              <a:ext uri="{FF2B5EF4-FFF2-40B4-BE49-F238E27FC236}">
                <a16:creationId xmlns:a16="http://schemas.microsoft.com/office/drawing/2014/main" id="{B5C9DF88-3C67-4D6E-B8C5-5C602755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60">
            <a:off x="816293" y="9706166"/>
            <a:ext cx="1665085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620243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C7A9924B-58FE-40DF-A99C-5BED610D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93776"/>
            <a:ext cx="16596360" cy="301752"/>
          </a:xfrm>
          <a:custGeom xmlns:a="http://schemas.openxmlformats.org/drawingml/2006/main">
            <a:rect l="l" t="t" r="r" b="b"/>
            <a:pathLst>
              <a:path w="22128480" h="402336">
                <a:moveTo>
                  <a:pt x="0" y="0"/>
                </a:moveTo>
                <a:lnTo>
                  <a:pt x="22128480" y="0"/>
                </a:lnTo>
                <a:lnTo>
                  <a:pt x="22128480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4d4f3ff8884455">
              <a:alphaModFix amt="0"/>
            </a:blip>
            <a:stretch>
              <a:fillRect l="0" t="-1021677" r="0" b="-1021677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BC515765-6B62-499D-94FF-76F77FA6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86633"/>
            <a:ext cx="16596360" cy="308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99"/>
              </a:lnSpc>
              <a:buNone/>
            </a:pPr>
            <a:r>
              <a:rPr sz="1620" spc="12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02  /  MASTER’S RESEARCH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6849FE7D-58E0-4D74-96CF-447B610F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124712"/>
            <a:ext cx="16596360" cy="685800"/>
          </a:xfrm>
          <a:custGeom xmlns:a="http://schemas.openxmlformats.org/drawingml/2006/main">
            <a:rect l="l" t="t" r="r" b="b"/>
            <a:pathLst>
              <a:path w="22128480" h="914400">
                <a:moveTo>
                  <a:pt x="0" y="0"/>
                </a:moveTo>
                <a:lnTo>
                  <a:pt x="22128480" y="0"/>
                </a:lnTo>
                <a:lnTo>
                  <a:pt x="22128480" y="914400"/>
                </a:lnTo>
                <a:lnTo>
                  <a:pt x="0" y="914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4d4f3ff8884455">
              <a:alphaModFix amt="0"/>
            </a:blip>
            <a:stretch>
              <a:fillRect l="0" t="-421537" r="0" b="-421537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4B3C7CA-2124-4BA3-B756-F32021D6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096137"/>
            <a:ext cx="1659636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5248"/>
              </a:lnSpc>
              <a:buNone/>
            </a:pPr>
            <a:r>
              <a:rPr sz="4050" spc="15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섬유포화점 이하에서의 목재 내 함수율 분포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CA605B9A-8A3E-4FD2-A6E1-4D93C0A7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20240"/>
            <a:ext cx="16459200" cy="411480"/>
          </a:xfrm>
          <a:custGeom xmlns:a="http://schemas.openxmlformats.org/drawingml/2006/main">
            <a:rect l="l" t="t" r="r" b="b"/>
            <a:pathLst>
              <a:path w="21945600" h="548640">
                <a:moveTo>
                  <a:pt x="0" y="0"/>
                </a:moveTo>
                <a:lnTo>
                  <a:pt x="21945600" y="0"/>
                </a:lnTo>
                <a:lnTo>
                  <a:pt x="2194560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4d4f3ff8884455">
              <a:alphaModFix amt="0"/>
            </a:blip>
            <a:stretch>
              <a:fillRect l="0" t="-729401" r="0" b="-729401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E16D309-285C-4332-9C48-CE9D2AC7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13097"/>
            <a:ext cx="16459200" cy="418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88"/>
              </a:lnSpc>
              <a:buNone/>
            </a:pPr>
            <a:r>
              <a:rPr sz="1920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경북대학교 대학원 · 임산공학(목재 물리학) · 석사 연구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6A36414F-B7C3-4B94-98D6-26A0830E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2811780"/>
            <a:ext cx="4183380" cy="329184"/>
          </a:xfrm>
          <a:custGeom xmlns:a="http://schemas.openxmlformats.org/drawingml/2006/main">
            <a:rect l="l" t="t" r="r" b="b"/>
            <a:pathLst>
              <a:path w="5577840" h="438912">
                <a:moveTo>
                  <a:pt x="0" y="0"/>
                </a:moveTo>
                <a:lnTo>
                  <a:pt x="5577840" y="0"/>
                </a:lnTo>
                <a:lnTo>
                  <a:pt x="5577840" y="438912"/>
                </a:lnTo>
                <a:lnTo>
                  <a:pt x="0" y="4389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4d4f3ff8884455">
              <a:alphaModFix amt="0"/>
            </a:blip>
            <a:stretch>
              <a:fillRect l="0" t="-197622" r="0" b="-197622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DF7BD3AD-011D-4B73-9617-BFA2C97B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2797493"/>
            <a:ext cx="4183380" cy="3434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16"/>
              </a:lnSpc>
              <a:buNone/>
            </a:pPr>
            <a:r>
              <a:rPr sz="1710" spc="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연구 질문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57D79604-D090-4C99-B026-D379A23F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3374136"/>
            <a:ext cx="4155948" cy="1508760"/>
          </a:xfrm>
          <a:custGeom xmlns:a="http://schemas.openxmlformats.org/drawingml/2006/main">
            <a:rect l="l" t="t" r="r" b="b"/>
            <a:pathLst>
              <a:path w="5541264" h="2011680">
                <a:moveTo>
                  <a:pt x="0" y="0"/>
                </a:moveTo>
                <a:lnTo>
                  <a:pt x="5541264" y="0"/>
                </a:lnTo>
                <a:lnTo>
                  <a:pt x="554126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4d4f3ff8884455">
              <a:alphaModFix amt="0"/>
            </a:blip>
            <a:stretch>
              <a:fillRect l="0" t="-3672" r="0" b="-3672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8BF21254-1EC3-411C-A6D9-A9A404F8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3352705"/>
            <a:ext cx="4155948" cy="15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693"/>
              </a:lnSpc>
              <a:buNone/>
            </a:pPr>
            <a:r>
              <a:rPr sz="2700" spc="10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목재 내 수분 이동의 구동력에 대해서 발견할 수 있을까?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1F98AEC4-E939-42F0-BF1D-6A22D5B5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5294376"/>
            <a:ext cx="4197096" cy="329184"/>
          </a:xfrm>
          <a:custGeom xmlns:a="http://schemas.openxmlformats.org/drawingml/2006/main">
            <a:rect l="l" t="t" r="r" b="b"/>
            <a:pathLst>
              <a:path w="5596128" h="438912">
                <a:moveTo>
                  <a:pt x="0" y="0"/>
                </a:moveTo>
                <a:lnTo>
                  <a:pt x="5596128" y="0"/>
                </a:lnTo>
                <a:lnTo>
                  <a:pt x="5596128" y="438912"/>
                </a:lnTo>
                <a:lnTo>
                  <a:pt x="0" y="4389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4d4f3ff8884455">
              <a:alphaModFix amt="0"/>
            </a:blip>
            <a:stretch>
              <a:fillRect l="0" t="-198434" r="0" b="-198434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92C5BD9-19B2-4584-BDAA-EBE55483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5280089"/>
            <a:ext cx="4197096" cy="3434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16"/>
              </a:lnSpc>
              <a:buNone/>
            </a:pPr>
            <a:r>
              <a:rPr sz="1710" spc="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분석 접근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44129D7D-00E1-487B-A144-BBDB2706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5801868"/>
            <a:ext cx="4238244" cy="1234440"/>
          </a:xfrm>
          <a:custGeom xmlns:a="http://schemas.openxmlformats.org/drawingml/2006/main">
            <a:rect l="l" t="t" r="r" b="b"/>
            <a:pathLst>
              <a:path w="5650992" h="1645920">
                <a:moveTo>
                  <a:pt x="0" y="0"/>
                </a:moveTo>
                <a:lnTo>
                  <a:pt x="5650992" y="0"/>
                </a:lnTo>
                <a:lnTo>
                  <a:pt x="5650992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4d4f3ff8884455">
              <a:alphaModFix amt="0"/>
            </a:blip>
            <a:stretch>
              <a:fillRect l="0" t="-16898" r="0" b="-16898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07C15896-2C97-4F9E-9A31-0F7C6BB0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5780437"/>
            <a:ext cx="4238244" cy="1255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688"/>
              </a:lnSpc>
              <a:buNone/>
            </a:pPr>
            <a:r>
              <a:rPr sz="1964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함수율·수증기압·화학 포텐셜</a:t>
            </a:r>
          </a:p>
          <a:p xmlns:a="http://schemas.openxmlformats.org/drawingml/2006/main">
            <a:pPr algn="l">
              <a:lnSpc>
                <a:spcPts val="2688"/>
              </a:lnSpc>
              <a:buNone/>
            </a:pPr>
            <a:r>
              <a:rPr sz="1964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에너지 경사를 비교하고,</a:t>
            </a:r>
          </a:p>
          <a:p xmlns:a="http://schemas.openxmlformats.org/drawingml/2006/main">
            <a:pPr algn="l">
              <a:lnSpc>
                <a:spcPts val="2688"/>
              </a:lnSpc>
              <a:buNone/>
            </a:pPr>
            <a:r>
              <a:rPr sz="1964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회귀분석을 통해 구동력 규명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EEB93532-CC91-49A6-9831-CC46D95D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7523" y="7255764"/>
            <a:ext cx="3892581" cy="1248156"/>
          </a:xfrm>
          <a:custGeom xmlns:a="http://schemas.openxmlformats.org/drawingml/2006/main">
            <a:rect l="l" t="t" r="r" b="b"/>
            <a:pathLst>
              <a:path w="5190109" h="1664208">
                <a:moveTo>
                  <a:pt x="0" y="0"/>
                </a:moveTo>
                <a:lnTo>
                  <a:pt x="5190109" y="0"/>
                </a:lnTo>
                <a:lnTo>
                  <a:pt x="5190109" y="1664208"/>
                </a:lnTo>
                <a:lnTo>
                  <a:pt x="0" y="16642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e564ee4b5264f3f"/>
            <a:stretch>
              <a:fillRect l="0" t="0" r="0" b="0"/>
            </a:stretch>
          </a:blipFill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EA20E05A-6CC4-4D0E-9329-3466C861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7552" y="8599932"/>
            <a:ext cx="4306824" cy="329184"/>
          </a:xfrm>
          <a:custGeom xmlns:a="http://schemas.openxmlformats.org/drawingml/2006/main">
            <a:rect l="l" t="t" r="r" b="b"/>
            <a:pathLst>
              <a:path w="5742432" h="438912">
                <a:moveTo>
                  <a:pt x="0" y="0"/>
                </a:moveTo>
                <a:lnTo>
                  <a:pt x="5742432" y="0"/>
                </a:lnTo>
                <a:lnTo>
                  <a:pt x="5742432" y="438912"/>
                </a:lnTo>
                <a:lnTo>
                  <a:pt x="0" y="4389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4d4f3ff8884455">
              <a:alphaModFix amt="0"/>
            </a:blip>
            <a:stretch>
              <a:fillRect l="0" t="-204929" r="0" b="-204929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C4110EB2-7283-4D20-9FCA-FF137230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7552" y="8585645"/>
            <a:ext cx="4306824" cy="3434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05"/>
              </a:lnSpc>
              <a:buNone/>
            </a:pPr>
            <a:r>
              <a:rPr sz="1470" spc="5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D_c: 확산계수  ·  dc/dx: 농도경사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B1C1F17-1A3B-4C22-BCF9-7697E095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07164" y="2590714"/>
            <a:ext cx="3826383" cy="5033391"/>
          </a:xfrm>
          <a:custGeom xmlns:a="http://schemas.openxmlformats.org/drawingml/2006/main">
            <a:rect l="l" t="t" r="r" b="b"/>
            <a:pathLst>
              <a:path w="5101844" h="6711188">
                <a:moveTo>
                  <a:pt x="0" y="0"/>
                </a:moveTo>
                <a:lnTo>
                  <a:pt x="5101844" y="0"/>
                </a:lnTo>
                <a:lnTo>
                  <a:pt x="5101844" y="6711188"/>
                </a:lnTo>
                <a:lnTo>
                  <a:pt x="0" y="67111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72FB60D-46DB-4FF7-90A1-782E1D58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37276" y="2871702"/>
            <a:ext cx="3566160" cy="438912"/>
          </a:xfrm>
          <a:custGeom xmlns:a="http://schemas.openxmlformats.org/drawingml/2006/main">
            <a:rect l="l" t="t" r="r" b="b"/>
            <a:pathLst>
              <a:path w="4754880" h="585216">
                <a:moveTo>
                  <a:pt x="0" y="0"/>
                </a:moveTo>
                <a:lnTo>
                  <a:pt x="4754880" y="0"/>
                </a:lnTo>
                <a:lnTo>
                  <a:pt x="4754880" y="585216"/>
                </a:lnTo>
                <a:lnTo>
                  <a:pt x="0" y="58521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4d4f3ff8884455">
              <a:alphaModFix amt="0"/>
            </a:blip>
            <a:stretch>
              <a:fillRect l="0" t="-108315" r="0" b="-108315"/>
            </a:stretch>
          </a:blip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331DB595-C6B5-438F-B046-E3252D3B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37276" y="2843127"/>
            <a:ext cx="3566160" cy="4674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013"/>
              </a:lnSpc>
              <a:buNone/>
            </a:pPr>
            <a:r>
              <a:rPr sz="2325" spc="9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함수율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9566DC2-1681-4586-B576-BA14C791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50992" y="4124963"/>
            <a:ext cx="3538728" cy="2650712"/>
          </a:xfrm>
          <a:custGeom xmlns:a="http://schemas.openxmlformats.org/drawingml/2006/main">
            <a:rect l="l" t="t" r="r" b="b"/>
            <a:pathLst>
              <a:path w="4718304" h="3534283">
                <a:moveTo>
                  <a:pt x="0" y="0"/>
                </a:moveTo>
                <a:lnTo>
                  <a:pt x="4718304" y="0"/>
                </a:lnTo>
                <a:lnTo>
                  <a:pt x="4718304" y="3534283"/>
                </a:lnTo>
                <a:lnTo>
                  <a:pt x="0" y="35342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ac02bb376fe4cee"/>
            <a:stretch>
              <a:fillRect l="0" t="0" r="0" b="1"/>
            </a:stretch>
          </a:blipFill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917CF30C-873D-4915-BFD1-057181AB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53384" y="2590714"/>
            <a:ext cx="3826383" cy="5033391"/>
          </a:xfrm>
          <a:custGeom xmlns:a="http://schemas.openxmlformats.org/drawingml/2006/main">
            <a:rect l="l" t="t" r="r" b="b"/>
            <a:pathLst>
              <a:path w="5101844" h="6711188">
                <a:moveTo>
                  <a:pt x="0" y="0"/>
                </a:moveTo>
                <a:lnTo>
                  <a:pt x="5101844" y="0"/>
                </a:lnTo>
                <a:lnTo>
                  <a:pt x="5101844" y="6711188"/>
                </a:lnTo>
                <a:lnTo>
                  <a:pt x="0" y="67111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FC3CF598-2595-49EE-992F-148B0E2C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83496" y="2871702"/>
            <a:ext cx="3566160" cy="438912"/>
          </a:xfrm>
          <a:custGeom xmlns:a="http://schemas.openxmlformats.org/drawingml/2006/main">
            <a:rect l="l" t="t" r="r" b="b"/>
            <a:pathLst>
              <a:path w="4754880" h="585216">
                <a:moveTo>
                  <a:pt x="0" y="0"/>
                </a:moveTo>
                <a:lnTo>
                  <a:pt x="4754880" y="0"/>
                </a:lnTo>
                <a:lnTo>
                  <a:pt x="4754880" y="585216"/>
                </a:lnTo>
                <a:lnTo>
                  <a:pt x="0" y="58521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4d4f3ff8884455">
              <a:alphaModFix amt="0"/>
            </a:blip>
            <a:stretch>
              <a:fillRect l="0" t="-108315" r="0" b="-108315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F6B69DF9-4906-49AF-9464-1F266615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83496" y="2843127"/>
            <a:ext cx="3566160" cy="4674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013"/>
              </a:lnSpc>
              <a:buNone/>
            </a:pPr>
            <a:r>
              <a:rPr sz="2325" spc="9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수증기압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7B1D25FD-8EC8-4BC5-95A2-936A2B22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97212" y="4141508"/>
            <a:ext cx="3538728" cy="2617564"/>
          </a:xfrm>
          <a:custGeom xmlns:a="http://schemas.openxmlformats.org/drawingml/2006/main">
            <a:rect l="l" t="t" r="r" b="b"/>
            <a:pathLst>
              <a:path w="4718304" h="3490087">
                <a:moveTo>
                  <a:pt x="0" y="0"/>
                </a:moveTo>
                <a:lnTo>
                  <a:pt x="4718304" y="0"/>
                </a:lnTo>
                <a:lnTo>
                  <a:pt x="4718304" y="3490087"/>
                </a:lnTo>
                <a:lnTo>
                  <a:pt x="0" y="349008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03d089cfeb4269"/>
            <a:stretch>
              <a:fillRect l="0" t="0" r="0" b="-1"/>
            </a:stretch>
          </a:blipFill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75ABB03C-9B23-4178-853C-A11B4CC5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99604" y="2590714"/>
            <a:ext cx="3826383" cy="5033391"/>
          </a:xfrm>
          <a:custGeom xmlns:a="http://schemas.openxmlformats.org/drawingml/2006/main">
            <a:rect l="l" t="t" r="r" b="b"/>
            <a:pathLst>
              <a:path w="5101844" h="6711188">
                <a:moveTo>
                  <a:pt x="0" y="0"/>
                </a:moveTo>
                <a:lnTo>
                  <a:pt x="5101844" y="0"/>
                </a:lnTo>
                <a:lnTo>
                  <a:pt x="5101844" y="6711188"/>
                </a:lnTo>
                <a:lnTo>
                  <a:pt x="0" y="67111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B0C79505-BD6C-436F-9B31-EC70FE4F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29716" y="2871702"/>
            <a:ext cx="3566160" cy="438912"/>
          </a:xfrm>
          <a:custGeom xmlns:a="http://schemas.openxmlformats.org/drawingml/2006/main">
            <a:rect l="l" t="t" r="r" b="b"/>
            <a:pathLst>
              <a:path w="4754880" h="585216">
                <a:moveTo>
                  <a:pt x="0" y="0"/>
                </a:moveTo>
                <a:lnTo>
                  <a:pt x="4754880" y="0"/>
                </a:lnTo>
                <a:lnTo>
                  <a:pt x="4754880" y="585216"/>
                </a:lnTo>
                <a:lnTo>
                  <a:pt x="0" y="58521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4d4f3ff8884455">
              <a:alphaModFix amt="0"/>
            </a:blip>
            <a:stretch>
              <a:fillRect l="0" t="-108315" r="0" b="-108315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A6A6262E-4358-4E7A-8080-B7CAD9E2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29716" y="2857415"/>
            <a:ext cx="3566160" cy="453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66"/>
              </a:lnSpc>
              <a:buNone/>
            </a:pPr>
            <a:r>
              <a:rPr sz="1979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화학 포텐셜 에너지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BF1ECD18-66F8-4557-812A-47AAAC87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43432" y="3709283"/>
            <a:ext cx="3538728" cy="3482054"/>
          </a:xfrm>
          <a:custGeom xmlns:a="http://schemas.openxmlformats.org/drawingml/2006/main">
            <a:rect l="l" t="t" r="r" b="b"/>
            <a:pathLst>
              <a:path w="4718304" h="4642739">
                <a:moveTo>
                  <a:pt x="0" y="0"/>
                </a:moveTo>
                <a:lnTo>
                  <a:pt x="4718304" y="0"/>
                </a:lnTo>
                <a:lnTo>
                  <a:pt x="4718304" y="4642739"/>
                </a:lnTo>
                <a:lnTo>
                  <a:pt x="0" y="464273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2585f76f7c54016"/>
            <a:stretch>
              <a:fillRect l="0" t="0" r="0" b="0"/>
            </a:stretch>
          </a:blipFill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9DF19B4F-CBA4-4228-9E98-8BB87FFE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3435" y="9125331"/>
            <a:ext cx="16656558" cy="430530"/>
          </a:xfrm>
          <a:custGeom xmlns:a="http://schemas.openxmlformats.org/drawingml/2006/main">
            <a:rect l="l" t="t" r="r" b="b"/>
            <a:pathLst>
              <a:path w="22208744" h="574040">
                <a:moveTo>
                  <a:pt x="0" y="0"/>
                </a:moveTo>
                <a:lnTo>
                  <a:pt x="22208744" y="0"/>
                </a:lnTo>
                <a:lnTo>
                  <a:pt x="22208744" y="574040"/>
                </a:lnTo>
                <a:lnTo>
                  <a:pt x="0" y="574040"/>
                </a:lnTo>
                <a:close/>
              </a:path>
            </a:pathLst>
          </a:custGeom>
          <a:solidFill xmlns:a="http://schemas.openxmlformats.org/drawingml/2006/main">
            <a:srgbClr val="162B43"/>
          </a:solidFill>
        </p:spPr>
      </p:sp>
      <p:sp>
        <p:nvSpPr>
          <p:cNvPr id="52" name="Freeform 52">
            <a:extLst xmlns:a="http://schemas.openxmlformats.org/drawingml/2006/main">
              <a:ext uri="{FF2B5EF4-FFF2-40B4-BE49-F238E27FC236}">
                <a16:creationId xmlns:a16="http://schemas.microsoft.com/office/drawing/2014/main" id="{F49E6BA5-A5C8-4FFC-B5B2-902934C8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132" y="9210294"/>
            <a:ext cx="1536192" cy="219456"/>
          </a:xfrm>
          <a:custGeom xmlns:a="http://schemas.openxmlformats.org/drawingml/2006/main">
            <a:rect l="l" t="t" r="r" b="b"/>
            <a:pathLst>
              <a:path w="2048256" h="292608">
                <a:moveTo>
                  <a:pt x="0" y="0"/>
                </a:moveTo>
                <a:lnTo>
                  <a:pt x="2048256" y="0"/>
                </a:lnTo>
                <a:lnTo>
                  <a:pt x="2048256" y="292608"/>
                </a:lnTo>
                <a:lnTo>
                  <a:pt x="0" y="29260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4d4f3ff8884455">
              <a:alphaModFix amt="0"/>
            </a:blip>
            <a:stretch>
              <a:fillRect l="0" t="-86395" r="0" b="-86395"/>
            </a:stretch>
          </a:blipFill>
        </p:spPr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6E96F070-DE7F-45FB-9238-10CBEF2B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132" y="9196007"/>
            <a:ext cx="1536192" cy="2337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18"/>
              </a:lnSpc>
              <a:buNone/>
            </a:pPr>
            <a:r>
              <a:rPr sz="1635" spc="6">
                <a:solidFill>
                  <a:srgbClr val="C8D7E6"/>
                </a:solidFill>
                <a:latin typeface="Mandali"/>
                <a:ea typeface="Mandali"/>
                <a:cs typeface="Mandali"/>
              </a:rPr>
              <a:t>핵심 결과</a:t>
            </a:r>
          </a:p>
        </p:txBody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AB5BF60D-04F0-4130-8EF1-7213CECD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0632" y="9196578"/>
            <a:ext cx="14374368" cy="274320"/>
          </a:xfrm>
          <a:custGeom xmlns:a="http://schemas.openxmlformats.org/drawingml/2006/main">
            <a:rect l="l" t="t" r="r" b="b"/>
            <a:pathLst>
              <a:path w="19165824" h="365760">
                <a:moveTo>
                  <a:pt x="0" y="0"/>
                </a:moveTo>
                <a:lnTo>
                  <a:pt x="19165824" y="0"/>
                </a:lnTo>
                <a:lnTo>
                  <a:pt x="19165824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4d4f3ff8884455">
              <a:alphaModFix amt="0"/>
            </a:blip>
            <a:stretch>
              <a:fillRect l="0" t="-971016" r="0" b="-971016"/>
            </a:stretch>
          </a:blipFill>
        </p:spPr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5B1380C5-6827-4ABD-94A9-86BA5B0B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0632" y="9189435"/>
            <a:ext cx="14374368" cy="281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88"/>
              </a:lnSpc>
              <a:buNone/>
            </a:pPr>
            <a:r>
              <a:rPr sz="1920" spc="7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수분 이동의 구동력 규명을 회귀분석으로 설명 시도.</a:t>
            </a:r>
          </a:p>
        </p:txBody>
      </p:sp>
      <p:sp>
        <p:nvSpPr>
          <p:cNvPr id="57" name="AutoShape 57">
            <a:extLst xmlns:a="http://schemas.openxmlformats.org/drawingml/2006/main">
              <a:ext uri="{FF2B5EF4-FFF2-40B4-BE49-F238E27FC236}">
                <a16:creationId xmlns:a16="http://schemas.microsoft.com/office/drawing/2014/main" id="{B3768B77-5C4D-4C88-9A27-8F796E33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60">
            <a:off x="816293" y="9706166"/>
            <a:ext cx="1665085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9BFFD4FE-61FB-404A-9F1E-F8DF0EAD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3832" y="7694676"/>
            <a:ext cx="11905488" cy="1234440"/>
          </a:xfrm>
          <a:custGeom xmlns:a="http://schemas.openxmlformats.org/drawingml/2006/main">
            <a:rect l="l" t="t" r="r" b="b"/>
            <a:pathLst>
              <a:path w="15873985" h="1645920">
                <a:moveTo>
                  <a:pt x="0" y="0"/>
                </a:moveTo>
                <a:lnTo>
                  <a:pt x="15873985" y="0"/>
                </a:lnTo>
                <a:lnTo>
                  <a:pt x="15873985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4d4f3ff8884455">
              <a:alphaModFix amt="0"/>
            </a:blip>
            <a:stretch>
              <a:fillRect l="0" t="-137922" r="0" b="-137922"/>
            </a:stretch>
          </a:blipFill>
        </p:spPr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03881226-E7F9-4D6A-A576-2E1D4280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3832" y="7673245"/>
            <a:ext cx="11905488" cy="1255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688"/>
              </a:lnSpc>
              <a:buNone/>
            </a:pPr>
            <a:r>
              <a:rPr sz="1964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정상 상태 (steady-state) 에서 상대 습도 조건이 수분 분포 형태를 표현하는 데 중요한 요인이었다.</a:t>
            </a:r>
          </a:p>
          <a:p xmlns:a="http://schemas.openxmlformats.org/drawingml/2006/main">
            <a:pPr algn="l">
              <a:lnSpc>
                <a:spcPts val="2688"/>
              </a:lnSpc>
              <a:buNone/>
            </a:pPr>
            <a:r>
              <a:rPr sz="1964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정상 상태에서 정확한 확산 계수를 얻는다면, 비정상 상태(non-steady state) 조건에서 확산 계수를 확보할 수 있을 것이고, 확산계수를 활용해서 구동력을 규명할 수 있다.</a:t>
            </a:r>
          </a:p>
          <a:p xmlns:a="http://schemas.openxmlformats.org/drawingml/2006/main">
            <a:pPr algn="l">
              <a:lnSpc>
                <a:spcPts val="2688"/>
              </a:lnSpc>
              <a:buNone/>
            </a:pPr>
            <a:r>
              <a:rPr sz="1964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이 과정을 위해서 더욱 치밀한 실험 설계와 더 많은 데이터를 확보하는 것이 요구된다.</a:t>
            </a:r>
          </a:p>
        </p:txBody>
      </p:sp>
    </p:spTree>
    <p:extLst>
      <p:ext uri="{BB962C8B-B14F-4D97-AF65-F5344CB8AC3E}">
        <p14:creationId xmlns:p14="http://schemas.microsoft.com/office/powerpoint/2010/main" val="3898852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30ADBD3-6333-4FAF-8277-D9153D50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93776"/>
            <a:ext cx="16596360" cy="301752"/>
          </a:xfrm>
          <a:custGeom xmlns:a="http://schemas.openxmlformats.org/drawingml/2006/main">
            <a:rect l="l" t="t" r="r" b="b"/>
            <a:pathLst>
              <a:path w="22128480" h="402336">
                <a:moveTo>
                  <a:pt x="0" y="0"/>
                </a:moveTo>
                <a:lnTo>
                  <a:pt x="22128480" y="0"/>
                </a:lnTo>
                <a:lnTo>
                  <a:pt x="22128480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1021677" r="0" b="-1021677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34E3ECF0-9D90-404F-AC1F-54D04C69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86633"/>
            <a:ext cx="16596360" cy="308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99"/>
              </a:lnSpc>
              <a:buNone/>
            </a:pPr>
            <a:r>
              <a:rPr sz="1620" spc="12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03  /  SYSTEM DEVELOPMENT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F3BE409A-35A0-4C2F-8505-C81E5073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124712"/>
            <a:ext cx="16596360" cy="685800"/>
          </a:xfrm>
          <a:custGeom xmlns:a="http://schemas.openxmlformats.org/drawingml/2006/main">
            <a:rect l="l" t="t" r="r" b="b"/>
            <a:pathLst>
              <a:path w="22128480" h="914400">
                <a:moveTo>
                  <a:pt x="0" y="0"/>
                </a:moveTo>
                <a:lnTo>
                  <a:pt x="22128480" y="0"/>
                </a:lnTo>
                <a:lnTo>
                  <a:pt x="22128480" y="914400"/>
                </a:lnTo>
                <a:lnTo>
                  <a:pt x="0" y="914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421537" r="0" b="-421537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A9FB83D-57AB-4795-9F3F-EF89D793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096137"/>
            <a:ext cx="1659636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5248"/>
              </a:lnSpc>
              <a:buNone/>
            </a:pPr>
            <a:r>
              <a:rPr sz="4050" spc="15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로컬 LLM 기반 악성 코드 분석 시스템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B4A382B1-1D32-4126-97DF-D93D9598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20240"/>
            <a:ext cx="16459200" cy="411480"/>
          </a:xfrm>
          <a:custGeom xmlns:a="http://schemas.openxmlformats.org/drawingml/2006/main">
            <a:rect l="l" t="t" r="r" b="b"/>
            <a:pathLst>
              <a:path w="21945600" h="548640">
                <a:moveTo>
                  <a:pt x="0" y="0"/>
                </a:moveTo>
                <a:lnTo>
                  <a:pt x="21945600" y="0"/>
                </a:lnTo>
                <a:lnTo>
                  <a:pt x="2194560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729401" r="0" b="-729401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8D0B8AF-3FB1-4274-BCD6-330CA691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13097"/>
            <a:ext cx="16459200" cy="418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88"/>
              </a:lnSpc>
              <a:buNone/>
            </a:pPr>
            <a:r>
              <a:rPr sz="1920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공개 프로젝트 구조를 프로젝트 요구에 맞게 재구성하고, 임의의 Python code를 테스트하는 프로토타입 구현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B0C51C4E-C60B-408A-A421-CF4EB46E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93" y="2750248"/>
            <a:ext cx="10506075" cy="6624447"/>
          </a:xfrm>
          <a:custGeom xmlns:a="http://schemas.openxmlformats.org/drawingml/2006/main">
            <a:rect l="l" t="t" r="r" b="b"/>
            <a:pathLst>
              <a:path w="14008100" h="8832596">
                <a:moveTo>
                  <a:pt x="0" y="0"/>
                </a:moveTo>
                <a:lnTo>
                  <a:pt x="14008100" y="0"/>
                </a:lnTo>
                <a:lnTo>
                  <a:pt x="14008100" y="8832596"/>
                </a:lnTo>
                <a:lnTo>
                  <a:pt x="0" y="88325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FBFFF8C-CEB5-4453-BECD-23F774AF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3058668"/>
            <a:ext cx="9573768" cy="342900"/>
          </a:xfrm>
          <a:custGeom xmlns:a="http://schemas.openxmlformats.org/drawingml/2006/main">
            <a:rect l="l" t="t" r="r" b="b"/>
            <a:pathLst>
              <a:path w="12765024" h="457200">
                <a:moveTo>
                  <a:pt x="0" y="0"/>
                </a:moveTo>
                <a:lnTo>
                  <a:pt x="12765024" y="0"/>
                </a:lnTo>
                <a:lnTo>
                  <a:pt x="12765024" y="457200"/>
                </a:lnTo>
                <a:lnTo>
                  <a:pt x="0" y="4572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494022" r="0" b="-494022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74DF4C3B-5A4C-4272-8B18-25FF25CF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3044381"/>
            <a:ext cx="9573768" cy="357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85"/>
              </a:lnSpc>
              <a:buNone/>
            </a:pPr>
            <a:r>
              <a:rPr sz="199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개발 구조  |  핵심 처리 흐름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A6D9A23E-D882-476F-A32E-50BEAEDF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0340" y="3902392"/>
            <a:ext cx="2591943" cy="932307"/>
          </a:xfrm>
          <a:custGeom xmlns:a="http://schemas.openxmlformats.org/drawingml/2006/main">
            <a:rect l="l" t="t" r="r" b="b"/>
            <a:pathLst>
              <a:path w="3455924" h="1243076">
                <a:moveTo>
                  <a:pt x="0" y="148463"/>
                </a:moveTo>
                <a:cubicBezTo>
                  <a:pt x="0" y="66421"/>
                  <a:pt x="66421" y="0"/>
                  <a:pt x="148463" y="0"/>
                </a:cubicBezTo>
                <a:lnTo>
                  <a:pt x="3307461" y="0"/>
                </a:lnTo>
                <a:cubicBezTo>
                  <a:pt x="3389376" y="0"/>
                  <a:pt x="3455924" y="66421"/>
                  <a:pt x="3455924" y="148463"/>
                </a:cubicBezTo>
                <a:lnTo>
                  <a:pt x="3455924" y="1094613"/>
                </a:lnTo>
                <a:cubicBezTo>
                  <a:pt x="3455924" y="1176528"/>
                  <a:pt x="3389503" y="1243076"/>
                  <a:pt x="3307461" y="1243076"/>
                </a:cubicBezTo>
                <a:lnTo>
                  <a:pt x="148463" y="1243076"/>
                </a:lnTo>
                <a:cubicBezTo>
                  <a:pt x="66421" y="1243076"/>
                  <a:pt x="0" y="1176655"/>
                  <a:pt x="0" y="1094613"/>
                </a:cubicBezTo>
                <a:close/>
              </a:path>
            </a:pathLst>
          </a:custGeom>
          <a:solidFill xmlns:a="http://schemas.openxmlformats.org/drawingml/2006/main">
            <a:srgbClr val="F0F3F6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C18AAB4-D0D4-452C-9CDE-D8737CDD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6736" y="4032504"/>
            <a:ext cx="2359152" cy="370332"/>
          </a:xfrm>
          <a:custGeom xmlns:a="http://schemas.openxmlformats.org/drawingml/2006/main">
            <a:rect l="l" t="t" r="r" b="b"/>
            <a:pathLst>
              <a:path w="3145536" h="493776">
                <a:moveTo>
                  <a:pt x="0" y="0"/>
                </a:moveTo>
                <a:lnTo>
                  <a:pt x="3145536" y="0"/>
                </a:lnTo>
                <a:lnTo>
                  <a:pt x="3145536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74126" r="0" b="-74126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6AA046BC-F78A-4256-B59D-8D52F555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6736" y="4011073"/>
            <a:ext cx="2359152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코드 · 기준 PDF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5E5563E3-DF42-4BE4-AF0A-F3448A67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020" y="4457700"/>
            <a:ext cx="2386584" cy="274320"/>
          </a:xfrm>
          <a:custGeom xmlns:a="http://schemas.openxmlformats.org/drawingml/2006/main">
            <a:rect l="l" t="t" r="r" b="b"/>
            <a:pathLst>
              <a:path w="3182112" h="365760">
                <a:moveTo>
                  <a:pt x="0" y="0"/>
                </a:moveTo>
                <a:lnTo>
                  <a:pt x="3182112" y="0"/>
                </a:lnTo>
                <a:lnTo>
                  <a:pt x="3182112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119519" r="0" b="-119519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93C4295A-3C0D-4D38-93BB-6DFA2D16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020" y="4443413"/>
            <a:ext cx="2386584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입력 자료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5D937837-762A-4429-8183-37B28C6D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1304" y="3902392"/>
            <a:ext cx="2468499" cy="932307"/>
          </a:xfrm>
          <a:custGeom xmlns:a="http://schemas.openxmlformats.org/drawingml/2006/main">
            <a:rect l="l" t="t" r="r" b="b"/>
            <a:pathLst>
              <a:path w="3291332" h="1243076">
                <a:moveTo>
                  <a:pt x="0" y="148463"/>
                </a:moveTo>
                <a:cubicBezTo>
                  <a:pt x="0" y="66421"/>
                  <a:pt x="66421" y="0"/>
                  <a:pt x="148463" y="0"/>
                </a:cubicBezTo>
                <a:lnTo>
                  <a:pt x="3142869" y="0"/>
                </a:lnTo>
                <a:cubicBezTo>
                  <a:pt x="3224784" y="0"/>
                  <a:pt x="3291332" y="66421"/>
                  <a:pt x="3291332" y="148463"/>
                </a:cubicBezTo>
                <a:lnTo>
                  <a:pt x="3291332" y="1094613"/>
                </a:lnTo>
                <a:cubicBezTo>
                  <a:pt x="3291332" y="1176528"/>
                  <a:pt x="3224911" y="1243076"/>
                  <a:pt x="3142869" y="1243076"/>
                </a:cubicBezTo>
                <a:lnTo>
                  <a:pt x="148463" y="1243076"/>
                </a:lnTo>
                <a:cubicBezTo>
                  <a:pt x="66421" y="1243076"/>
                  <a:pt x="0" y="1176655"/>
                  <a:pt x="0" y="1094613"/>
                </a:cubicBezTo>
                <a:close/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87CB985C-E527-4EBE-8E00-8E58E29C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7700" y="4032504"/>
            <a:ext cx="2235708" cy="370332"/>
          </a:xfrm>
          <a:custGeom xmlns:a="http://schemas.openxmlformats.org/drawingml/2006/main">
            <a:rect l="l" t="t" r="r" b="b"/>
            <a:pathLst>
              <a:path w="2980944" h="493776">
                <a:moveTo>
                  <a:pt x="0" y="0"/>
                </a:moveTo>
                <a:lnTo>
                  <a:pt x="2980944" y="0"/>
                </a:lnTo>
                <a:lnTo>
                  <a:pt x="2980944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67631" r="0" b="-67631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A68820B-F1FE-475B-85BE-3EAADE9D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7700" y="4011073"/>
            <a:ext cx="2235708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MCP Server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61865580-D369-4293-ACE6-1B0AD26A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3984" y="4457700"/>
            <a:ext cx="2263140" cy="274320"/>
          </a:xfrm>
          <a:custGeom xmlns:a="http://schemas.openxmlformats.org/drawingml/2006/main">
            <a:rect l="l" t="t" r="r" b="b"/>
            <a:pathLst>
              <a:path w="3017520" h="365760">
                <a:moveTo>
                  <a:pt x="0" y="0"/>
                </a:moveTo>
                <a:lnTo>
                  <a:pt x="3017520" y="0"/>
                </a:lnTo>
                <a:lnTo>
                  <a:pt x="3017520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110751" r="0" b="-110751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71CEF7FC-4728-4C92-9CB1-59ABBADC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3984" y="4443413"/>
            <a:ext cx="2263140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Jadx-ai-mcp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A3989FA-CD6B-477C-9417-46C66F42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8825" y="3902392"/>
            <a:ext cx="3387471" cy="932307"/>
          </a:xfrm>
          <a:custGeom xmlns:a="http://schemas.openxmlformats.org/drawingml/2006/main">
            <a:rect l="l" t="t" r="r" b="b"/>
            <a:pathLst>
              <a:path w="4516628" h="1243076">
                <a:moveTo>
                  <a:pt x="0" y="148463"/>
                </a:moveTo>
                <a:cubicBezTo>
                  <a:pt x="0" y="66421"/>
                  <a:pt x="66421" y="0"/>
                  <a:pt x="148463" y="0"/>
                </a:cubicBezTo>
                <a:lnTo>
                  <a:pt x="4368165" y="0"/>
                </a:lnTo>
                <a:cubicBezTo>
                  <a:pt x="4450080" y="0"/>
                  <a:pt x="4516628" y="66421"/>
                  <a:pt x="4516628" y="148463"/>
                </a:cubicBezTo>
                <a:lnTo>
                  <a:pt x="4516628" y="1094613"/>
                </a:lnTo>
                <a:cubicBezTo>
                  <a:pt x="4516628" y="1176528"/>
                  <a:pt x="4450207" y="1243076"/>
                  <a:pt x="4368165" y="1243076"/>
                </a:cubicBezTo>
                <a:lnTo>
                  <a:pt x="148463" y="1243076"/>
                </a:lnTo>
                <a:cubicBezTo>
                  <a:pt x="66421" y="1243076"/>
                  <a:pt x="0" y="1176655"/>
                  <a:pt x="0" y="1094613"/>
                </a:cubicBezTo>
                <a:close/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C2D3287C-90A7-468C-9C15-B1193E96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4032504"/>
            <a:ext cx="3154680" cy="370332"/>
          </a:xfrm>
          <a:custGeom xmlns:a="http://schemas.openxmlformats.org/drawingml/2006/main">
            <a:rect l="l" t="t" r="r" b="b"/>
            <a:pathLst>
              <a:path w="4206240" h="493776">
                <a:moveTo>
                  <a:pt x="0" y="0"/>
                </a:moveTo>
                <a:lnTo>
                  <a:pt x="4206240" y="0"/>
                </a:lnTo>
                <a:lnTo>
                  <a:pt x="4206240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115983" r="0" b="-115983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CAE461B9-1D9E-447C-93A8-B624A8C1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4011073"/>
            <a:ext cx="3154680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Remediation Service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84907B65-E385-4F09-A2A8-99503F50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1504" y="4457700"/>
            <a:ext cx="3182112" cy="274320"/>
          </a:xfrm>
          <a:custGeom xmlns:a="http://schemas.openxmlformats.org/drawingml/2006/main">
            <a:rect l="l" t="t" r="r" b="b"/>
            <a:pathLst>
              <a:path w="4242816" h="365760">
                <a:moveTo>
                  <a:pt x="0" y="0"/>
                </a:moveTo>
                <a:lnTo>
                  <a:pt x="4242816" y="0"/>
                </a:lnTo>
                <a:lnTo>
                  <a:pt x="4242816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176026" r="0" b="-176026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6ACE033F-6102-4669-ADD5-C16DEED9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1504" y="4443413"/>
            <a:ext cx="3182112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호출 · 결과 조정</a:t>
            </a:r>
          </a:p>
        </p:txBody>
      </p:sp>
      <p:sp>
        <p:nvSpPr>
          <p:cNvPr id="40" name="AutoShape 40">
            <a:extLst xmlns:a="http://schemas.openxmlformats.org/drawingml/2006/main">
              <a:ext uri="{FF2B5EF4-FFF2-40B4-BE49-F238E27FC236}">
                <a16:creationId xmlns:a16="http://schemas.microsoft.com/office/drawing/2014/main" id="{B089A4DB-3999-41F2-A77F-667937C0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1240">
            <a:off x="3814020" y="4356926"/>
            <a:ext cx="42325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1" name="AutoShape 41">
            <a:extLst xmlns:a="http://schemas.openxmlformats.org/drawingml/2006/main">
              <a:ext uri="{FF2B5EF4-FFF2-40B4-BE49-F238E27FC236}">
                <a16:creationId xmlns:a16="http://schemas.microsoft.com/office/drawing/2014/main" id="{AE020B7A-B8F5-4697-BC88-7B45A9A4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1240">
            <a:off x="6831540" y="4356926"/>
            <a:ext cx="42325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2" name="AutoShape 42">
            <a:extLst xmlns:a="http://schemas.openxmlformats.org/drawingml/2006/main">
              <a:ext uri="{FF2B5EF4-FFF2-40B4-BE49-F238E27FC236}">
                <a16:creationId xmlns:a16="http://schemas.microsoft.com/office/drawing/2014/main" id="{8F10C3F6-1CEC-490D-9560-D7F7F8D5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09380">
            <a:off x="8849763" y="5029010"/>
            <a:ext cx="378152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AutoShape 43">
            <a:extLst xmlns:a="http://schemas.openxmlformats.org/drawingml/2006/main">
              <a:ext uri="{FF2B5EF4-FFF2-40B4-BE49-F238E27FC236}">
                <a16:creationId xmlns:a16="http://schemas.microsoft.com/office/drawing/2014/main" id="{A3C8967F-9D45-46E4-A9CF-57684DCC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780">
            <a:off x="2293791" y="5207318"/>
            <a:ext cx="7386476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88DD70A6-E5E4-40B0-9326-B35579AA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316" y="4882896"/>
            <a:ext cx="3223260" cy="233172"/>
          </a:xfrm>
          <a:custGeom xmlns:a="http://schemas.openxmlformats.org/drawingml/2006/main">
            <a:rect l="l" t="t" r="r" b="b"/>
            <a:pathLst>
              <a:path w="4297680" h="310896">
                <a:moveTo>
                  <a:pt x="0" y="0"/>
                </a:moveTo>
                <a:lnTo>
                  <a:pt x="4297680" y="0"/>
                </a:lnTo>
                <a:lnTo>
                  <a:pt x="4297680" y="310896"/>
                </a:lnTo>
                <a:lnTo>
                  <a:pt x="0" y="3108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219352" r="0" b="-219352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573AD77-5A8A-4BD1-852C-2E56C30B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316" y="4875753"/>
            <a:ext cx="3223260" cy="2403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7"/>
              </a:lnSpc>
              <a:buNone/>
            </a:pPr>
            <a:r>
              <a:rPr sz="1395" spc="5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A2A / gRPC</a:t>
            </a:r>
          </a:p>
        </p:txBody>
      </p:sp>
      <p:sp>
        <p:nvSpPr>
          <p:cNvPr id="47" name="AutoShape 47">
            <a:extLst xmlns:a="http://schemas.openxmlformats.org/drawingml/2006/main">
              <a:ext uri="{FF2B5EF4-FFF2-40B4-BE49-F238E27FC236}">
                <a16:creationId xmlns:a16="http://schemas.microsoft.com/office/drawing/2014/main" id="{7EFE9B8E-C874-419F-9A05-546BC911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77100">
            <a:off x="2157298" y="5344478"/>
            <a:ext cx="293989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6AB6D9E9-5E11-41C6-AC3A-70CF95D3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0340" y="5534596"/>
            <a:ext cx="2194179" cy="1014603"/>
          </a:xfrm>
          <a:custGeom xmlns:a="http://schemas.openxmlformats.org/drawingml/2006/main">
            <a:rect l="l" t="t" r="r" b="b"/>
            <a:pathLst>
              <a:path w="2925572" h="1352804">
                <a:moveTo>
                  <a:pt x="0" y="148209"/>
                </a:moveTo>
                <a:cubicBezTo>
                  <a:pt x="0" y="66421"/>
                  <a:pt x="66421" y="0"/>
                  <a:pt x="148209" y="0"/>
                </a:cubicBezTo>
                <a:lnTo>
                  <a:pt x="2777363" y="0"/>
                </a:lnTo>
                <a:cubicBezTo>
                  <a:pt x="2859278" y="0"/>
                  <a:pt x="2925572" y="66421"/>
                  <a:pt x="2925572" y="148209"/>
                </a:cubicBezTo>
                <a:lnTo>
                  <a:pt x="2925572" y="1204595"/>
                </a:lnTo>
                <a:cubicBezTo>
                  <a:pt x="2925572" y="1286510"/>
                  <a:pt x="2859151" y="1352804"/>
                  <a:pt x="2777363" y="1352804"/>
                </a:cubicBezTo>
                <a:lnTo>
                  <a:pt x="148209" y="1352804"/>
                </a:lnTo>
                <a:cubicBezTo>
                  <a:pt x="66421" y="1352804"/>
                  <a:pt x="0" y="1286383"/>
                  <a:pt x="0" y="120459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17E675BD-EF30-4593-A377-F00635F0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6736" y="5664708"/>
            <a:ext cx="1961388" cy="370332"/>
          </a:xfrm>
          <a:custGeom xmlns:a="http://schemas.openxmlformats.org/drawingml/2006/main">
            <a:rect l="l" t="t" r="r" b="b"/>
            <a:pathLst>
              <a:path w="2615184" h="493776">
                <a:moveTo>
                  <a:pt x="0" y="0"/>
                </a:moveTo>
                <a:lnTo>
                  <a:pt x="2615184" y="0"/>
                </a:lnTo>
                <a:lnTo>
                  <a:pt x="2615184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53198" r="0" b="-53198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E2F51A37-E30D-4915-B993-9B328739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6736" y="5643277"/>
            <a:ext cx="1961388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Quick</a:t>
            </a:r>
          </a:p>
        </p:txBody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F773E231-5AA8-4970-9513-D537DCC5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020" y="6089904"/>
            <a:ext cx="1988820" cy="274320"/>
          </a:xfrm>
          <a:custGeom xmlns:a="http://schemas.openxmlformats.org/drawingml/2006/main">
            <a:rect l="l" t="t" r="r" b="b"/>
            <a:pathLst>
              <a:path w="2651760" h="365760">
                <a:moveTo>
                  <a:pt x="0" y="0"/>
                </a:moveTo>
                <a:lnTo>
                  <a:pt x="2651760" y="0"/>
                </a:lnTo>
                <a:lnTo>
                  <a:pt x="2651760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91266" r="0" b="-91266"/>
            </a:stretch>
          </a:blipFill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6CA5C0B8-592D-479A-9144-02A6155B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020" y="6075617"/>
            <a:ext cx="1988820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패턴 검사</a:t>
            </a:r>
          </a:p>
        </p:txBody>
      </p:sp>
      <p:sp>
        <p:nvSpPr>
          <p:cNvPr id="56" name="AutoShape 56">
            <a:extLst xmlns:a="http://schemas.openxmlformats.org/drawingml/2006/main">
              <a:ext uri="{FF2B5EF4-FFF2-40B4-BE49-F238E27FC236}">
                <a16:creationId xmlns:a16="http://schemas.microsoft.com/office/drawing/2014/main" id="{ED479723-242E-4006-8129-EA6E9F9C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98040">
            <a:off x="2158308" y="6688646"/>
            <a:ext cx="29197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66728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7" name="AutoShape 57">
            <a:extLst xmlns:a="http://schemas.openxmlformats.org/drawingml/2006/main">
              <a:ext uri="{FF2B5EF4-FFF2-40B4-BE49-F238E27FC236}">
                <a16:creationId xmlns:a16="http://schemas.microsoft.com/office/drawing/2014/main" id="{33C6AC16-35D1-43B7-9F04-F38C738F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77100">
            <a:off x="4612462" y="5344478"/>
            <a:ext cx="293989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AA274129-94F0-496E-86C2-86ABFCC1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55504" y="5534596"/>
            <a:ext cx="2194179" cy="1014603"/>
          </a:xfrm>
          <a:custGeom xmlns:a="http://schemas.openxmlformats.org/drawingml/2006/main">
            <a:rect l="l" t="t" r="r" b="b"/>
            <a:pathLst>
              <a:path w="2925572" h="1352804">
                <a:moveTo>
                  <a:pt x="0" y="148209"/>
                </a:moveTo>
                <a:cubicBezTo>
                  <a:pt x="0" y="66421"/>
                  <a:pt x="66421" y="0"/>
                  <a:pt x="148209" y="0"/>
                </a:cubicBezTo>
                <a:lnTo>
                  <a:pt x="2777363" y="0"/>
                </a:lnTo>
                <a:cubicBezTo>
                  <a:pt x="2859278" y="0"/>
                  <a:pt x="2925572" y="66421"/>
                  <a:pt x="2925572" y="148209"/>
                </a:cubicBezTo>
                <a:lnTo>
                  <a:pt x="2925572" y="1204595"/>
                </a:lnTo>
                <a:cubicBezTo>
                  <a:pt x="2925572" y="1286510"/>
                  <a:pt x="2859151" y="1352804"/>
                  <a:pt x="2777363" y="1352804"/>
                </a:cubicBezTo>
                <a:lnTo>
                  <a:pt x="148209" y="1352804"/>
                </a:lnTo>
                <a:cubicBezTo>
                  <a:pt x="66421" y="1352804"/>
                  <a:pt x="0" y="1286383"/>
                  <a:pt x="0" y="120459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0CA0BA22-C527-49CA-A5DA-BD82E148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5664708"/>
            <a:ext cx="1961388" cy="370332"/>
          </a:xfrm>
          <a:custGeom xmlns:a="http://schemas.openxmlformats.org/drawingml/2006/main">
            <a:rect l="l" t="t" r="r" b="b"/>
            <a:pathLst>
              <a:path w="2615184" h="493776">
                <a:moveTo>
                  <a:pt x="0" y="0"/>
                </a:moveTo>
                <a:lnTo>
                  <a:pt x="2615184" y="0"/>
                </a:lnTo>
                <a:lnTo>
                  <a:pt x="2615184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53198" r="0" b="-53198"/>
            </a:stretch>
          </a:blipFill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B2AE805A-D725-4C43-94A7-D5116A26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5643277"/>
            <a:ext cx="1961388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Secrets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DB9DEF32-2E1E-464E-9212-C22FAB41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8184" y="6089904"/>
            <a:ext cx="1988820" cy="274320"/>
          </a:xfrm>
          <a:custGeom xmlns:a="http://schemas.openxmlformats.org/drawingml/2006/main">
            <a:rect l="l" t="t" r="r" b="b"/>
            <a:pathLst>
              <a:path w="2651760" h="365760">
                <a:moveTo>
                  <a:pt x="0" y="0"/>
                </a:moveTo>
                <a:lnTo>
                  <a:pt x="2651760" y="0"/>
                </a:lnTo>
                <a:lnTo>
                  <a:pt x="2651760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91266" r="0" b="-91266"/>
            </a:stretch>
          </a:blipFill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67FBBCD9-9E76-4795-839E-AF0FA512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8184" y="6075617"/>
            <a:ext cx="1988820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시크릿 탐지</a:t>
            </a:r>
          </a:p>
        </p:txBody>
      </p:sp>
      <p:sp>
        <p:nvSpPr>
          <p:cNvPr id="66" name="AutoShape 66">
            <a:extLst xmlns:a="http://schemas.openxmlformats.org/drawingml/2006/main">
              <a:ext uri="{FF2B5EF4-FFF2-40B4-BE49-F238E27FC236}">
                <a16:creationId xmlns:a16="http://schemas.microsoft.com/office/drawing/2014/main" id="{63BD777D-2790-4C47-A4FD-F6B3BF82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98040">
            <a:off x="4613472" y="6688646"/>
            <a:ext cx="29197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66728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7" name="AutoShape 67">
            <a:extLst xmlns:a="http://schemas.openxmlformats.org/drawingml/2006/main">
              <a:ext uri="{FF2B5EF4-FFF2-40B4-BE49-F238E27FC236}">
                <a16:creationId xmlns:a16="http://schemas.microsoft.com/office/drawing/2014/main" id="{26E946B9-F58D-4A5A-BD56-77C5AA2E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77100">
            <a:off x="7067626" y="5344478"/>
            <a:ext cx="293989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FA432B1B-7B5E-410C-9428-58B372ED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668" y="5534596"/>
            <a:ext cx="2194179" cy="1014603"/>
          </a:xfrm>
          <a:custGeom xmlns:a="http://schemas.openxmlformats.org/drawingml/2006/main">
            <a:rect l="l" t="t" r="r" b="b"/>
            <a:pathLst>
              <a:path w="2925572" h="1352804">
                <a:moveTo>
                  <a:pt x="0" y="148209"/>
                </a:moveTo>
                <a:cubicBezTo>
                  <a:pt x="0" y="66421"/>
                  <a:pt x="66421" y="0"/>
                  <a:pt x="148209" y="0"/>
                </a:cubicBezTo>
                <a:lnTo>
                  <a:pt x="2777363" y="0"/>
                </a:lnTo>
                <a:cubicBezTo>
                  <a:pt x="2859278" y="0"/>
                  <a:pt x="2925572" y="66421"/>
                  <a:pt x="2925572" y="148209"/>
                </a:cubicBezTo>
                <a:lnTo>
                  <a:pt x="2925572" y="1204595"/>
                </a:lnTo>
                <a:cubicBezTo>
                  <a:pt x="2925572" y="1286510"/>
                  <a:pt x="2859151" y="1352804"/>
                  <a:pt x="2777363" y="1352804"/>
                </a:cubicBezTo>
                <a:lnTo>
                  <a:pt x="148209" y="1352804"/>
                </a:lnTo>
                <a:cubicBezTo>
                  <a:pt x="66421" y="1352804"/>
                  <a:pt x="0" y="1286383"/>
                  <a:pt x="0" y="120459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C9D972C5-D430-4720-B64F-EEA8204B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7064" y="5664708"/>
            <a:ext cx="1961388" cy="370332"/>
          </a:xfrm>
          <a:custGeom xmlns:a="http://schemas.openxmlformats.org/drawingml/2006/main">
            <a:rect l="l" t="t" r="r" b="b"/>
            <a:pathLst>
              <a:path w="2615184" h="493776">
                <a:moveTo>
                  <a:pt x="0" y="0"/>
                </a:moveTo>
                <a:lnTo>
                  <a:pt x="2615184" y="0"/>
                </a:lnTo>
                <a:lnTo>
                  <a:pt x="2615184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53198" r="0" b="-53198"/>
            </a:stretch>
          </a:blipFill>
        </p:spPr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24F02314-0728-4710-B7F4-4F9CEC3B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7064" y="5643277"/>
            <a:ext cx="1961388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Static</a:t>
            </a:r>
          </a:p>
        </p:txBody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E2A245F4-FF8E-421F-99FA-18148892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6089904"/>
            <a:ext cx="1988820" cy="274320"/>
          </a:xfrm>
          <a:custGeom xmlns:a="http://schemas.openxmlformats.org/drawingml/2006/main">
            <a:rect l="l" t="t" r="r" b="b"/>
            <a:pathLst>
              <a:path w="2651760" h="365760">
                <a:moveTo>
                  <a:pt x="0" y="0"/>
                </a:moveTo>
                <a:lnTo>
                  <a:pt x="2651760" y="0"/>
                </a:lnTo>
                <a:lnTo>
                  <a:pt x="2651760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91266" r="0" b="-91266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4C768DDE-8BA3-4120-A3A7-732E98CF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6075617"/>
            <a:ext cx="1988820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정적 분석</a:t>
            </a:r>
          </a:p>
        </p:txBody>
      </p:sp>
      <p:sp>
        <p:nvSpPr>
          <p:cNvPr id="76" name="AutoShape 76">
            <a:extLst xmlns:a="http://schemas.openxmlformats.org/drawingml/2006/main">
              <a:ext uri="{FF2B5EF4-FFF2-40B4-BE49-F238E27FC236}">
                <a16:creationId xmlns:a16="http://schemas.microsoft.com/office/drawing/2014/main" id="{BF9A4993-6049-4AF4-8CCC-6F9F4193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98040">
            <a:off x="7068636" y="6688646"/>
            <a:ext cx="29197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66728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7" name="AutoShape 77">
            <a:extLst xmlns:a="http://schemas.openxmlformats.org/drawingml/2006/main">
              <a:ext uri="{FF2B5EF4-FFF2-40B4-BE49-F238E27FC236}">
                <a16:creationId xmlns:a16="http://schemas.microsoft.com/office/drawing/2014/main" id="{2BC6C12D-696A-442C-ADBF-3425A8F6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77100">
            <a:off x="9522790" y="5344478"/>
            <a:ext cx="293989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9" name="Freeform 79">
            <a:extLst xmlns:a="http://schemas.openxmlformats.org/drawingml/2006/main">
              <a:ext uri="{FF2B5EF4-FFF2-40B4-BE49-F238E27FC236}">
                <a16:creationId xmlns:a16="http://schemas.microsoft.com/office/drawing/2014/main" id="{BE649E20-7860-4268-A5D7-02048A7C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65832" y="5534596"/>
            <a:ext cx="2194179" cy="1014603"/>
          </a:xfrm>
          <a:custGeom xmlns:a="http://schemas.openxmlformats.org/drawingml/2006/main">
            <a:rect l="l" t="t" r="r" b="b"/>
            <a:pathLst>
              <a:path w="2925572" h="1352804">
                <a:moveTo>
                  <a:pt x="0" y="148209"/>
                </a:moveTo>
                <a:cubicBezTo>
                  <a:pt x="0" y="66421"/>
                  <a:pt x="66421" y="0"/>
                  <a:pt x="148209" y="0"/>
                </a:cubicBezTo>
                <a:lnTo>
                  <a:pt x="2777363" y="0"/>
                </a:lnTo>
                <a:cubicBezTo>
                  <a:pt x="2859278" y="0"/>
                  <a:pt x="2925572" y="66421"/>
                  <a:pt x="2925572" y="148209"/>
                </a:cubicBezTo>
                <a:lnTo>
                  <a:pt x="2925572" y="1204595"/>
                </a:lnTo>
                <a:cubicBezTo>
                  <a:pt x="2925572" y="1286510"/>
                  <a:pt x="2859151" y="1352804"/>
                  <a:pt x="2777363" y="1352804"/>
                </a:cubicBezTo>
                <a:lnTo>
                  <a:pt x="148209" y="1352804"/>
                </a:lnTo>
                <a:cubicBezTo>
                  <a:pt x="66421" y="1352804"/>
                  <a:pt x="0" y="1286383"/>
                  <a:pt x="0" y="120459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81" name="Freeform 81">
            <a:extLst xmlns:a="http://schemas.openxmlformats.org/drawingml/2006/main">
              <a:ext uri="{FF2B5EF4-FFF2-40B4-BE49-F238E27FC236}">
                <a16:creationId xmlns:a16="http://schemas.microsoft.com/office/drawing/2014/main" id="{96EB9FAE-15F0-403A-9FB4-B4828351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2228" y="5664708"/>
            <a:ext cx="1961388" cy="370332"/>
          </a:xfrm>
          <a:custGeom xmlns:a="http://schemas.openxmlformats.org/drawingml/2006/main">
            <a:rect l="l" t="t" r="r" b="b"/>
            <a:pathLst>
              <a:path w="2615184" h="493776">
                <a:moveTo>
                  <a:pt x="0" y="0"/>
                </a:moveTo>
                <a:lnTo>
                  <a:pt x="2615184" y="0"/>
                </a:lnTo>
                <a:lnTo>
                  <a:pt x="2615184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53198" r="0" b="-53198"/>
            </a:stretch>
          </a:blipFill>
        </p:spPr>
      </p:sp>
      <p:sp>
        <p:nvSpPr>
          <p:cNvPr id="82" name="TextBox 82">
            <a:extLst xmlns:a="http://schemas.openxmlformats.org/drawingml/2006/main">
              <a:ext uri="{FF2B5EF4-FFF2-40B4-BE49-F238E27FC236}">
                <a16:creationId xmlns:a16="http://schemas.microsoft.com/office/drawing/2014/main" id="{63459FA7-3058-4441-A783-AA3FCB25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2228" y="5643277"/>
            <a:ext cx="1961388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Criteria</a:t>
            </a:r>
          </a:p>
        </p:txBody>
      </p:sp>
      <p:sp>
        <p:nvSpPr>
          <p:cNvPr id="84" name="Freeform 84">
            <a:extLst xmlns:a="http://schemas.openxmlformats.org/drawingml/2006/main">
              <a:ext uri="{FF2B5EF4-FFF2-40B4-BE49-F238E27FC236}">
                <a16:creationId xmlns:a16="http://schemas.microsoft.com/office/drawing/2014/main" id="{088CD956-A7EC-448D-9548-1F0A7681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8512" y="6089904"/>
            <a:ext cx="1988820" cy="274320"/>
          </a:xfrm>
          <a:custGeom xmlns:a="http://schemas.openxmlformats.org/drawingml/2006/main">
            <a:rect l="l" t="t" r="r" b="b"/>
            <a:pathLst>
              <a:path w="2651760" h="365760">
                <a:moveTo>
                  <a:pt x="0" y="0"/>
                </a:moveTo>
                <a:lnTo>
                  <a:pt x="2651760" y="0"/>
                </a:lnTo>
                <a:lnTo>
                  <a:pt x="2651760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91266" r="0" b="-91266"/>
            </a:stretch>
          </a:blipFill>
        </p:spPr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8123BAE8-7881-4FFE-9AC1-93C6FCAC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8512" y="6075617"/>
            <a:ext cx="1988820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PDF 기준 추출</a:t>
            </a:r>
          </a:p>
        </p:txBody>
      </p:sp>
      <p:sp>
        <p:nvSpPr>
          <p:cNvPr id="86" name="AutoShape 86">
            <a:extLst xmlns:a="http://schemas.openxmlformats.org/drawingml/2006/main">
              <a:ext uri="{FF2B5EF4-FFF2-40B4-BE49-F238E27FC236}">
                <a16:creationId xmlns:a16="http://schemas.microsoft.com/office/drawing/2014/main" id="{98607F79-B6DF-4F13-9DD3-F83EB03F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98040">
            <a:off x="9523800" y="6688646"/>
            <a:ext cx="29197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66728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7" name="AutoShape 87">
            <a:extLst xmlns:a="http://schemas.openxmlformats.org/drawingml/2006/main">
              <a:ext uri="{FF2B5EF4-FFF2-40B4-BE49-F238E27FC236}">
                <a16:creationId xmlns:a16="http://schemas.microsoft.com/office/drawing/2014/main" id="{9DE31780-140B-47D2-B18E-20725047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980">
            <a:off x="2295706" y="6825806"/>
            <a:ext cx="7382656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66728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8" name="AutoShape 88">
            <a:extLst xmlns:a="http://schemas.openxmlformats.org/drawingml/2006/main">
              <a:ext uri="{FF2B5EF4-FFF2-40B4-BE49-F238E27FC236}">
                <a16:creationId xmlns:a16="http://schemas.microsoft.com/office/drawing/2014/main" id="{6351160A-EDB0-4476-8F83-AE62AF83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67200">
            <a:off x="2478624" y="6969824"/>
            <a:ext cx="30970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0" name="Freeform 90">
            <a:extLst xmlns:a="http://schemas.openxmlformats.org/drawingml/2006/main">
              <a:ext uri="{FF2B5EF4-FFF2-40B4-BE49-F238E27FC236}">
                <a16:creationId xmlns:a16="http://schemas.microsoft.com/office/drawing/2014/main" id="{3CBCF275-6FC1-409F-817F-1CF670AD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0340" y="7194232"/>
            <a:ext cx="2907411" cy="1069562"/>
          </a:xfrm>
          <a:custGeom xmlns:a="http://schemas.openxmlformats.org/drawingml/2006/main">
            <a:rect l="l" t="t" r="r" b="b"/>
            <a:pathLst>
              <a:path w="3876548" h="1426083">
                <a:moveTo>
                  <a:pt x="0" y="148209"/>
                </a:moveTo>
                <a:cubicBezTo>
                  <a:pt x="0" y="66294"/>
                  <a:pt x="66294" y="0"/>
                  <a:pt x="148209" y="0"/>
                </a:cubicBezTo>
                <a:lnTo>
                  <a:pt x="3728339" y="0"/>
                </a:lnTo>
                <a:cubicBezTo>
                  <a:pt x="3810127" y="0"/>
                  <a:pt x="3876548" y="66294"/>
                  <a:pt x="3876548" y="148209"/>
                </a:cubicBezTo>
                <a:lnTo>
                  <a:pt x="3876548" y="1277874"/>
                </a:lnTo>
                <a:cubicBezTo>
                  <a:pt x="3876548" y="1359662"/>
                  <a:pt x="3810254" y="1426083"/>
                  <a:pt x="3728339" y="1426083"/>
                </a:cubicBezTo>
                <a:lnTo>
                  <a:pt x="148209" y="1426083"/>
                </a:lnTo>
                <a:cubicBezTo>
                  <a:pt x="66294" y="1425956"/>
                  <a:pt x="0" y="1359662"/>
                  <a:pt x="0" y="1277747"/>
                </a:cubicBezTo>
                <a:close/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92" name="Freeform 92">
            <a:extLst xmlns:a="http://schemas.openxmlformats.org/drawingml/2006/main">
              <a:ext uri="{FF2B5EF4-FFF2-40B4-BE49-F238E27FC236}">
                <a16:creationId xmlns:a16="http://schemas.microsoft.com/office/drawing/2014/main" id="{9D90F3E3-AF13-46DB-8436-A9CBFE56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6736" y="7324344"/>
            <a:ext cx="2674620" cy="370332"/>
          </a:xfrm>
          <a:custGeom xmlns:a="http://schemas.openxmlformats.org/drawingml/2006/main">
            <a:rect l="l" t="t" r="r" b="b"/>
            <a:pathLst>
              <a:path w="3566160" h="493776">
                <a:moveTo>
                  <a:pt x="0" y="0"/>
                </a:moveTo>
                <a:lnTo>
                  <a:pt x="3566160" y="0"/>
                </a:lnTo>
                <a:lnTo>
                  <a:pt x="3566160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90725" r="0" b="-90725"/>
            </a:stretch>
          </a:blipFill>
        </p:spPr>
      </p:sp>
      <p:sp>
        <p:nvSpPr>
          <p:cNvPr id="93" name="TextBox 93">
            <a:extLst xmlns:a="http://schemas.openxmlformats.org/drawingml/2006/main">
              <a:ext uri="{FF2B5EF4-FFF2-40B4-BE49-F238E27FC236}">
                <a16:creationId xmlns:a16="http://schemas.microsoft.com/office/drawing/2014/main" id="{4A53389F-9363-4CA2-9DFB-0ECD69F2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6736" y="7302913"/>
            <a:ext cx="2674620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로컬 LLM</a:t>
            </a:r>
          </a:p>
        </p:txBody>
      </p:sp>
      <p:sp>
        <p:nvSpPr>
          <p:cNvPr id="95" name="Freeform 95">
            <a:extLst xmlns:a="http://schemas.openxmlformats.org/drawingml/2006/main">
              <a:ext uri="{FF2B5EF4-FFF2-40B4-BE49-F238E27FC236}">
                <a16:creationId xmlns:a16="http://schemas.microsoft.com/office/drawing/2014/main" id="{40DDE2A5-BA4B-4365-A030-BB086150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020" y="7749540"/>
            <a:ext cx="2702052" cy="274320"/>
          </a:xfrm>
          <a:custGeom xmlns:a="http://schemas.openxmlformats.org/drawingml/2006/main">
            <a:rect l="l" t="t" r="r" b="b"/>
            <a:pathLst>
              <a:path w="3602736" h="365760">
                <a:moveTo>
                  <a:pt x="0" y="0"/>
                </a:moveTo>
                <a:lnTo>
                  <a:pt x="3602736" y="0"/>
                </a:lnTo>
                <a:lnTo>
                  <a:pt x="3602736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141927" r="0" b="-141927"/>
            </a:stretch>
          </a:blipFill>
        </p:spPr>
      </p:sp>
      <p:sp>
        <p:nvSpPr>
          <p:cNvPr id="96" name="TextBox 96">
            <a:extLst xmlns:a="http://schemas.openxmlformats.org/drawingml/2006/main">
              <a:ext uri="{FF2B5EF4-FFF2-40B4-BE49-F238E27FC236}">
                <a16:creationId xmlns:a16="http://schemas.microsoft.com/office/drawing/2014/main" id="{D08B9FE5-4AAC-47F7-8621-523D4928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020" y="7735253"/>
            <a:ext cx="2702052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종합 분석 · 수정</a:t>
            </a:r>
          </a:p>
        </p:txBody>
      </p:sp>
      <p:sp>
        <p:nvSpPr>
          <p:cNvPr id="98" name="Freeform 98">
            <a:extLst xmlns:a="http://schemas.openxmlformats.org/drawingml/2006/main">
              <a:ext uri="{FF2B5EF4-FFF2-40B4-BE49-F238E27FC236}">
                <a16:creationId xmlns:a16="http://schemas.microsoft.com/office/drawing/2014/main" id="{70B3D0DE-6323-4962-9B36-39DC71DB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6772" y="7194232"/>
            <a:ext cx="2907411" cy="1069562"/>
          </a:xfrm>
          <a:custGeom xmlns:a="http://schemas.openxmlformats.org/drawingml/2006/main">
            <a:rect l="l" t="t" r="r" b="b"/>
            <a:pathLst>
              <a:path w="3876548" h="1426083">
                <a:moveTo>
                  <a:pt x="0" y="148209"/>
                </a:moveTo>
                <a:cubicBezTo>
                  <a:pt x="0" y="66294"/>
                  <a:pt x="66294" y="0"/>
                  <a:pt x="148209" y="0"/>
                </a:cubicBezTo>
                <a:lnTo>
                  <a:pt x="3728339" y="0"/>
                </a:lnTo>
                <a:cubicBezTo>
                  <a:pt x="3810127" y="0"/>
                  <a:pt x="3876548" y="66294"/>
                  <a:pt x="3876548" y="148209"/>
                </a:cubicBezTo>
                <a:lnTo>
                  <a:pt x="3876548" y="1277874"/>
                </a:lnTo>
                <a:cubicBezTo>
                  <a:pt x="3876548" y="1359662"/>
                  <a:pt x="3810254" y="1426083"/>
                  <a:pt x="3728339" y="1426083"/>
                </a:cubicBezTo>
                <a:lnTo>
                  <a:pt x="148209" y="1426083"/>
                </a:lnTo>
                <a:cubicBezTo>
                  <a:pt x="66294" y="1425956"/>
                  <a:pt x="0" y="1359662"/>
                  <a:pt x="0" y="1277747"/>
                </a:cubicBezTo>
                <a:close/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100" name="Freeform 100">
            <a:extLst xmlns:a="http://schemas.openxmlformats.org/drawingml/2006/main">
              <a:ext uri="{FF2B5EF4-FFF2-40B4-BE49-F238E27FC236}">
                <a16:creationId xmlns:a16="http://schemas.microsoft.com/office/drawing/2014/main" id="{ED4235D2-45FC-41D1-A6FD-0795E35D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3168" y="7324344"/>
            <a:ext cx="2674620" cy="370332"/>
          </a:xfrm>
          <a:custGeom xmlns:a="http://schemas.openxmlformats.org/drawingml/2006/main">
            <a:rect l="l" t="t" r="r" b="b"/>
            <a:pathLst>
              <a:path w="3566160" h="493776">
                <a:moveTo>
                  <a:pt x="0" y="0"/>
                </a:moveTo>
                <a:lnTo>
                  <a:pt x="3566160" y="0"/>
                </a:lnTo>
                <a:lnTo>
                  <a:pt x="3566160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90725" r="0" b="-90725"/>
            </a:stretch>
          </a:blipFill>
        </p:spPr>
      </p:sp>
      <p:sp>
        <p:nvSpPr>
          <p:cNvPr id="101" name="TextBox 101">
            <a:extLst xmlns:a="http://schemas.openxmlformats.org/drawingml/2006/main">
              <a:ext uri="{FF2B5EF4-FFF2-40B4-BE49-F238E27FC236}">
                <a16:creationId xmlns:a16="http://schemas.microsoft.com/office/drawing/2014/main" id="{C3372C14-C7CD-4BFF-BF77-946195A1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3168" y="7302913"/>
            <a:ext cx="2674620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Summary Agent</a:t>
            </a:r>
          </a:p>
        </p:txBody>
      </p:sp>
      <p:sp>
        <p:nvSpPr>
          <p:cNvPr id="103" name="Freeform 103">
            <a:extLst xmlns:a="http://schemas.openxmlformats.org/drawingml/2006/main">
              <a:ext uri="{FF2B5EF4-FFF2-40B4-BE49-F238E27FC236}">
                <a16:creationId xmlns:a16="http://schemas.microsoft.com/office/drawing/2014/main" id="{B6C51F55-4B52-401E-B97B-89416B5E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9452" y="7749540"/>
            <a:ext cx="2702052" cy="274320"/>
          </a:xfrm>
          <a:custGeom xmlns:a="http://schemas.openxmlformats.org/drawingml/2006/main">
            <a:rect l="l" t="t" r="r" b="b"/>
            <a:pathLst>
              <a:path w="3602736" h="365760">
                <a:moveTo>
                  <a:pt x="0" y="0"/>
                </a:moveTo>
                <a:lnTo>
                  <a:pt x="3602736" y="0"/>
                </a:lnTo>
                <a:lnTo>
                  <a:pt x="3602736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141927" r="0" b="-141927"/>
            </a:stretch>
          </a:blipFill>
        </p:spPr>
      </p:sp>
      <p:sp>
        <p:nvSpPr>
          <p:cNvPr id="104" name="TextBox 104">
            <a:extLst xmlns:a="http://schemas.openxmlformats.org/drawingml/2006/main">
              <a:ext uri="{FF2B5EF4-FFF2-40B4-BE49-F238E27FC236}">
                <a16:creationId xmlns:a16="http://schemas.microsoft.com/office/drawing/2014/main" id="{0500F9D7-FBCF-40F1-8C2E-B2B204D7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9452" y="7735253"/>
            <a:ext cx="2702052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리포트 생성</a:t>
            </a:r>
          </a:p>
        </p:txBody>
      </p:sp>
      <p:sp>
        <p:nvSpPr>
          <p:cNvPr id="106" name="Freeform 106">
            <a:extLst xmlns:a="http://schemas.openxmlformats.org/drawingml/2006/main">
              <a:ext uri="{FF2B5EF4-FFF2-40B4-BE49-F238E27FC236}">
                <a16:creationId xmlns:a16="http://schemas.microsoft.com/office/drawing/2014/main" id="{9C2B3728-BF27-4537-98E2-8875C449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9488" y="7194232"/>
            <a:ext cx="2633091" cy="1069562"/>
          </a:xfrm>
          <a:custGeom xmlns:a="http://schemas.openxmlformats.org/drawingml/2006/main">
            <a:rect l="l" t="t" r="r" b="b"/>
            <a:pathLst>
              <a:path w="3510788" h="1426083">
                <a:moveTo>
                  <a:pt x="0" y="148209"/>
                </a:moveTo>
                <a:cubicBezTo>
                  <a:pt x="0" y="66294"/>
                  <a:pt x="66294" y="0"/>
                  <a:pt x="148209" y="0"/>
                </a:cubicBezTo>
                <a:lnTo>
                  <a:pt x="3362579" y="0"/>
                </a:lnTo>
                <a:cubicBezTo>
                  <a:pt x="3444367" y="0"/>
                  <a:pt x="3510788" y="66294"/>
                  <a:pt x="3510788" y="148209"/>
                </a:cubicBezTo>
                <a:lnTo>
                  <a:pt x="3510788" y="1277874"/>
                </a:lnTo>
                <a:cubicBezTo>
                  <a:pt x="3510788" y="1359662"/>
                  <a:pt x="3444494" y="1426083"/>
                  <a:pt x="3362579" y="1426083"/>
                </a:cubicBezTo>
                <a:lnTo>
                  <a:pt x="148209" y="1426083"/>
                </a:lnTo>
                <a:cubicBezTo>
                  <a:pt x="66294" y="1425956"/>
                  <a:pt x="0" y="1359662"/>
                  <a:pt x="0" y="1277747"/>
                </a:cubicBezTo>
                <a:close/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108" name="Freeform 108">
            <a:extLst xmlns:a="http://schemas.openxmlformats.org/drawingml/2006/main">
              <a:ext uri="{FF2B5EF4-FFF2-40B4-BE49-F238E27FC236}">
                <a16:creationId xmlns:a16="http://schemas.microsoft.com/office/drawing/2014/main" id="{272FAE9D-4598-4544-97B5-37D552A0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5884" y="7324344"/>
            <a:ext cx="2400300" cy="370332"/>
          </a:xfrm>
          <a:custGeom xmlns:a="http://schemas.openxmlformats.org/drawingml/2006/main">
            <a:rect l="l" t="t" r="r" b="b"/>
            <a:pathLst>
              <a:path w="3200400" h="493776">
                <a:moveTo>
                  <a:pt x="0" y="0"/>
                </a:moveTo>
                <a:lnTo>
                  <a:pt x="3200400" y="0"/>
                </a:lnTo>
                <a:lnTo>
                  <a:pt x="3200400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76291" r="0" b="-76291"/>
            </a:stretch>
          </a:blipFill>
        </p:spPr>
      </p:sp>
      <p:sp>
        <p:nvSpPr>
          <p:cNvPr id="109" name="TextBox 109">
            <a:extLst xmlns:a="http://schemas.openxmlformats.org/drawingml/2006/main">
              <a:ext uri="{FF2B5EF4-FFF2-40B4-BE49-F238E27FC236}">
                <a16:creationId xmlns:a16="http://schemas.microsoft.com/office/drawing/2014/main" id="{1CE8ED41-921E-495D-9AE3-75F65460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5884" y="7302913"/>
            <a:ext cx="2400300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결과 반환</a:t>
            </a:r>
          </a:p>
        </p:txBody>
      </p:sp>
      <p:sp>
        <p:nvSpPr>
          <p:cNvPr id="111" name="Freeform 111">
            <a:extLst xmlns:a="http://schemas.openxmlformats.org/drawingml/2006/main">
              <a:ext uri="{FF2B5EF4-FFF2-40B4-BE49-F238E27FC236}">
                <a16:creationId xmlns:a16="http://schemas.microsoft.com/office/drawing/2014/main" id="{ECB51874-3C12-441F-B869-862DE104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168" y="7749540"/>
            <a:ext cx="2427732" cy="274320"/>
          </a:xfrm>
          <a:custGeom xmlns:a="http://schemas.openxmlformats.org/drawingml/2006/main">
            <a:rect l="l" t="t" r="r" b="b"/>
            <a:pathLst>
              <a:path w="3236976" h="365760">
                <a:moveTo>
                  <a:pt x="0" y="0"/>
                </a:moveTo>
                <a:lnTo>
                  <a:pt x="3236976" y="0"/>
                </a:lnTo>
                <a:lnTo>
                  <a:pt x="3236976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122442" r="0" b="-122442"/>
            </a:stretch>
          </a:blipFill>
        </p:spPr>
      </p:sp>
      <p:sp>
        <p:nvSpPr>
          <p:cNvPr id="112" name="TextBox 112">
            <a:extLst xmlns:a="http://schemas.openxmlformats.org/drawingml/2006/main">
              <a:ext uri="{FF2B5EF4-FFF2-40B4-BE49-F238E27FC236}">
                <a16:creationId xmlns:a16="http://schemas.microsoft.com/office/drawing/2014/main" id="{F9F3BCF7-436F-49EB-A324-A24332D4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168" y="7735253"/>
            <a:ext cx="2427732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요약 · 코드 · 경로</a:t>
            </a:r>
          </a:p>
        </p:txBody>
      </p:sp>
      <p:sp>
        <p:nvSpPr>
          <p:cNvPr id="113" name="AutoShape 113">
            <a:extLst xmlns:a="http://schemas.openxmlformats.org/drawingml/2006/main">
              <a:ext uri="{FF2B5EF4-FFF2-40B4-BE49-F238E27FC236}">
                <a16:creationId xmlns:a16="http://schemas.microsoft.com/office/drawing/2014/main" id="{91410260-54FA-4C62-9C2C-0195FBC6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1240">
            <a:off x="4129488" y="7717346"/>
            <a:ext cx="42325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14" name="AutoShape 114">
            <a:extLst xmlns:a="http://schemas.openxmlformats.org/drawingml/2006/main">
              <a:ext uri="{FF2B5EF4-FFF2-40B4-BE49-F238E27FC236}">
                <a16:creationId xmlns:a16="http://schemas.microsoft.com/office/drawing/2014/main" id="{76587D1F-8448-40DE-96EE-595BDBC4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1240">
            <a:off x="7585920" y="7717346"/>
            <a:ext cx="42325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16" name="Freeform 116">
            <a:extLst xmlns:a="http://schemas.openxmlformats.org/drawingml/2006/main">
              <a:ext uri="{FF2B5EF4-FFF2-40B4-BE49-F238E27FC236}">
                <a16:creationId xmlns:a16="http://schemas.microsoft.com/office/drawing/2014/main" id="{DAC2F396-EFA5-415C-81AA-EB4789ED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008" y="8737092"/>
            <a:ext cx="9532620" cy="301752"/>
          </a:xfrm>
          <a:custGeom xmlns:a="http://schemas.openxmlformats.org/drawingml/2006/main">
            <a:rect l="l" t="t" r="r" b="b"/>
            <a:pathLst>
              <a:path w="12710160" h="402336">
                <a:moveTo>
                  <a:pt x="0" y="0"/>
                </a:moveTo>
                <a:lnTo>
                  <a:pt x="12710160" y="0"/>
                </a:lnTo>
                <a:lnTo>
                  <a:pt x="12710160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565550" r="0" b="-565550"/>
            </a:stretch>
          </a:blipFill>
        </p:spPr>
      </p:sp>
      <p:sp>
        <p:nvSpPr>
          <p:cNvPr id="117" name="TextBox 117">
            <a:extLst xmlns:a="http://schemas.openxmlformats.org/drawingml/2006/main">
              <a:ext uri="{FF2B5EF4-FFF2-40B4-BE49-F238E27FC236}">
                <a16:creationId xmlns:a16="http://schemas.microsoft.com/office/drawing/2014/main" id="{2DDD04A2-BBAA-4ADA-B68F-748EEBEA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008" y="8729949"/>
            <a:ext cx="9532620" cy="308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44"/>
              </a:lnSpc>
              <a:buNone/>
            </a:pPr>
            <a:r>
              <a:rPr sz="1500" spc="5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구조 참고: A2A-MCP / </a:t>
            </a:r>
            <a:r>
              <a:rPr sz="1500" u="sng" spc="5">
                <a:solidFill>
                  <a:srgbClr val="0563C1"/>
                </a:solidFill>
                <a:latin typeface="Mandali"/>
                <a:ea typeface="Mandali"/>
                <a:cs typeface="Mandali"/>
                <a:hlinkClick xmlns:r="http://schemas.openxmlformats.org/officeDocument/2006/relationships" r:id="R7e9039a5d27d4485"/>
              </a:rPr>
              <a:t>Code_Vulnerability</a:t>
            </a:r>
          </a:p>
        </p:txBody>
      </p:sp>
      <p:sp>
        <p:nvSpPr>
          <p:cNvPr id="119" name="Freeform 119">
            <a:extLst xmlns:a="http://schemas.openxmlformats.org/drawingml/2006/main">
              <a:ext uri="{FF2B5EF4-FFF2-40B4-BE49-F238E27FC236}">
                <a16:creationId xmlns:a16="http://schemas.microsoft.com/office/drawing/2014/main" id="{F80BCF9E-491D-4C46-9748-3D5C4AEE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3464" y="2880360"/>
            <a:ext cx="5719572" cy="466344"/>
          </a:xfrm>
          <a:custGeom xmlns:a="http://schemas.openxmlformats.org/drawingml/2006/main">
            <a:rect l="l" t="t" r="r" b="b"/>
            <a:pathLst>
              <a:path w="7626096" h="621792">
                <a:moveTo>
                  <a:pt x="0" y="0"/>
                </a:moveTo>
                <a:lnTo>
                  <a:pt x="7626096" y="0"/>
                </a:lnTo>
                <a:lnTo>
                  <a:pt x="7626096" y="621792"/>
                </a:lnTo>
                <a:lnTo>
                  <a:pt x="0" y="62179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188978" r="0" b="-188978"/>
            </a:stretch>
          </a:blipFill>
        </p:spPr>
      </p:sp>
      <p:sp>
        <p:nvSpPr>
          <p:cNvPr id="120" name="TextBox 120">
            <a:extLst xmlns:a="http://schemas.openxmlformats.org/drawingml/2006/main">
              <a:ext uri="{FF2B5EF4-FFF2-40B4-BE49-F238E27FC236}">
                <a16:creationId xmlns:a16="http://schemas.microsoft.com/office/drawing/2014/main" id="{12A07EA6-BBD7-4301-8ABD-D663FA78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3464" y="2858929"/>
            <a:ext cx="5719572" cy="487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227"/>
              </a:lnSpc>
              <a:buNone/>
            </a:pPr>
            <a:r>
              <a:rPr sz="2490" spc="9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프로토타입 시험</a:t>
            </a:r>
          </a:p>
        </p:txBody>
      </p:sp>
      <p:sp>
        <p:nvSpPr>
          <p:cNvPr id="122" name="Freeform 122">
            <a:extLst xmlns:a="http://schemas.openxmlformats.org/drawingml/2006/main">
              <a:ext uri="{FF2B5EF4-FFF2-40B4-BE49-F238E27FC236}">
                <a16:creationId xmlns:a16="http://schemas.microsoft.com/office/drawing/2014/main" id="{C2A2B330-183C-4D08-AE5C-C41D9369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0223" y="3721227"/>
            <a:ext cx="1788414" cy="1555242"/>
          </a:xfrm>
          <a:custGeom xmlns:a="http://schemas.openxmlformats.org/drawingml/2006/main">
            <a:rect l="l" t="t" r="r" b="b"/>
            <a:pathLst>
              <a:path w="2384552" h="2073656">
                <a:moveTo>
                  <a:pt x="0" y="0"/>
                </a:moveTo>
                <a:lnTo>
                  <a:pt x="2384552" y="0"/>
                </a:lnTo>
                <a:lnTo>
                  <a:pt x="2384552" y="2073656"/>
                </a:lnTo>
                <a:lnTo>
                  <a:pt x="0" y="2073656"/>
                </a:lnTo>
                <a:close/>
              </a:path>
            </a:pathLst>
          </a:custGeom>
          <a:solidFill xmlns:a="http://schemas.openxmlformats.org/drawingml/2006/main">
            <a:srgbClr val="EDF3FA"/>
          </a:solidFill>
        </p:spPr>
      </p:sp>
      <p:sp>
        <p:nvSpPr>
          <p:cNvPr id="124" name="Freeform 124">
            <a:extLst xmlns:a="http://schemas.openxmlformats.org/drawingml/2006/main">
              <a:ext uri="{FF2B5EF4-FFF2-40B4-BE49-F238E27FC236}">
                <a16:creationId xmlns:a16="http://schemas.microsoft.com/office/drawing/2014/main" id="{C5143F3E-0A34-4B82-9896-71C5DF4D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09476" y="3977640"/>
            <a:ext cx="1549908" cy="603504"/>
          </a:xfrm>
          <a:custGeom xmlns:a="http://schemas.openxmlformats.org/drawingml/2006/main">
            <a:rect l="l" t="t" r="r" b="b"/>
            <a:pathLst>
              <a:path w="2066544" h="804672">
                <a:moveTo>
                  <a:pt x="0" y="0"/>
                </a:moveTo>
                <a:lnTo>
                  <a:pt x="2066544" y="0"/>
                </a:lnTo>
                <a:lnTo>
                  <a:pt x="2066544" y="804672"/>
                </a:lnTo>
                <a:lnTo>
                  <a:pt x="0" y="80467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41" r="0" b="-41"/>
            </a:stretch>
          </a:blipFill>
        </p:spPr>
      </p:sp>
      <p:sp>
        <p:nvSpPr>
          <p:cNvPr id="125" name="TextBox 125">
            <a:extLst xmlns:a="http://schemas.openxmlformats.org/drawingml/2006/main">
              <a:ext uri="{FF2B5EF4-FFF2-40B4-BE49-F238E27FC236}">
                <a16:creationId xmlns:a16="http://schemas.microsoft.com/office/drawing/2014/main" id="{9412F710-B03B-4ED3-A402-1D62B1AB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09476" y="3956209"/>
            <a:ext cx="1549908" cy="624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665"/>
              </a:lnSpc>
              <a:buNone/>
            </a:pPr>
            <a:r>
              <a:rPr sz="3600" spc="13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23/23</a:t>
            </a:r>
          </a:p>
        </p:txBody>
      </p:sp>
      <p:sp>
        <p:nvSpPr>
          <p:cNvPr id="127" name="Freeform 127">
            <a:extLst xmlns:a="http://schemas.openxmlformats.org/drawingml/2006/main">
              <a:ext uri="{FF2B5EF4-FFF2-40B4-BE49-F238E27FC236}">
                <a16:creationId xmlns:a16="http://schemas.microsoft.com/office/drawing/2014/main" id="{549552E3-9763-4A5F-9D1E-084B0332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4612" y="4800600"/>
            <a:ext cx="1659636" cy="246888"/>
          </a:xfrm>
          <a:custGeom xmlns:a="http://schemas.openxmlformats.org/drawingml/2006/main">
            <a:rect l="l" t="t" r="r" b="b"/>
            <a:pathLst>
              <a:path w="2212848" h="329184">
                <a:moveTo>
                  <a:pt x="0" y="0"/>
                </a:moveTo>
                <a:lnTo>
                  <a:pt x="2212848" y="0"/>
                </a:lnTo>
                <a:lnTo>
                  <a:pt x="2212848" y="329184"/>
                </a:lnTo>
                <a:lnTo>
                  <a:pt x="0" y="32918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80982" r="0" b="-80982"/>
            </a:stretch>
          </a:blipFill>
        </p:spPr>
      </p:sp>
      <p:sp>
        <p:nvSpPr>
          <p:cNvPr id="128" name="TextBox 128">
            <a:extLst xmlns:a="http://schemas.openxmlformats.org/drawingml/2006/main">
              <a:ext uri="{FF2B5EF4-FFF2-40B4-BE49-F238E27FC236}">
                <a16:creationId xmlns:a16="http://schemas.microsoft.com/office/drawing/2014/main" id="{967EE6F3-EC4A-4447-AE65-DAEF34CB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4612" y="4786313"/>
            <a:ext cx="1659636" cy="261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41"/>
              </a:lnSpc>
              <a:buNone/>
            </a:pPr>
            <a:r>
              <a:rPr sz="1575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분석 파일</a:t>
            </a:r>
          </a:p>
        </p:txBody>
      </p:sp>
      <p:sp>
        <p:nvSpPr>
          <p:cNvPr id="130" name="Freeform 130">
            <a:extLst xmlns:a="http://schemas.openxmlformats.org/drawingml/2006/main">
              <a:ext uri="{FF2B5EF4-FFF2-40B4-BE49-F238E27FC236}">
                <a16:creationId xmlns:a16="http://schemas.microsoft.com/office/drawing/2014/main" id="{74E01922-9B8D-45D7-BA93-F5E9CEB4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79043" y="3721227"/>
            <a:ext cx="1788414" cy="1555242"/>
          </a:xfrm>
          <a:custGeom xmlns:a="http://schemas.openxmlformats.org/drawingml/2006/main">
            <a:rect l="l" t="t" r="r" b="b"/>
            <a:pathLst>
              <a:path w="2384552" h="2073656">
                <a:moveTo>
                  <a:pt x="0" y="0"/>
                </a:moveTo>
                <a:lnTo>
                  <a:pt x="2384552" y="0"/>
                </a:lnTo>
                <a:lnTo>
                  <a:pt x="2384552" y="2073656"/>
                </a:lnTo>
                <a:lnTo>
                  <a:pt x="0" y="2073656"/>
                </a:lnTo>
                <a:close/>
              </a:path>
            </a:pathLst>
          </a:custGeom>
          <a:solidFill xmlns:a="http://schemas.openxmlformats.org/drawingml/2006/main">
            <a:srgbClr val="EDF3FA"/>
          </a:solidFill>
        </p:spPr>
      </p:sp>
      <p:sp>
        <p:nvSpPr>
          <p:cNvPr id="132" name="Freeform 132">
            <a:extLst xmlns:a="http://schemas.openxmlformats.org/drawingml/2006/main">
              <a:ext uri="{FF2B5EF4-FFF2-40B4-BE49-F238E27FC236}">
                <a16:creationId xmlns:a16="http://schemas.microsoft.com/office/drawing/2014/main" id="{CDA87907-8F1C-4EE8-B035-CD233EFE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98296" y="3977640"/>
            <a:ext cx="1549908" cy="603504"/>
          </a:xfrm>
          <a:custGeom xmlns:a="http://schemas.openxmlformats.org/drawingml/2006/main">
            <a:rect l="l" t="t" r="r" b="b"/>
            <a:pathLst>
              <a:path w="2066544" h="804672">
                <a:moveTo>
                  <a:pt x="0" y="0"/>
                </a:moveTo>
                <a:lnTo>
                  <a:pt x="2066544" y="0"/>
                </a:lnTo>
                <a:lnTo>
                  <a:pt x="2066544" y="804672"/>
                </a:lnTo>
                <a:lnTo>
                  <a:pt x="0" y="80467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41" r="0" b="-41"/>
            </a:stretch>
          </a:blipFill>
        </p:spPr>
      </p:sp>
      <p:sp>
        <p:nvSpPr>
          <p:cNvPr id="133" name="TextBox 133">
            <a:extLst xmlns:a="http://schemas.openxmlformats.org/drawingml/2006/main">
              <a:ext uri="{FF2B5EF4-FFF2-40B4-BE49-F238E27FC236}">
                <a16:creationId xmlns:a16="http://schemas.microsoft.com/office/drawing/2014/main" id="{02980B4B-84A9-40E3-8A17-8890B6F4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98296" y="3956209"/>
            <a:ext cx="1549908" cy="624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665"/>
              </a:lnSpc>
              <a:buNone/>
            </a:pPr>
            <a:r>
              <a:rPr sz="3600" spc="13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3,524</a:t>
            </a:r>
          </a:p>
        </p:txBody>
      </p:sp>
      <p:sp>
        <p:nvSpPr>
          <p:cNvPr id="135" name="Freeform 135">
            <a:extLst xmlns:a="http://schemas.openxmlformats.org/drawingml/2006/main">
              <a:ext uri="{FF2B5EF4-FFF2-40B4-BE49-F238E27FC236}">
                <a16:creationId xmlns:a16="http://schemas.microsoft.com/office/drawing/2014/main" id="{21DC76C5-56FD-4569-BC89-E4FCD19D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43432" y="4800600"/>
            <a:ext cx="1659636" cy="246888"/>
          </a:xfrm>
          <a:custGeom xmlns:a="http://schemas.openxmlformats.org/drawingml/2006/main">
            <a:rect l="l" t="t" r="r" b="b"/>
            <a:pathLst>
              <a:path w="2212848" h="329184">
                <a:moveTo>
                  <a:pt x="0" y="0"/>
                </a:moveTo>
                <a:lnTo>
                  <a:pt x="2212848" y="0"/>
                </a:lnTo>
                <a:lnTo>
                  <a:pt x="2212848" y="329184"/>
                </a:lnTo>
                <a:lnTo>
                  <a:pt x="0" y="32918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80982" r="0" b="-80982"/>
            </a:stretch>
          </a:blipFill>
        </p:spPr>
      </p:sp>
      <p:sp>
        <p:nvSpPr>
          <p:cNvPr id="136" name="TextBox 136">
            <a:extLst xmlns:a="http://schemas.openxmlformats.org/drawingml/2006/main">
              <a:ext uri="{FF2B5EF4-FFF2-40B4-BE49-F238E27FC236}">
                <a16:creationId xmlns:a16="http://schemas.microsoft.com/office/drawing/2014/main" id="{B977CAAC-5ABE-4AFC-893B-C606618B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43432" y="4786313"/>
            <a:ext cx="1659636" cy="261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41"/>
              </a:lnSpc>
              <a:buNone/>
            </a:pPr>
            <a:r>
              <a:rPr sz="1575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코드 줄 수</a:t>
            </a:r>
          </a:p>
        </p:txBody>
      </p:sp>
      <p:sp>
        <p:nvSpPr>
          <p:cNvPr id="138" name="Freeform 138">
            <a:extLst xmlns:a="http://schemas.openxmlformats.org/drawingml/2006/main">
              <a:ext uri="{FF2B5EF4-FFF2-40B4-BE49-F238E27FC236}">
                <a16:creationId xmlns:a16="http://schemas.microsoft.com/office/drawing/2014/main" id="{D8771914-27C0-4C5E-A948-D99297E5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67863" y="3721227"/>
            <a:ext cx="1788414" cy="1555242"/>
          </a:xfrm>
          <a:custGeom xmlns:a="http://schemas.openxmlformats.org/drawingml/2006/main">
            <a:rect l="l" t="t" r="r" b="b"/>
            <a:pathLst>
              <a:path w="2384552" h="2073656">
                <a:moveTo>
                  <a:pt x="0" y="0"/>
                </a:moveTo>
                <a:lnTo>
                  <a:pt x="2384552" y="0"/>
                </a:lnTo>
                <a:lnTo>
                  <a:pt x="2384552" y="2073656"/>
                </a:lnTo>
                <a:lnTo>
                  <a:pt x="0" y="2073656"/>
                </a:lnTo>
                <a:close/>
              </a:path>
            </a:pathLst>
          </a:custGeom>
          <a:solidFill xmlns:a="http://schemas.openxmlformats.org/drawingml/2006/main">
            <a:srgbClr val="EDF3FA"/>
          </a:solidFill>
        </p:spPr>
      </p:sp>
      <p:sp>
        <p:nvSpPr>
          <p:cNvPr id="140" name="Freeform 140">
            <a:extLst xmlns:a="http://schemas.openxmlformats.org/drawingml/2006/main">
              <a:ext uri="{FF2B5EF4-FFF2-40B4-BE49-F238E27FC236}">
                <a16:creationId xmlns:a16="http://schemas.microsoft.com/office/drawing/2014/main" id="{58CACDB8-11F5-41E5-B1FA-5AF66964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87116" y="3977640"/>
            <a:ext cx="1549908" cy="603504"/>
          </a:xfrm>
          <a:custGeom xmlns:a="http://schemas.openxmlformats.org/drawingml/2006/main">
            <a:rect l="l" t="t" r="r" b="b"/>
            <a:pathLst>
              <a:path w="2066544" h="804672">
                <a:moveTo>
                  <a:pt x="0" y="0"/>
                </a:moveTo>
                <a:lnTo>
                  <a:pt x="2066544" y="0"/>
                </a:lnTo>
                <a:lnTo>
                  <a:pt x="2066544" y="804672"/>
                </a:lnTo>
                <a:lnTo>
                  <a:pt x="0" y="80467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41" r="0" b="-41"/>
            </a:stretch>
          </a:blipFill>
        </p:spPr>
      </p:sp>
      <p:sp>
        <p:nvSpPr>
          <p:cNvPr id="141" name="TextBox 141">
            <a:extLst xmlns:a="http://schemas.openxmlformats.org/drawingml/2006/main">
              <a:ext uri="{FF2B5EF4-FFF2-40B4-BE49-F238E27FC236}">
                <a16:creationId xmlns:a16="http://schemas.microsoft.com/office/drawing/2014/main" id="{92C2DAD2-176B-4396-AAEB-21C29061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87116" y="3956209"/>
            <a:ext cx="1549908" cy="624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665"/>
              </a:lnSpc>
              <a:buNone/>
            </a:pPr>
            <a:r>
              <a:rPr sz="3600" spc="13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18</a:t>
            </a:r>
          </a:p>
        </p:txBody>
      </p:sp>
      <p:sp>
        <p:nvSpPr>
          <p:cNvPr id="143" name="Freeform 143">
            <a:extLst xmlns:a="http://schemas.openxmlformats.org/drawingml/2006/main">
              <a:ext uri="{FF2B5EF4-FFF2-40B4-BE49-F238E27FC236}">
                <a16:creationId xmlns:a16="http://schemas.microsoft.com/office/drawing/2014/main" id="{58C7A67C-3D97-4CEB-9AE8-2C02B56C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32252" y="4800600"/>
            <a:ext cx="1659636" cy="246888"/>
          </a:xfrm>
          <a:custGeom xmlns:a="http://schemas.openxmlformats.org/drawingml/2006/main">
            <a:rect l="l" t="t" r="r" b="b"/>
            <a:pathLst>
              <a:path w="2212848" h="329184">
                <a:moveTo>
                  <a:pt x="0" y="0"/>
                </a:moveTo>
                <a:lnTo>
                  <a:pt x="2212848" y="0"/>
                </a:lnTo>
                <a:lnTo>
                  <a:pt x="2212848" y="329184"/>
                </a:lnTo>
                <a:lnTo>
                  <a:pt x="0" y="32918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80982" r="0" b="-80982"/>
            </a:stretch>
          </a:blipFill>
        </p:spPr>
      </p:sp>
      <p:sp>
        <p:nvSpPr>
          <p:cNvPr id="144" name="TextBox 144">
            <a:extLst xmlns:a="http://schemas.openxmlformats.org/drawingml/2006/main">
              <a:ext uri="{FF2B5EF4-FFF2-40B4-BE49-F238E27FC236}">
                <a16:creationId xmlns:a16="http://schemas.microsoft.com/office/drawing/2014/main" id="{9DC1E9B9-D1B6-4893-B4A2-4C74D752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32252" y="4786313"/>
            <a:ext cx="1659636" cy="261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41"/>
              </a:lnSpc>
              <a:buNone/>
            </a:pPr>
            <a:r>
              <a:rPr sz="1575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정적 분석 신호</a:t>
            </a:r>
          </a:p>
        </p:txBody>
      </p:sp>
      <p:sp>
        <p:nvSpPr>
          <p:cNvPr id="146" name="Freeform 146">
            <a:extLst xmlns:a="http://schemas.openxmlformats.org/drawingml/2006/main">
              <a:ext uri="{FF2B5EF4-FFF2-40B4-BE49-F238E27FC236}">
                <a16:creationId xmlns:a16="http://schemas.microsoft.com/office/drawing/2014/main" id="{7C06778E-3069-4284-A8D6-110B4AEA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3464" y="5623560"/>
            <a:ext cx="5719572" cy="384048"/>
          </a:xfrm>
          <a:custGeom xmlns:a="http://schemas.openxmlformats.org/drawingml/2006/main">
            <a:rect l="l" t="t" r="r" b="b"/>
            <a:pathLst>
              <a:path w="7626096" h="512064">
                <a:moveTo>
                  <a:pt x="0" y="0"/>
                </a:moveTo>
                <a:lnTo>
                  <a:pt x="7626096" y="0"/>
                </a:lnTo>
                <a:lnTo>
                  <a:pt x="7626096" y="512064"/>
                </a:lnTo>
                <a:lnTo>
                  <a:pt x="0" y="5120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240187" r="0" b="-240187"/>
            </a:stretch>
          </a:blipFill>
        </p:spPr>
      </p:sp>
      <p:sp>
        <p:nvSpPr>
          <p:cNvPr id="147" name="TextBox 147">
            <a:extLst xmlns:a="http://schemas.openxmlformats.org/drawingml/2006/main">
              <a:ext uri="{FF2B5EF4-FFF2-40B4-BE49-F238E27FC236}">
                <a16:creationId xmlns:a16="http://schemas.microsoft.com/office/drawing/2014/main" id="{EC5CC1BA-12F7-4668-B1D9-0AD79839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3464" y="5609273"/>
            <a:ext cx="5719572" cy="3983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604"/>
              </a:lnSpc>
              <a:buNone/>
            </a:pPr>
            <a:r>
              <a:rPr sz="2010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위험 호출 8건 · Secret 후보 10건</a:t>
            </a:r>
          </a:p>
        </p:txBody>
      </p:sp>
      <p:sp>
        <p:nvSpPr>
          <p:cNvPr id="148" name="AutoShape 148">
            <a:extLst xmlns:a="http://schemas.openxmlformats.org/drawingml/2006/main">
              <a:ext uri="{FF2B5EF4-FFF2-40B4-BE49-F238E27FC236}">
                <a16:creationId xmlns:a16="http://schemas.microsoft.com/office/drawing/2014/main" id="{88287AAD-0A2B-4868-B286-18E92A8B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40">
            <a:off x="11706787" y="6290882"/>
            <a:ext cx="571921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0" name="Freeform 150">
            <a:extLst xmlns:a="http://schemas.openxmlformats.org/drawingml/2006/main">
              <a:ext uri="{FF2B5EF4-FFF2-40B4-BE49-F238E27FC236}">
                <a16:creationId xmlns:a16="http://schemas.microsoft.com/office/drawing/2014/main" id="{2BBDE217-7DCD-4E38-89D6-830FB84D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3464" y="6665976"/>
            <a:ext cx="5719572" cy="466344"/>
          </a:xfrm>
          <a:custGeom xmlns:a="http://schemas.openxmlformats.org/drawingml/2006/main">
            <a:rect l="l" t="t" r="r" b="b"/>
            <a:pathLst>
              <a:path w="7626096" h="621792">
                <a:moveTo>
                  <a:pt x="0" y="0"/>
                </a:moveTo>
                <a:lnTo>
                  <a:pt x="7626096" y="0"/>
                </a:lnTo>
                <a:lnTo>
                  <a:pt x="7626096" y="621792"/>
                </a:lnTo>
                <a:lnTo>
                  <a:pt x="0" y="62179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188978" r="0" b="-188978"/>
            </a:stretch>
          </a:blipFill>
        </p:spPr>
      </p:sp>
      <p:sp>
        <p:nvSpPr>
          <p:cNvPr id="151" name="TextBox 151">
            <a:extLst xmlns:a="http://schemas.openxmlformats.org/drawingml/2006/main">
              <a:ext uri="{FF2B5EF4-FFF2-40B4-BE49-F238E27FC236}">
                <a16:creationId xmlns:a16="http://schemas.microsoft.com/office/drawing/2014/main" id="{CDA47F65-8CF7-455A-8613-BDC2B735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3464" y="6651689"/>
            <a:ext cx="5719572" cy="480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04"/>
              </a:lnSpc>
              <a:buNone/>
            </a:pPr>
            <a:r>
              <a:rPr sz="2550" spc="9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로컬 LLM 리뷰 18개 생성</a:t>
            </a:r>
          </a:p>
        </p:txBody>
      </p:sp>
      <p:sp>
        <p:nvSpPr>
          <p:cNvPr id="153" name="Freeform 153">
            <a:extLst xmlns:a="http://schemas.openxmlformats.org/drawingml/2006/main">
              <a:ext uri="{FF2B5EF4-FFF2-40B4-BE49-F238E27FC236}">
                <a16:creationId xmlns:a16="http://schemas.microsoft.com/office/drawing/2014/main" id="{33BD34AA-D1D4-4A08-9BC2-DD65AB38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3464" y="7351776"/>
            <a:ext cx="5719572" cy="726948"/>
          </a:xfrm>
          <a:custGeom xmlns:a="http://schemas.openxmlformats.org/drawingml/2006/main">
            <a:rect l="l" t="t" r="r" b="b"/>
            <a:pathLst>
              <a:path w="7626096" h="969264">
                <a:moveTo>
                  <a:pt x="0" y="0"/>
                </a:moveTo>
                <a:lnTo>
                  <a:pt x="7626096" y="0"/>
                </a:lnTo>
                <a:lnTo>
                  <a:pt x="7626096" y="969264"/>
                </a:lnTo>
                <a:lnTo>
                  <a:pt x="0" y="9692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103306" r="0" b="-103306"/>
            </a:stretch>
          </a:blipFill>
        </p:spPr>
      </p:sp>
      <p:sp>
        <p:nvSpPr>
          <p:cNvPr id="154" name="TextBox 154">
            <a:extLst xmlns:a="http://schemas.openxmlformats.org/drawingml/2006/main">
              <a:ext uri="{FF2B5EF4-FFF2-40B4-BE49-F238E27FC236}">
                <a16:creationId xmlns:a16="http://schemas.microsoft.com/office/drawing/2014/main" id="{777B08A0-EC40-4B32-A9FA-5B65B09B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3464" y="7330345"/>
            <a:ext cx="5719572" cy="748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25"/>
              </a:lnSpc>
              <a:buNone/>
            </a:pPr>
            <a:r>
              <a:rPr sz="1829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LLM 리뷰에서 이 코드가 치명적인 이유, 권고사항까지는 Rule + LLM 추론을 통하여 도출 가능.</a:t>
            </a:r>
          </a:p>
          <a:p xmlns:a="http://schemas.openxmlformats.org/drawingml/2006/main">
            <a:pPr algn="l">
              <a:lnSpc>
                <a:spcPts val="2525"/>
              </a:lnSpc>
              <a:buNone/>
            </a:pPr>
            <a:r>
              <a:rPr sz="1829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그러나 이 코드는 임의의 테스트 코드라는 점을 명시. </a:t>
            </a:r>
          </a:p>
        </p:txBody>
      </p:sp>
      <p:sp>
        <p:nvSpPr>
          <p:cNvPr id="156" name="Freeform 156">
            <a:extLst xmlns:a="http://schemas.openxmlformats.org/drawingml/2006/main">
              <a:ext uri="{FF2B5EF4-FFF2-40B4-BE49-F238E27FC236}">
                <a16:creationId xmlns:a16="http://schemas.microsoft.com/office/drawing/2014/main" id="{586A2D26-7E68-4DAA-9B9E-E73B166E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0223" y="8384667"/>
            <a:ext cx="5766054" cy="979170"/>
          </a:xfrm>
          <a:custGeom xmlns:a="http://schemas.openxmlformats.org/drawingml/2006/main">
            <a:rect l="l" t="t" r="r" b="b"/>
            <a:pathLst>
              <a:path w="7688072" h="1305560">
                <a:moveTo>
                  <a:pt x="0" y="0"/>
                </a:moveTo>
                <a:lnTo>
                  <a:pt x="7688072" y="0"/>
                </a:lnTo>
                <a:lnTo>
                  <a:pt x="7688072" y="1305560"/>
                </a:lnTo>
                <a:lnTo>
                  <a:pt x="0" y="1305560"/>
                </a:lnTo>
                <a:close/>
              </a:path>
            </a:pathLst>
          </a:custGeom>
          <a:solidFill xmlns:a="http://schemas.openxmlformats.org/drawingml/2006/main">
            <a:srgbClr val="F8F1E7"/>
          </a:solidFill>
        </p:spPr>
      </p:sp>
      <p:sp>
        <p:nvSpPr>
          <p:cNvPr id="158" name="Freeform 158">
            <a:extLst xmlns:a="http://schemas.openxmlformats.org/drawingml/2006/main">
              <a:ext uri="{FF2B5EF4-FFF2-40B4-BE49-F238E27FC236}">
                <a16:creationId xmlns:a16="http://schemas.microsoft.com/office/drawing/2014/main" id="{B92B5CB6-5039-42D5-AE85-D408AEE5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46636" y="8558784"/>
            <a:ext cx="5239512" cy="274320"/>
          </a:xfrm>
          <a:custGeom xmlns:a="http://schemas.openxmlformats.org/drawingml/2006/main">
            <a:rect l="l" t="t" r="r" b="b"/>
            <a:pathLst>
              <a:path w="6986016" h="365760">
                <a:moveTo>
                  <a:pt x="0" y="0"/>
                </a:moveTo>
                <a:lnTo>
                  <a:pt x="6986016" y="0"/>
                </a:lnTo>
                <a:lnTo>
                  <a:pt x="6986016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322164" r="0" b="-322164"/>
            </a:stretch>
          </a:blipFill>
        </p:spPr>
      </p:sp>
      <p:sp>
        <p:nvSpPr>
          <p:cNvPr id="159" name="TextBox 159">
            <a:extLst xmlns:a="http://schemas.openxmlformats.org/drawingml/2006/main">
              <a:ext uri="{FF2B5EF4-FFF2-40B4-BE49-F238E27FC236}">
                <a16:creationId xmlns:a16="http://schemas.microsoft.com/office/drawing/2014/main" id="{F6C03AC1-4BFC-451D-BBC7-8539570E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46636" y="8551641"/>
            <a:ext cx="5239512" cy="281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99"/>
              </a:lnSpc>
              <a:buNone/>
            </a:pPr>
            <a:r>
              <a:rPr sz="1620" spc="6">
                <a:solidFill>
                  <a:srgbClr val="8A5A24"/>
                </a:solidFill>
                <a:latin typeface="Mandali"/>
                <a:ea typeface="Mandali"/>
                <a:cs typeface="Mandali"/>
              </a:rPr>
              <a:t>별도 검증 과제</a:t>
            </a:r>
          </a:p>
        </p:txBody>
      </p:sp>
      <p:sp>
        <p:nvSpPr>
          <p:cNvPr id="161" name="Freeform 161">
            <a:extLst xmlns:a="http://schemas.openxmlformats.org/drawingml/2006/main">
              <a:ext uri="{FF2B5EF4-FFF2-40B4-BE49-F238E27FC236}">
                <a16:creationId xmlns:a16="http://schemas.microsoft.com/office/drawing/2014/main" id="{D465CE91-A3EC-45D3-82A1-5E9B9996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46636" y="8956548"/>
            <a:ext cx="5239512" cy="260604"/>
          </a:xfrm>
          <a:custGeom xmlns:a="http://schemas.openxmlformats.org/drawingml/2006/main">
            <a:rect l="l" t="t" r="r" b="b"/>
            <a:pathLst>
              <a:path w="6986016" h="347472">
                <a:moveTo>
                  <a:pt x="0" y="0"/>
                </a:moveTo>
                <a:lnTo>
                  <a:pt x="6986016" y="0"/>
                </a:lnTo>
                <a:lnTo>
                  <a:pt x="6986016" y="347472"/>
                </a:lnTo>
                <a:lnTo>
                  <a:pt x="0" y="34747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eb27572ac14603">
              <a:alphaModFix amt="0"/>
            </a:blip>
            <a:stretch>
              <a:fillRect l="0" t="-341751" r="0" b="-341751"/>
            </a:stretch>
          </a:blipFill>
        </p:spPr>
      </p:sp>
      <p:sp>
        <p:nvSpPr>
          <p:cNvPr id="162" name="TextBox 162">
            <a:extLst xmlns:a="http://schemas.openxmlformats.org/drawingml/2006/main">
              <a:ext uri="{FF2B5EF4-FFF2-40B4-BE49-F238E27FC236}">
                <a16:creationId xmlns:a16="http://schemas.microsoft.com/office/drawing/2014/main" id="{6687447D-7534-48C6-A4B2-3D04CAF3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46636" y="8949405"/>
            <a:ext cx="5239512" cy="2677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74"/>
              </a:lnSpc>
              <a:buNone/>
            </a:pPr>
            <a:r>
              <a:rPr sz="1754" spc="6">
                <a:solidFill>
                  <a:srgbClr val="8A5A24"/>
                </a:solidFill>
                <a:latin typeface="Mandali"/>
                <a:ea typeface="Mandali"/>
                <a:cs typeface="Mandali"/>
              </a:rPr>
              <a:t>설명 근거의 타당성 · 권고사항의 적절성</a:t>
            </a:r>
          </a:p>
        </p:txBody>
      </p:sp>
      <p:sp>
        <p:nvSpPr>
          <p:cNvPr id="163" name="AutoShape 163">
            <a:extLst xmlns:a="http://schemas.openxmlformats.org/drawingml/2006/main">
              <a:ext uri="{FF2B5EF4-FFF2-40B4-BE49-F238E27FC236}">
                <a16:creationId xmlns:a16="http://schemas.microsoft.com/office/drawing/2014/main" id="{C9EFF57F-411B-4FF0-8073-DDEE40DE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60">
            <a:off x="816293" y="9706166"/>
            <a:ext cx="1665085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4390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24775ED-EC44-465E-B88B-69BB37E5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93776"/>
            <a:ext cx="16596360" cy="301752"/>
          </a:xfrm>
          <a:custGeom xmlns:a="http://schemas.openxmlformats.org/drawingml/2006/main">
            <a:rect l="l" t="t" r="r" b="b"/>
            <a:pathLst>
              <a:path w="22128480" h="402336">
                <a:moveTo>
                  <a:pt x="0" y="0"/>
                </a:moveTo>
                <a:lnTo>
                  <a:pt x="22128480" y="0"/>
                </a:lnTo>
                <a:lnTo>
                  <a:pt x="22128480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1021677" r="0" b="-1021677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908DDEEA-8339-4806-B5D6-F4A6F102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86633"/>
            <a:ext cx="16596360" cy="308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99"/>
              </a:lnSpc>
              <a:buNone/>
            </a:pPr>
            <a:r>
              <a:rPr sz="1620" spc="12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04  /  MODEL EXPERIMENTS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3B076896-2D2B-40A2-B891-C1722EE8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124712"/>
            <a:ext cx="16596360" cy="685800"/>
          </a:xfrm>
          <a:custGeom xmlns:a="http://schemas.openxmlformats.org/drawingml/2006/main">
            <a:rect l="l" t="t" r="r" b="b"/>
            <a:pathLst>
              <a:path w="22128480" h="914400">
                <a:moveTo>
                  <a:pt x="0" y="0"/>
                </a:moveTo>
                <a:lnTo>
                  <a:pt x="22128480" y="0"/>
                </a:lnTo>
                <a:lnTo>
                  <a:pt x="22128480" y="914400"/>
                </a:lnTo>
                <a:lnTo>
                  <a:pt x="0" y="914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421537" r="0" b="-421537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0169F90B-3CC2-4BDA-B9D5-7EBD3ABE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096137"/>
            <a:ext cx="1659636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5248"/>
              </a:lnSpc>
              <a:buNone/>
            </a:pPr>
            <a:r>
              <a:rPr sz="4050" spc="15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LLM 파인튜닝: 평가 결과에서 데이터 설계로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5B7CB39D-F53C-44E2-8A48-B4188CC8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20240"/>
            <a:ext cx="16459200" cy="411480"/>
          </a:xfrm>
          <a:custGeom xmlns:a="http://schemas.openxmlformats.org/drawingml/2006/main">
            <a:rect l="l" t="t" r="r" b="b"/>
            <a:pathLst>
              <a:path w="21945600" h="548640">
                <a:moveTo>
                  <a:pt x="0" y="0"/>
                </a:moveTo>
                <a:lnTo>
                  <a:pt x="21945600" y="0"/>
                </a:lnTo>
                <a:lnTo>
                  <a:pt x="2194560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729401" r="0" b="-729401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23CC7C7-7824-4360-B4E4-C0DFE934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13097"/>
            <a:ext cx="16459200" cy="418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88"/>
              </a:lnSpc>
              <a:buNone/>
            </a:pPr>
            <a:r>
              <a:rPr sz="1920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1차 실험 데이터셋 : DiverseVul, BigVul, Cybersecurity QA v2, 2차 실험 데이터셋 : NIST SARD/Juliet C/C++ 1.3 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6287704-94A5-47F0-A9F2-17C7A0F4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1660">
            <a:off x="5437622" y="6002846"/>
            <a:ext cx="626975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E83D8B5-6CBA-4FB6-8E98-C8408DBE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824" y="2852928"/>
            <a:ext cx="7228332" cy="466344"/>
          </a:xfrm>
          <a:custGeom xmlns:a="http://schemas.openxmlformats.org/drawingml/2006/main">
            <a:rect l="l" t="t" r="r" b="b"/>
            <a:pathLst>
              <a:path w="9637776" h="621792">
                <a:moveTo>
                  <a:pt x="0" y="0"/>
                </a:moveTo>
                <a:lnTo>
                  <a:pt x="9637776" y="0"/>
                </a:lnTo>
                <a:lnTo>
                  <a:pt x="9637776" y="621792"/>
                </a:lnTo>
                <a:lnTo>
                  <a:pt x="0" y="62179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252018" r="0" b="-252018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EF98F73-F0EF-4C87-AB0F-4A1AEB8D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824" y="2831497"/>
            <a:ext cx="7228332" cy="487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615"/>
              </a:lnSpc>
              <a:buNone/>
            </a:pPr>
            <a:r>
              <a:rPr sz="2790" spc="10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1차 실험  /  한계 확인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771DE836-68FB-4FC3-A687-B49AA161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3538728"/>
            <a:ext cx="7159752" cy="315468"/>
          </a:xfrm>
          <a:custGeom xmlns:a="http://schemas.openxmlformats.org/drawingml/2006/main">
            <a:rect l="l" t="t" r="r" b="b"/>
            <a:pathLst>
              <a:path w="9546336" h="420624">
                <a:moveTo>
                  <a:pt x="0" y="0"/>
                </a:moveTo>
                <a:lnTo>
                  <a:pt x="9546336" y="0"/>
                </a:lnTo>
                <a:lnTo>
                  <a:pt x="9546336" y="420624"/>
                </a:lnTo>
                <a:lnTo>
                  <a:pt x="0" y="42062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392225" r="0" b="-392225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161A34A-0EB3-4070-9728-37721542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3524441"/>
            <a:ext cx="7159752" cy="329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35"/>
              </a:lnSpc>
              <a:buNone/>
            </a:pPr>
            <a:r>
              <a:rPr sz="1725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DiverseVul 기반 · 취약 250 / 정상 250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888E66C-5040-4C22-A487-7FFCFB92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299" y="4118991"/>
            <a:ext cx="7178802" cy="663702"/>
          </a:xfrm>
          <a:custGeom xmlns:a="http://schemas.openxmlformats.org/drawingml/2006/main">
            <a:rect l="l" t="t" r="r" b="b"/>
            <a:pathLst>
              <a:path w="9571736" h="884936">
                <a:moveTo>
                  <a:pt x="0" y="0"/>
                </a:moveTo>
                <a:lnTo>
                  <a:pt x="9571736" y="0"/>
                </a:lnTo>
                <a:lnTo>
                  <a:pt x="9571736" y="884936"/>
                </a:lnTo>
                <a:lnTo>
                  <a:pt x="0" y="884936"/>
                </a:lnTo>
                <a:close/>
              </a:path>
            </a:pathLst>
          </a:custGeom>
          <a:solidFill xmlns:a="http://schemas.openxmlformats.org/drawingml/2006/main">
            <a:srgbClr val="F0F3F6"/>
          </a:solidFill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8E797B03-2719-40D4-B0DA-A06051A1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4712" y="4306824"/>
            <a:ext cx="6665976" cy="260604"/>
          </a:xfrm>
          <a:custGeom xmlns:a="http://schemas.openxmlformats.org/drawingml/2006/main">
            <a:rect l="l" t="t" r="r" b="b"/>
            <a:pathLst>
              <a:path w="8887968" h="347472">
                <a:moveTo>
                  <a:pt x="0" y="0"/>
                </a:moveTo>
                <a:lnTo>
                  <a:pt x="8887968" y="0"/>
                </a:lnTo>
                <a:lnTo>
                  <a:pt x="8887968" y="347472"/>
                </a:lnTo>
                <a:lnTo>
                  <a:pt x="0" y="34747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448406" r="0" b="-448406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DD22F478-6AB8-4E6F-BBB0-60731D34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4712" y="4299681"/>
            <a:ext cx="6665976" cy="2677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91"/>
              </a:lnSpc>
              <a:buNone/>
            </a:pPr>
            <a:r>
              <a:rPr sz="184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학습 332,807개 · 10,401 step · B200 × 2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43E767D1-66C3-46A3-887E-98C0A9A2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4712" y="5225796"/>
            <a:ext cx="4128516" cy="356616"/>
          </a:xfrm>
          <a:custGeom xmlns:a="http://schemas.openxmlformats.org/drawingml/2006/main">
            <a:rect l="l" t="t" r="r" b="b"/>
            <a:pathLst>
              <a:path w="5504688" h="475488">
                <a:moveTo>
                  <a:pt x="0" y="0"/>
                </a:moveTo>
                <a:lnTo>
                  <a:pt x="5504688" y="0"/>
                </a:lnTo>
                <a:lnTo>
                  <a:pt x="5504688" y="475488"/>
                </a:lnTo>
                <a:lnTo>
                  <a:pt x="0" y="47548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175576" r="0" b="-175576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68C1A789-CBC5-43BF-881E-B4DF14E4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4712" y="5211509"/>
            <a:ext cx="4128516" cy="370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818"/>
              </a:lnSpc>
              <a:buNone/>
            </a:pPr>
            <a:r>
              <a:rPr sz="2175" spc="8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Precision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FC9DA61-67CA-46D1-85C1-8B6BFC2A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0660" y="5225796"/>
            <a:ext cx="2496312" cy="356616"/>
          </a:xfrm>
          <a:custGeom xmlns:a="http://schemas.openxmlformats.org/drawingml/2006/main">
            <a:rect l="l" t="t" r="r" b="b"/>
            <a:pathLst>
              <a:path w="3328416" h="475488">
                <a:moveTo>
                  <a:pt x="0" y="0"/>
                </a:moveTo>
                <a:lnTo>
                  <a:pt x="3328416" y="0"/>
                </a:lnTo>
                <a:lnTo>
                  <a:pt x="3328416" y="475488"/>
                </a:lnTo>
                <a:lnTo>
                  <a:pt x="0" y="47548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86395" r="0" b="-86395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F51C0817-96AC-423A-8B1B-0D8C440F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0660" y="5211509"/>
            <a:ext cx="2496312" cy="370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3324"/>
              </a:lnSpc>
              <a:buNone/>
            </a:pPr>
            <a:r>
              <a:rPr sz="2565" spc="9">
                <a:solidFill>
                  <a:srgbClr val="8A5A24"/>
                </a:solidFill>
                <a:latin typeface="Mandali"/>
                <a:ea typeface="Mandali"/>
                <a:cs typeface="Mandali"/>
              </a:rPr>
              <a:t>42.00%</a:t>
            </a: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80D1F31E-4230-41F8-AC6A-7B875422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40">
            <a:off x="1104319" y="5728525"/>
            <a:ext cx="6679321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83AF9E8E-0906-47B9-B968-C416C169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4712" y="5897880"/>
            <a:ext cx="4128516" cy="356616"/>
          </a:xfrm>
          <a:custGeom xmlns:a="http://schemas.openxmlformats.org/drawingml/2006/main">
            <a:rect l="l" t="t" r="r" b="b"/>
            <a:pathLst>
              <a:path w="5504688" h="475488">
                <a:moveTo>
                  <a:pt x="0" y="0"/>
                </a:moveTo>
                <a:lnTo>
                  <a:pt x="5504688" y="0"/>
                </a:lnTo>
                <a:lnTo>
                  <a:pt x="5504688" y="475488"/>
                </a:lnTo>
                <a:lnTo>
                  <a:pt x="0" y="47548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175576" r="0" b="-175576"/>
            </a:stretch>
          </a:blip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57A4AE63-416F-4384-9F5A-DAE49750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4712" y="5883593"/>
            <a:ext cx="4128516" cy="370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818"/>
              </a:lnSpc>
              <a:buNone/>
            </a:pPr>
            <a:r>
              <a:rPr sz="2175" spc="8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Recall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D5C4DE14-DAE0-4BF6-B19F-B8695681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0660" y="5897880"/>
            <a:ext cx="2496312" cy="356616"/>
          </a:xfrm>
          <a:custGeom xmlns:a="http://schemas.openxmlformats.org/drawingml/2006/main">
            <a:rect l="l" t="t" r="r" b="b"/>
            <a:pathLst>
              <a:path w="3328416" h="475488">
                <a:moveTo>
                  <a:pt x="0" y="0"/>
                </a:moveTo>
                <a:lnTo>
                  <a:pt x="3328416" y="0"/>
                </a:lnTo>
                <a:lnTo>
                  <a:pt x="3328416" y="475488"/>
                </a:lnTo>
                <a:lnTo>
                  <a:pt x="0" y="47548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86395" r="0" b="-86395"/>
            </a:stretch>
          </a:blip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D210E0B3-34FE-4A4D-A8F5-C9437033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0660" y="5883593"/>
            <a:ext cx="2496312" cy="370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3324"/>
              </a:lnSpc>
              <a:buNone/>
            </a:pPr>
            <a:r>
              <a:rPr sz="2565" spc="9">
                <a:solidFill>
                  <a:srgbClr val="8A5A24"/>
                </a:solidFill>
                <a:latin typeface="Mandali"/>
                <a:ea typeface="Mandali"/>
                <a:cs typeface="Mandali"/>
              </a:rPr>
              <a:t>33.60%</a:t>
            </a:r>
          </a:p>
        </p:txBody>
      </p:sp>
      <p:sp>
        <p:nvSpPr>
          <p:cNvPr id="36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CA7F2ADE-2D2C-4AD7-AB9C-CBFE6029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40">
            <a:off x="1104319" y="6400610"/>
            <a:ext cx="6679321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847F4A62-8168-40BD-B7E2-B1BBCA1A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4712" y="6569964"/>
            <a:ext cx="4128516" cy="356616"/>
          </a:xfrm>
          <a:custGeom xmlns:a="http://schemas.openxmlformats.org/drawingml/2006/main">
            <a:rect l="l" t="t" r="r" b="b"/>
            <a:pathLst>
              <a:path w="5504688" h="475488">
                <a:moveTo>
                  <a:pt x="0" y="0"/>
                </a:moveTo>
                <a:lnTo>
                  <a:pt x="5504688" y="0"/>
                </a:lnTo>
                <a:lnTo>
                  <a:pt x="5504688" y="475488"/>
                </a:lnTo>
                <a:lnTo>
                  <a:pt x="0" y="47548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175576" r="0" b="-175576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D1548D51-FAE8-4C39-A488-042083CA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4712" y="6555677"/>
            <a:ext cx="4128516" cy="370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818"/>
              </a:lnSpc>
              <a:buNone/>
            </a:pPr>
            <a:r>
              <a:rPr sz="2175" spc="8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JSON 파싱 실패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812698BD-B8A8-45F5-803E-12514EEC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0660" y="6569964"/>
            <a:ext cx="2496312" cy="356616"/>
          </a:xfrm>
          <a:custGeom xmlns:a="http://schemas.openxmlformats.org/drawingml/2006/main">
            <a:rect l="l" t="t" r="r" b="b"/>
            <a:pathLst>
              <a:path w="3328416" h="475488">
                <a:moveTo>
                  <a:pt x="0" y="0"/>
                </a:moveTo>
                <a:lnTo>
                  <a:pt x="3328416" y="0"/>
                </a:lnTo>
                <a:lnTo>
                  <a:pt x="3328416" y="475488"/>
                </a:lnTo>
                <a:lnTo>
                  <a:pt x="0" y="47548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86395" r="0" b="-86395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271C086-46C4-4D3B-B9A7-C7BB037F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0660" y="6555677"/>
            <a:ext cx="2496312" cy="370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3324"/>
              </a:lnSpc>
              <a:buNone/>
            </a:pPr>
            <a:r>
              <a:rPr sz="2565" spc="9">
                <a:solidFill>
                  <a:srgbClr val="8A5A24"/>
                </a:solidFill>
                <a:latin typeface="Mandali"/>
                <a:ea typeface="Mandali"/>
                <a:cs typeface="Mandali"/>
              </a:rPr>
              <a:t>222 / 500</a:t>
            </a:r>
          </a:p>
        </p:txBody>
      </p:sp>
      <p:sp>
        <p:nvSpPr>
          <p:cNvPr id="43" name="AutoShape 43">
            <a:extLst xmlns:a="http://schemas.openxmlformats.org/drawingml/2006/main">
              <a:ext uri="{FF2B5EF4-FFF2-40B4-BE49-F238E27FC236}">
                <a16:creationId xmlns:a16="http://schemas.microsoft.com/office/drawing/2014/main" id="{537A3982-189B-4A9A-8F87-C4DA5CB0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40">
            <a:off x="1104319" y="7072694"/>
            <a:ext cx="6679321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7A8196AD-9A17-49F5-A480-0FEA831D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0996" y="7612380"/>
            <a:ext cx="6858000" cy="891540"/>
          </a:xfrm>
          <a:custGeom xmlns:a="http://schemas.openxmlformats.org/drawingml/2006/main">
            <a:rect l="l" t="t" r="r" b="b"/>
            <a:pathLst>
              <a:path w="9144000" h="1188720">
                <a:moveTo>
                  <a:pt x="0" y="0"/>
                </a:moveTo>
                <a:lnTo>
                  <a:pt x="9144000" y="0"/>
                </a:lnTo>
                <a:lnTo>
                  <a:pt x="9144000" y="1188720"/>
                </a:lnTo>
                <a:lnTo>
                  <a:pt x="0" y="11887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99884" r="0" b="-99884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05CC9438-9B89-439E-8BA2-649A9FF1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0996" y="7590949"/>
            <a:ext cx="6858000" cy="9129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286"/>
              </a:lnSpc>
              <a:buNone/>
            </a:pPr>
            <a:r>
              <a:rPr sz="2445" spc="9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과적합 가능성 의심</a:t>
            </a:r>
          </a:p>
          <a:p xmlns:a="http://schemas.openxmlformats.org/drawingml/2006/main">
            <a:pPr algn="l">
              <a:lnSpc>
                <a:spcPts val="3286"/>
              </a:lnSpc>
              <a:buNone/>
            </a:pPr>
            <a:r>
              <a:rPr sz="2445" spc="9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응답 형식 실패를 함께 확인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D163ABFB-8421-4A44-9D7B-704DD735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0996" y="8682228"/>
            <a:ext cx="6885432" cy="589788"/>
          </a:xfrm>
          <a:custGeom xmlns:a="http://schemas.openxmlformats.org/drawingml/2006/main">
            <a:rect l="l" t="t" r="r" b="b"/>
            <a:pathLst>
              <a:path w="9180576" h="786384">
                <a:moveTo>
                  <a:pt x="0" y="0"/>
                </a:moveTo>
                <a:lnTo>
                  <a:pt x="9180576" y="0"/>
                </a:lnTo>
                <a:lnTo>
                  <a:pt x="9180576" y="786384"/>
                </a:lnTo>
                <a:lnTo>
                  <a:pt x="0" y="78638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177476" r="0" b="-177476"/>
            </a:stretch>
          </a:blip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D9B8EEC9-191E-4EEF-8A55-2282296B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0996" y="8667941"/>
            <a:ext cx="6885432" cy="604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36"/>
              </a:lnSpc>
              <a:buNone/>
            </a:pPr>
            <a:r>
              <a:rPr sz="177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낮은 학습 loss만으로 품질을 판단하지 않고</a:t>
            </a:r>
          </a:p>
          <a:p xmlns:a="http://schemas.openxmlformats.org/drawingml/2006/main">
            <a:pPr algn="l">
              <a:lnSpc>
                <a:spcPts val="2336"/>
              </a:lnSpc>
              <a:buNone/>
            </a:pPr>
            <a:r>
              <a:rPr sz="177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데이터 구성과 출력 형식을 재검토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543432AA-979A-467B-A243-5BB4FF80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07424" y="2852928"/>
            <a:ext cx="8339328" cy="466344"/>
          </a:xfrm>
          <a:custGeom xmlns:a="http://schemas.openxmlformats.org/drawingml/2006/main">
            <a:rect l="l" t="t" r="r" b="b"/>
            <a:pathLst>
              <a:path w="11119104" h="621792">
                <a:moveTo>
                  <a:pt x="0" y="0"/>
                </a:moveTo>
                <a:lnTo>
                  <a:pt x="11119104" y="0"/>
                </a:lnTo>
                <a:lnTo>
                  <a:pt x="11119104" y="621792"/>
                </a:lnTo>
                <a:lnTo>
                  <a:pt x="0" y="62179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298438" r="0" b="-298438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0945CD06-8CD6-4CAA-B694-C5ACE6C6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07424" y="2831497"/>
            <a:ext cx="8339328" cy="487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615"/>
              </a:lnSpc>
              <a:buNone/>
            </a:pPr>
            <a:r>
              <a:rPr sz="2790" spc="10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재설계  /  데이터·학습 목표</a:t>
            </a:r>
          </a:p>
        </p:txBody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2E13A45F-92B7-467D-814B-CC99BA5F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21140" y="3511296"/>
            <a:ext cx="8311896" cy="891540"/>
          </a:xfrm>
          <a:custGeom xmlns:a="http://schemas.openxmlformats.org/drawingml/2006/main">
            <a:rect l="l" t="t" r="r" b="b"/>
            <a:pathLst>
              <a:path w="11082528" h="1188720">
                <a:moveTo>
                  <a:pt x="0" y="0"/>
                </a:moveTo>
                <a:lnTo>
                  <a:pt x="11082528" y="0"/>
                </a:lnTo>
                <a:lnTo>
                  <a:pt x="11082528" y="1188720"/>
                </a:lnTo>
                <a:lnTo>
                  <a:pt x="0" y="11887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131660" r="0" b="-131660"/>
            </a:stretch>
          </a:blipFill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49526DFE-30B3-42E9-9395-E0F75AA5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21140" y="3497009"/>
            <a:ext cx="8311896" cy="9058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7"/>
              </a:lnSpc>
              <a:buNone/>
            </a:pPr>
            <a:r>
              <a:rPr sz="1679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Qwen3-Coder-Next 80B · B200 × 2</a:t>
            </a:r>
          </a:p>
          <a:p xmlns:a="http://schemas.openxmlformats.org/drawingml/2006/main">
            <a:pPr algn="l">
              <a:lnSpc>
                <a:spcPts val="2257"/>
              </a:lnSpc>
              <a:buNone/>
            </a:pPr>
            <a:r>
              <a:rPr sz="1679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학습/검증 구성 10,000 / 1,000개</a:t>
            </a:r>
          </a:p>
          <a:p xmlns:a="http://schemas.openxmlformats.org/drawingml/2006/main">
            <a:pPr algn="l">
              <a:lnSpc>
                <a:spcPts val="2257"/>
              </a:lnSpc>
              <a:buNone/>
            </a:pPr>
            <a:r>
              <a:rPr sz="1679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정제 후 학습 사용 9,975 / 996개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D81AA06E-18BE-4380-AE88-6BBA113E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1904" y="4601908"/>
            <a:ext cx="2537079" cy="671703"/>
          </a:xfrm>
          <a:custGeom xmlns:a="http://schemas.openxmlformats.org/drawingml/2006/main">
            <a:rect l="l" t="t" r="r" b="b"/>
            <a:pathLst>
              <a:path w="3382772" h="895604">
                <a:moveTo>
                  <a:pt x="0" y="149225"/>
                </a:moveTo>
                <a:cubicBezTo>
                  <a:pt x="0" y="66802"/>
                  <a:pt x="66802" y="0"/>
                  <a:pt x="149225" y="0"/>
                </a:cubicBezTo>
                <a:lnTo>
                  <a:pt x="3233547" y="0"/>
                </a:lnTo>
                <a:cubicBezTo>
                  <a:pt x="3315970" y="0"/>
                  <a:pt x="3382772" y="66802"/>
                  <a:pt x="3382772" y="149225"/>
                </a:cubicBezTo>
                <a:lnTo>
                  <a:pt x="3382772" y="746379"/>
                </a:lnTo>
                <a:cubicBezTo>
                  <a:pt x="3382772" y="828802"/>
                  <a:pt x="3315970" y="895604"/>
                  <a:pt x="3233547" y="895604"/>
                </a:cubicBezTo>
                <a:lnTo>
                  <a:pt x="149225" y="895604"/>
                </a:lnTo>
                <a:cubicBezTo>
                  <a:pt x="66802" y="895604"/>
                  <a:pt x="0" y="828802"/>
                  <a:pt x="0" y="746379"/>
                </a:cubicBezTo>
                <a:close/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717F702F-F7CC-44DD-AACA-554B90FB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30868" y="4786884"/>
            <a:ext cx="2359152" cy="274320"/>
          </a:xfrm>
          <a:custGeom xmlns:a="http://schemas.openxmlformats.org/drawingml/2006/main">
            <a:rect l="l" t="t" r="r" b="b"/>
            <a:pathLst>
              <a:path w="3145536" h="365760">
                <a:moveTo>
                  <a:pt x="0" y="0"/>
                </a:moveTo>
                <a:lnTo>
                  <a:pt x="3145536" y="0"/>
                </a:lnTo>
                <a:lnTo>
                  <a:pt x="3145536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117571" r="0" b="-117571"/>
            </a:stretch>
          </a:blipFill>
        </p:spPr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68F4B0D6-9D88-4464-98EE-AAD6EF4F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30868" y="4779741"/>
            <a:ext cx="2359152" cy="281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71"/>
              </a:lnSpc>
              <a:buNone/>
            </a:pPr>
            <a:r>
              <a:rPr sz="1829" spc="7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취약점 판단</a:t>
            </a:r>
          </a:p>
        </p:txBody>
      </p:sp>
      <p:sp>
        <p:nvSpPr>
          <p:cNvPr id="61" name="AutoShape 61">
            <a:extLst xmlns:a="http://schemas.openxmlformats.org/drawingml/2006/main">
              <a:ext uri="{FF2B5EF4-FFF2-40B4-BE49-F238E27FC236}">
                <a16:creationId xmlns:a16="http://schemas.microsoft.com/office/drawing/2014/main" id="{00015FAB-5CBF-4554-9CED-8B300550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6860">
            <a:off x="11716217" y="4919282"/>
            <a:ext cx="22765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D331B4F1-FCC8-429C-B426-30705300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08548" y="4601908"/>
            <a:ext cx="2537079" cy="671703"/>
          </a:xfrm>
          <a:custGeom xmlns:a="http://schemas.openxmlformats.org/drawingml/2006/main">
            <a:rect l="l" t="t" r="r" b="b"/>
            <a:pathLst>
              <a:path w="3382772" h="895604">
                <a:moveTo>
                  <a:pt x="0" y="149225"/>
                </a:moveTo>
                <a:cubicBezTo>
                  <a:pt x="0" y="66802"/>
                  <a:pt x="66802" y="0"/>
                  <a:pt x="149225" y="0"/>
                </a:cubicBezTo>
                <a:lnTo>
                  <a:pt x="3233547" y="0"/>
                </a:lnTo>
                <a:cubicBezTo>
                  <a:pt x="3315970" y="0"/>
                  <a:pt x="3382772" y="66802"/>
                  <a:pt x="3382772" y="149225"/>
                </a:cubicBezTo>
                <a:lnTo>
                  <a:pt x="3382772" y="746379"/>
                </a:lnTo>
                <a:cubicBezTo>
                  <a:pt x="3382772" y="828802"/>
                  <a:pt x="3315970" y="895604"/>
                  <a:pt x="3233547" y="895604"/>
                </a:cubicBezTo>
                <a:lnTo>
                  <a:pt x="149225" y="895604"/>
                </a:lnTo>
                <a:cubicBezTo>
                  <a:pt x="66802" y="895604"/>
                  <a:pt x="0" y="828802"/>
                  <a:pt x="0" y="746379"/>
                </a:cubicBezTo>
                <a:close/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EB107FEF-C846-474C-BBDA-6561738A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97512" y="4786884"/>
            <a:ext cx="2359152" cy="274320"/>
          </a:xfrm>
          <a:custGeom xmlns:a="http://schemas.openxmlformats.org/drawingml/2006/main">
            <a:rect l="l" t="t" r="r" b="b"/>
            <a:pathLst>
              <a:path w="3145536" h="365760">
                <a:moveTo>
                  <a:pt x="0" y="0"/>
                </a:moveTo>
                <a:lnTo>
                  <a:pt x="3145536" y="0"/>
                </a:lnTo>
                <a:lnTo>
                  <a:pt x="3145536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117571" r="0" b="-117571"/>
            </a:stretch>
          </a:blipFill>
        </p:spPr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83876D08-43B2-41DF-8B43-7A3674B4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97512" y="4779741"/>
            <a:ext cx="2359152" cy="281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71"/>
              </a:lnSpc>
              <a:buNone/>
            </a:pPr>
            <a:r>
              <a:rPr sz="1829" spc="7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근거 line 선택</a:t>
            </a:r>
          </a:p>
        </p:txBody>
      </p:sp>
      <p:sp>
        <p:nvSpPr>
          <p:cNvPr id="67" name="AutoShape 67">
            <a:extLst xmlns:a="http://schemas.openxmlformats.org/drawingml/2006/main">
              <a:ext uri="{FF2B5EF4-FFF2-40B4-BE49-F238E27FC236}">
                <a16:creationId xmlns:a16="http://schemas.microsoft.com/office/drawing/2014/main" id="{DA92DFDA-5336-44EE-B129-3753662E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6860">
            <a:off x="14582861" y="4919282"/>
            <a:ext cx="22765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6E176DC7-CE81-41DC-BC6F-873B52E6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75193" y="4601908"/>
            <a:ext cx="2537079" cy="671703"/>
          </a:xfrm>
          <a:custGeom xmlns:a="http://schemas.openxmlformats.org/drawingml/2006/main">
            <a:rect l="l" t="t" r="r" b="b"/>
            <a:pathLst>
              <a:path w="3382772" h="895604">
                <a:moveTo>
                  <a:pt x="0" y="149225"/>
                </a:moveTo>
                <a:cubicBezTo>
                  <a:pt x="0" y="66802"/>
                  <a:pt x="66802" y="0"/>
                  <a:pt x="149225" y="0"/>
                </a:cubicBezTo>
                <a:lnTo>
                  <a:pt x="3233547" y="0"/>
                </a:lnTo>
                <a:cubicBezTo>
                  <a:pt x="3315970" y="0"/>
                  <a:pt x="3382772" y="66802"/>
                  <a:pt x="3382772" y="149225"/>
                </a:cubicBezTo>
                <a:lnTo>
                  <a:pt x="3382772" y="746379"/>
                </a:lnTo>
                <a:cubicBezTo>
                  <a:pt x="3382772" y="828802"/>
                  <a:pt x="3315970" y="895604"/>
                  <a:pt x="3233547" y="895604"/>
                </a:cubicBezTo>
                <a:lnTo>
                  <a:pt x="149225" y="895604"/>
                </a:lnTo>
                <a:cubicBezTo>
                  <a:pt x="66802" y="895604"/>
                  <a:pt x="0" y="828802"/>
                  <a:pt x="0" y="746379"/>
                </a:cubicBezTo>
                <a:close/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EE601D4D-C3D1-4146-96BA-481B8535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64156" y="4786884"/>
            <a:ext cx="2359152" cy="274320"/>
          </a:xfrm>
          <a:custGeom xmlns:a="http://schemas.openxmlformats.org/drawingml/2006/main">
            <a:rect l="l" t="t" r="r" b="b"/>
            <a:pathLst>
              <a:path w="3145536" h="365760">
                <a:moveTo>
                  <a:pt x="0" y="0"/>
                </a:moveTo>
                <a:lnTo>
                  <a:pt x="3145536" y="0"/>
                </a:lnTo>
                <a:lnTo>
                  <a:pt x="3145536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117571" r="0" b="-117571"/>
            </a:stretch>
          </a:blipFill>
        </p:spPr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BA9F0F8D-0BC0-4B75-990C-1F2A92E7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64156" y="4779741"/>
            <a:ext cx="2359152" cy="281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71"/>
              </a:lnSpc>
              <a:buNone/>
            </a:pPr>
            <a:r>
              <a:rPr sz="1829" spc="7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원문 span 추출</a:t>
            </a:r>
          </a:p>
        </p:txBody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F0586506-71E4-4F0C-8660-EB63CDAB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8572" y="5513832"/>
            <a:ext cx="8257032" cy="301752"/>
          </a:xfrm>
          <a:custGeom xmlns:a="http://schemas.openxmlformats.org/drawingml/2006/main">
            <a:rect l="l" t="t" r="r" b="b"/>
            <a:pathLst>
              <a:path w="11009376" h="402336">
                <a:moveTo>
                  <a:pt x="0" y="0"/>
                </a:moveTo>
                <a:lnTo>
                  <a:pt x="11009376" y="0"/>
                </a:lnTo>
                <a:lnTo>
                  <a:pt x="11009376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483181" r="0" b="-483181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634185EB-E48A-4DFA-8470-AA85A8B4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8572" y="5499545"/>
            <a:ext cx="8257032" cy="3160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35"/>
              </a:lnSpc>
              <a:buNone/>
            </a:pPr>
            <a:r>
              <a:rPr sz="1725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판단과 근거 추출의 학습 목표 분리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9E68AFD7-20E4-4933-A7CC-ECF1259C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1615" y="6094095"/>
            <a:ext cx="8317230" cy="2337054"/>
          </a:xfrm>
          <a:custGeom xmlns:a="http://schemas.openxmlformats.org/drawingml/2006/main">
            <a:rect l="l" t="t" r="r" b="b"/>
            <a:pathLst>
              <a:path w="11089640" h="3116072">
                <a:moveTo>
                  <a:pt x="0" y="0"/>
                </a:moveTo>
                <a:lnTo>
                  <a:pt x="11089640" y="0"/>
                </a:lnTo>
                <a:lnTo>
                  <a:pt x="11089640" y="3116072"/>
                </a:lnTo>
                <a:lnTo>
                  <a:pt x="0" y="3116072"/>
                </a:lnTo>
                <a:close/>
              </a:path>
            </a:pathLst>
          </a:custGeom>
          <a:solidFill xmlns:a="http://schemas.openxmlformats.org/drawingml/2006/main">
            <a:srgbClr val="EDF3FA"/>
          </a:solidFill>
        </p:spPr>
      </p:sp>
      <p:sp>
        <p:nvSpPr>
          <p:cNvPr id="79" name="Freeform 79">
            <a:extLst xmlns:a="http://schemas.openxmlformats.org/drawingml/2006/main">
              <a:ext uri="{FF2B5EF4-FFF2-40B4-BE49-F238E27FC236}">
                <a16:creationId xmlns:a16="http://schemas.microsoft.com/office/drawing/2014/main" id="{EC379ABC-093F-42C3-AB1E-03361A8D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9176" y="6350508"/>
            <a:ext cx="7694676" cy="342900"/>
          </a:xfrm>
          <a:custGeom xmlns:a="http://schemas.openxmlformats.org/drawingml/2006/main">
            <a:rect l="l" t="t" r="r" b="b"/>
            <a:pathLst>
              <a:path w="10259568" h="457200">
                <a:moveTo>
                  <a:pt x="0" y="0"/>
                </a:moveTo>
                <a:lnTo>
                  <a:pt x="10259568" y="0"/>
                </a:lnTo>
                <a:lnTo>
                  <a:pt x="10259568" y="457200"/>
                </a:lnTo>
                <a:lnTo>
                  <a:pt x="0" y="4572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387244" r="0" b="-387244"/>
            </a:stretch>
          </a:blipFill>
        </p:spPr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97709F46-82AE-459E-8166-825D626D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9176" y="6329077"/>
            <a:ext cx="7694676" cy="3643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27"/>
              </a:lnSpc>
              <a:buNone/>
            </a:pPr>
            <a:r>
              <a:rPr sz="1950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2차 평가 기록</a:t>
            </a:r>
          </a:p>
        </p:txBody>
      </p:sp>
      <p:sp>
        <p:nvSpPr>
          <p:cNvPr id="82" name="Freeform 82">
            <a:extLst xmlns:a="http://schemas.openxmlformats.org/drawingml/2006/main">
              <a:ext uri="{FF2B5EF4-FFF2-40B4-BE49-F238E27FC236}">
                <a16:creationId xmlns:a16="http://schemas.microsoft.com/office/drawing/2014/main" id="{FBC947FB-EED5-46A2-99F0-65375053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9176" y="6830568"/>
            <a:ext cx="7694676" cy="274320"/>
          </a:xfrm>
          <a:custGeom xmlns:a="http://schemas.openxmlformats.org/drawingml/2006/main">
            <a:rect l="l" t="t" r="r" b="b"/>
            <a:pathLst>
              <a:path w="10259568" h="365760">
                <a:moveTo>
                  <a:pt x="0" y="0"/>
                </a:moveTo>
                <a:lnTo>
                  <a:pt x="10259568" y="0"/>
                </a:lnTo>
                <a:lnTo>
                  <a:pt x="10259568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496555" r="0" b="-496555"/>
            </a:stretch>
          </a:blipFill>
        </p:spPr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3C59E7F5-B093-434B-AF46-1DEB0085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9176" y="6823425"/>
            <a:ext cx="7694676" cy="281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02"/>
              </a:lnSpc>
              <a:buNone/>
            </a:pPr>
            <a:r>
              <a:rPr sz="1545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NIST SARD/Juliet · C/C++ 함수 · 지정 CWE · 500건</a:t>
            </a:r>
          </a:p>
        </p:txBody>
      </p:sp>
      <p:sp>
        <p:nvSpPr>
          <p:cNvPr id="85" name="Freeform 85">
            <a:extLst xmlns:a="http://schemas.openxmlformats.org/drawingml/2006/main">
              <a:ext uri="{FF2B5EF4-FFF2-40B4-BE49-F238E27FC236}">
                <a16:creationId xmlns:a16="http://schemas.microsoft.com/office/drawing/2014/main" id="{A0F8C7B7-6A77-4F57-AAA2-E99369F4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9176" y="7338060"/>
            <a:ext cx="2386584" cy="548640"/>
          </a:xfrm>
          <a:custGeom xmlns:a="http://schemas.openxmlformats.org/drawingml/2006/main">
            <a:rect l="l" t="t" r="r" b="b"/>
            <a:pathLst>
              <a:path w="3182112" h="731520">
                <a:moveTo>
                  <a:pt x="0" y="0"/>
                </a:moveTo>
                <a:lnTo>
                  <a:pt x="3182112" y="0"/>
                </a:lnTo>
                <a:lnTo>
                  <a:pt x="318211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34759" r="0" b="-34759"/>
            </a:stretch>
          </a:blipFill>
        </p:spPr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FDE759B3-D08C-48D4-8324-E94AD18D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9176" y="7302342"/>
            <a:ext cx="2386584" cy="5843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510"/>
              </a:lnSpc>
              <a:buNone/>
            </a:pPr>
            <a:r>
              <a:rPr sz="3479" spc="13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98.81%</a:t>
            </a:r>
          </a:p>
        </p:txBody>
      </p:sp>
      <p:sp>
        <p:nvSpPr>
          <p:cNvPr id="88" name="Freeform 88">
            <a:extLst xmlns:a="http://schemas.openxmlformats.org/drawingml/2006/main">
              <a:ext uri="{FF2B5EF4-FFF2-40B4-BE49-F238E27FC236}">
                <a16:creationId xmlns:a16="http://schemas.microsoft.com/office/drawing/2014/main" id="{2AF24D3B-475E-46F6-90D1-CA33BBDC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9176" y="8078724"/>
            <a:ext cx="2386584" cy="219456"/>
          </a:xfrm>
          <a:custGeom xmlns:a="http://schemas.openxmlformats.org/drawingml/2006/main">
            <a:rect l="l" t="t" r="r" b="b"/>
            <a:pathLst>
              <a:path w="3182112" h="292608">
                <a:moveTo>
                  <a:pt x="0" y="0"/>
                </a:moveTo>
                <a:lnTo>
                  <a:pt x="3182112" y="0"/>
                </a:lnTo>
                <a:lnTo>
                  <a:pt x="3182112" y="292608"/>
                </a:lnTo>
                <a:lnTo>
                  <a:pt x="0" y="29260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161899" r="0" b="-161899"/>
            </a:stretch>
          </a:blipFill>
        </p:spPr>
      </p:sp>
      <p:sp>
        <p:nvSpPr>
          <p:cNvPr id="89" name="TextBox 89">
            <a:extLst xmlns:a="http://schemas.openxmlformats.org/drawingml/2006/main">
              <a:ext uri="{FF2B5EF4-FFF2-40B4-BE49-F238E27FC236}">
                <a16:creationId xmlns:a16="http://schemas.microsoft.com/office/drawing/2014/main" id="{5B8F3C19-2A23-4149-8F65-D101E1B4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9176" y="8071581"/>
            <a:ext cx="2386584" cy="2265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44"/>
              </a:lnSpc>
              <a:buNone/>
            </a:pPr>
            <a:r>
              <a:rPr sz="1500" spc="5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Precision</a:t>
            </a:r>
          </a:p>
        </p:txBody>
      </p:sp>
      <p:sp>
        <p:nvSpPr>
          <p:cNvPr id="91" name="Freeform 91">
            <a:extLst xmlns:a="http://schemas.openxmlformats.org/drawingml/2006/main">
              <a:ext uri="{FF2B5EF4-FFF2-40B4-BE49-F238E27FC236}">
                <a16:creationId xmlns:a16="http://schemas.microsoft.com/office/drawing/2014/main" id="{59D99367-543F-4FE0-9DE5-7E4F9069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15216" y="7338060"/>
            <a:ext cx="2386584" cy="548640"/>
          </a:xfrm>
          <a:custGeom xmlns:a="http://schemas.openxmlformats.org/drawingml/2006/main">
            <a:rect l="l" t="t" r="r" b="b"/>
            <a:pathLst>
              <a:path w="3182112" h="731520">
                <a:moveTo>
                  <a:pt x="0" y="0"/>
                </a:moveTo>
                <a:lnTo>
                  <a:pt x="3182112" y="0"/>
                </a:lnTo>
                <a:lnTo>
                  <a:pt x="318211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34759" r="0" b="-34759"/>
            </a:stretch>
          </a:blipFill>
        </p:spPr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156F9490-33BC-4327-93AC-044DBC9F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15216" y="7302342"/>
            <a:ext cx="2386584" cy="5843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510"/>
              </a:lnSpc>
              <a:buNone/>
            </a:pPr>
            <a:r>
              <a:rPr sz="3479" spc="13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100%</a:t>
            </a:r>
          </a:p>
        </p:txBody>
      </p:sp>
      <p:sp>
        <p:nvSpPr>
          <p:cNvPr id="94" name="Freeform 94">
            <a:extLst xmlns:a="http://schemas.openxmlformats.org/drawingml/2006/main">
              <a:ext uri="{FF2B5EF4-FFF2-40B4-BE49-F238E27FC236}">
                <a16:creationId xmlns:a16="http://schemas.microsoft.com/office/drawing/2014/main" id="{B2B419B1-8FCF-4057-BABD-5A71A811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15216" y="8078724"/>
            <a:ext cx="2386584" cy="219456"/>
          </a:xfrm>
          <a:custGeom xmlns:a="http://schemas.openxmlformats.org/drawingml/2006/main">
            <a:rect l="l" t="t" r="r" b="b"/>
            <a:pathLst>
              <a:path w="3182112" h="292608">
                <a:moveTo>
                  <a:pt x="0" y="0"/>
                </a:moveTo>
                <a:lnTo>
                  <a:pt x="3182112" y="0"/>
                </a:lnTo>
                <a:lnTo>
                  <a:pt x="3182112" y="292608"/>
                </a:lnTo>
                <a:lnTo>
                  <a:pt x="0" y="29260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161899" r="0" b="-161899"/>
            </a:stretch>
          </a:blipFill>
        </p:spPr>
      </p:sp>
      <p:sp>
        <p:nvSpPr>
          <p:cNvPr id="95" name="TextBox 95">
            <a:extLst xmlns:a="http://schemas.openxmlformats.org/drawingml/2006/main">
              <a:ext uri="{FF2B5EF4-FFF2-40B4-BE49-F238E27FC236}">
                <a16:creationId xmlns:a16="http://schemas.microsoft.com/office/drawing/2014/main" id="{2E752EB4-295A-4B0A-85DC-3384162D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15216" y="8071581"/>
            <a:ext cx="2386584" cy="2265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44"/>
              </a:lnSpc>
              <a:buNone/>
            </a:pPr>
            <a:r>
              <a:rPr sz="1500" spc="5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Recall</a:t>
            </a:r>
          </a:p>
        </p:txBody>
      </p:sp>
      <p:sp>
        <p:nvSpPr>
          <p:cNvPr id="97" name="Freeform 97">
            <a:extLst xmlns:a="http://schemas.openxmlformats.org/drawingml/2006/main">
              <a:ext uri="{FF2B5EF4-FFF2-40B4-BE49-F238E27FC236}">
                <a16:creationId xmlns:a16="http://schemas.microsoft.com/office/drawing/2014/main" id="{12B0DB6F-689F-4CD6-BE65-F1D20136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21256" y="7338060"/>
            <a:ext cx="2386584" cy="548640"/>
          </a:xfrm>
          <a:custGeom xmlns:a="http://schemas.openxmlformats.org/drawingml/2006/main">
            <a:rect l="l" t="t" r="r" b="b"/>
            <a:pathLst>
              <a:path w="3182112" h="731520">
                <a:moveTo>
                  <a:pt x="0" y="0"/>
                </a:moveTo>
                <a:lnTo>
                  <a:pt x="3182112" y="0"/>
                </a:lnTo>
                <a:lnTo>
                  <a:pt x="318211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34759" r="0" b="-34759"/>
            </a:stretch>
          </a:blipFill>
        </p:spPr>
      </p:sp>
      <p:sp>
        <p:nvSpPr>
          <p:cNvPr id="98" name="TextBox 98">
            <a:extLst xmlns:a="http://schemas.openxmlformats.org/drawingml/2006/main">
              <a:ext uri="{FF2B5EF4-FFF2-40B4-BE49-F238E27FC236}">
                <a16:creationId xmlns:a16="http://schemas.microsoft.com/office/drawing/2014/main" id="{B528F976-6B54-4DE6-B621-5F15976D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21256" y="7302342"/>
            <a:ext cx="2386584" cy="5843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510"/>
              </a:lnSpc>
              <a:buNone/>
            </a:pPr>
            <a:r>
              <a:rPr sz="3479" spc="13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1.20%</a:t>
            </a:r>
          </a:p>
        </p:txBody>
      </p:sp>
      <p:sp>
        <p:nvSpPr>
          <p:cNvPr id="100" name="Freeform 100">
            <a:extLst xmlns:a="http://schemas.openxmlformats.org/drawingml/2006/main">
              <a:ext uri="{FF2B5EF4-FFF2-40B4-BE49-F238E27FC236}">
                <a16:creationId xmlns:a16="http://schemas.microsoft.com/office/drawing/2014/main" id="{5B263A07-1647-44B7-B74F-29CA303B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21256" y="8078724"/>
            <a:ext cx="2386584" cy="219456"/>
          </a:xfrm>
          <a:custGeom xmlns:a="http://schemas.openxmlformats.org/drawingml/2006/main">
            <a:rect l="l" t="t" r="r" b="b"/>
            <a:pathLst>
              <a:path w="3182112" h="292608">
                <a:moveTo>
                  <a:pt x="0" y="0"/>
                </a:moveTo>
                <a:lnTo>
                  <a:pt x="3182112" y="0"/>
                </a:lnTo>
                <a:lnTo>
                  <a:pt x="3182112" y="292608"/>
                </a:lnTo>
                <a:lnTo>
                  <a:pt x="0" y="29260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161899" r="0" b="-161899"/>
            </a:stretch>
          </a:blipFill>
        </p:spPr>
      </p:sp>
      <p:sp>
        <p:nvSpPr>
          <p:cNvPr id="101" name="TextBox 101">
            <a:extLst xmlns:a="http://schemas.openxmlformats.org/drawingml/2006/main">
              <a:ext uri="{FF2B5EF4-FFF2-40B4-BE49-F238E27FC236}">
                <a16:creationId xmlns:a16="http://schemas.microsoft.com/office/drawing/2014/main" id="{4B5116D4-111F-44D9-986F-F61E70B0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21256" y="8071581"/>
            <a:ext cx="2386584" cy="2265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44"/>
              </a:lnSpc>
              <a:buNone/>
            </a:pPr>
            <a:r>
              <a:rPr sz="1500" spc="5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FPR</a:t>
            </a:r>
          </a:p>
        </p:txBody>
      </p:sp>
      <p:sp>
        <p:nvSpPr>
          <p:cNvPr id="103" name="Freeform 103">
            <a:extLst xmlns:a="http://schemas.openxmlformats.org/drawingml/2006/main">
              <a:ext uri="{FF2B5EF4-FFF2-40B4-BE49-F238E27FC236}">
                <a16:creationId xmlns:a16="http://schemas.microsoft.com/office/drawing/2014/main" id="{C4B74CB7-7D53-4B88-9C63-1B5A7B4C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4856" y="8627364"/>
            <a:ext cx="8243316" cy="288036"/>
          </a:xfrm>
          <a:custGeom xmlns:a="http://schemas.openxmlformats.org/drawingml/2006/main">
            <a:rect l="l" t="t" r="r" b="b"/>
            <a:pathLst>
              <a:path w="10991088" h="384048">
                <a:moveTo>
                  <a:pt x="0" y="0"/>
                </a:moveTo>
                <a:lnTo>
                  <a:pt x="10991088" y="0"/>
                </a:lnTo>
                <a:lnTo>
                  <a:pt x="10991088" y="384048"/>
                </a:lnTo>
                <a:lnTo>
                  <a:pt x="0" y="38404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507643" r="0" b="-507643"/>
            </a:stretch>
          </a:blipFill>
        </p:spPr>
      </p:sp>
      <p:sp>
        <p:nvSpPr>
          <p:cNvPr id="104" name="TextBox 104">
            <a:extLst xmlns:a="http://schemas.openxmlformats.org/drawingml/2006/main">
              <a:ext uri="{FF2B5EF4-FFF2-40B4-BE49-F238E27FC236}">
                <a16:creationId xmlns:a16="http://schemas.microsoft.com/office/drawing/2014/main" id="{C258CE2E-3ED2-4D36-BFE5-A3242D41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4856" y="8620221"/>
            <a:ext cx="8243316" cy="2951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02"/>
              </a:lnSpc>
              <a:buNone/>
            </a:pPr>
            <a:r>
              <a:rPr sz="1545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모델 단독 평가 · HF 최초 blind 평가</a:t>
            </a:r>
          </a:p>
        </p:txBody>
      </p:sp>
      <p:sp>
        <p:nvSpPr>
          <p:cNvPr id="106" name="Freeform 106">
            <a:extLst xmlns:a="http://schemas.openxmlformats.org/drawingml/2006/main">
              <a:ext uri="{FF2B5EF4-FFF2-40B4-BE49-F238E27FC236}">
                <a16:creationId xmlns:a16="http://schemas.microsoft.com/office/drawing/2014/main" id="{751055D2-B83D-441A-86DE-90EB8F5A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4856" y="9066276"/>
            <a:ext cx="8257032" cy="301752"/>
          </a:xfrm>
          <a:custGeom xmlns:a="http://schemas.openxmlformats.org/drawingml/2006/main">
            <a:rect l="l" t="t" r="r" b="b"/>
            <a:pathLst>
              <a:path w="11009376" h="402336">
                <a:moveTo>
                  <a:pt x="0" y="0"/>
                </a:moveTo>
                <a:lnTo>
                  <a:pt x="11009376" y="0"/>
                </a:lnTo>
                <a:lnTo>
                  <a:pt x="11009376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483181" r="0" b="-483181"/>
            </a:stretch>
          </a:blipFill>
        </p:spPr>
      </p:sp>
      <p:sp>
        <p:nvSpPr>
          <p:cNvPr id="107" name="TextBox 107">
            <a:extLst xmlns:a="http://schemas.openxmlformats.org/drawingml/2006/main">
              <a:ext uri="{FF2B5EF4-FFF2-40B4-BE49-F238E27FC236}">
                <a16:creationId xmlns:a16="http://schemas.microsoft.com/office/drawing/2014/main" id="{17D12CAA-97EC-4B15-BF00-ECAF0095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4856" y="9059133"/>
            <a:ext cx="8257032" cy="308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96"/>
              </a:lnSpc>
              <a:buNone/>
            </a:pPr>
            <a:r>
              <a:rPr sz="1695" spc="6">
                <a:solidFill>
                  <a:srgbClr val="8A5A24"/>
                </a:solidFill>
                <a:latin typeface="Mandali"/>
                <a:ea typeface="Mandali"/>
                <a:cs typeface="Mandali"/>
              </a:rPr>
              <a:t>진행 상태: 데이터셋 구축 · 실증 테스트 예정</a:t>
            </a:r>
          </a:p>
        </p:txBody>
      </p:sp>
      <p:sp>
        <p:nvSpPr>
          <p:cNvPr id="109" name="Freeform 109">
            <a:extLst xmlns:a="http://schemas.openxmlformats.org/drawingml/2006/main">
              <a:ext uri="{FF2B5EF4-FFF2-40B4-BE49-F238E27FC236}">
                <a16:creationId xmlns:a16="http://schemas.microsoft.com/office/drawing/2014/main" id="{4299057F-6BF5-4A20-A500-78DBA01F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9436608"/>
            <a:ext cx="16459200" cy="233172"/>
          </a:xfrm>
          <a:custGeom xmlns:a="http://schemas.openxmlformats.org/drawingml/2006/main">
            <a:rect l="l" t="t" r="r" b="b"/>
            <a:pathLst>
              <a:path w="21945600" h="310896">
                <a:moveTo>
                  <a:pt x="0" y="0"/>
                </a:moveTo>
                <a:lnTo>
                  <a:pt x="21945600" y="0"/>
                </a:lnTo>
                <a:lnTo>
                  <a:pt x="21945600" y="310896"/>
                </a:lnTo>
                <a:lnTo>
                  <a:pt x="0" y="3108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8e98a806274486">
              <a:alphaModFix amt="0"/>
            </a:blip>
            <a:stretch>
              <a:fillRect l="0" t="-1325414" r="0" b="-1325414"/>
            </a:stretch>
          </a:blipFill>
        </p:spPr>
      </p:sp>
      <p:sp>
        <p:nvSpPr>
          <p:cNvPr id="110" name="TextBox 110">
            <a:extLst xmlns:a="http://schemas.openxmlformats.org/drawingml/2006/main">
              <a:ext uri="{FF2B5EF4-FFF2-40B4-BE49-F238E27FC236}">
                <a16:creationId xmlns:a16="http://schemas.microsoft.com/office/drawing/2014/main" id="{8531B2A3-E0EA-4ED7-8F3F-88220B91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9422321"/>
            <a:ext cx="16459200" cy="247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66"/>
              </a:lnSpc>
              <a:buNone/>
            </a:pPr>
            <a:r>
              <a:rPr sz="1439" spc="5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※ 1차를 진행하면서 정답 + 근거의 필요성을 느꼈고, 데이터셋을 재설계하면서 취약점 판단 + 근거 선택을 할 수 있도록 학습 데이터셋을 재구축함. 그 과정에서 원천 데이터셋 교체가 이루어짐.</a:t>
            </a:r>
          </a:p>
        </p:txBody>
      </p:sp>
      <p:sp>
        <p:nvSpPr>
          <p:cNvPr id="111" name="AutoShape 111">
            <a:extLst xmlns:a="http://schemas.openxmlformats.org/drawingml/2006/main">
              <a:ext uri="{FF2B5EF4-FFF2-40B4-BE49-F238E27FC236}">
                <a16:creationId xmlns:a16="http://schemas.microsoft.com/office/drawing/2014/main" id="{43A7362E-9A82-443C-A701-3DE7F704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60">
            <a:off x="816293" y="9706166"/>
            <a:ext cx="1665085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633476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1617F30-7B75-4CC2-A5BE-2026B116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93776"/>
            <a:ext cx="16596360" cy="438476"/>
          </a:xfrm>
          <a:custGeom xmlns:a="http://schemas.openxmlformats.org/drawingml/2006/main">
            <a:rect l="l" t="t" r="r" b="b"/>
            <a:pathLst>
              <a:path w="22128480" h="584635">
                <a:moveTo>
                  <a:pt x="0" y="0"/>
                </a:moveTo>
                <a:lnTo>
                  <a:pt x="22128480" y="0"/>
                </a:lnTo>
                <a:lnTo>
                  <a:pt x="22128480" y="584635"/>
                </a:lnTo>
                <a:lnTo>
                  <a:pt x="0" y="58463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7acd088c5a4859">
              <a:alphaModFix amt="0"/>
            </a:blip>
            <a:stretch>
              <a:fillRect l="0" t="-703101" r="0" b="-671919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08A69A98-443D-4E28-AC63-8784F92E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86633"/>
            <a:ext cx="16596360" cy="4456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99"/>
              </a:lnSpc>
              <a:buNone/>
            </a:pPr>
            <a:r>
              <a:rPr sz="1620" spc="12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05  /  FrameWork Development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FF71F2A7-34D3-47D8-B65E-2A813682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124712"/>
            <a:ext cx="16596360" cy="1110478"/>
          </a:xfrm>
          <a:custGeom xmlns:a="http://schemas.openxmlformats.org/drawingml/2006/main">
            <a:rect l="l" t="t" r="r" b="b"/>
            <a:pathLst>
              <a:path w="22128480" h="1480637">
                <a:moveTo>
                  <a:pt x="0" y="0"/>
                </a:moveTo>
                <a:lnTo>
                  <a:pt x="22128480" y="0"/>
                </a:lnTo>
                <a:lnTo>
                  <a:pt x="22128480" y="1480637"/>
                </a:lnTo>
                <a:lnTo>
                  <a:pt x="0" y="14806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7acd088c5a4859">
              <a:alphaModFix amt="0"/>
            </a:blip>
            <a:stretch>
              <a:fillRect l="0" t="-260329" r="0" b="-222087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AAE5FFA-C4AD-43F2-9AA3-C41C47B8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096137"/>
            <a:ext cx="16596360" cy="11390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5248"/>
              </a:lnSpc>
              <a:buNone/>
            </a:pPr>
            <a:r>
              <a:rPr sz="4050" spc="15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GPU-Based AutoML 오픈소스 프레임워크 개발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4FA5E604-0997-4891-B5A7-0F8702AC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20240"/>
            <a:ext cx="16459200" cy="529201"/>
          </a:xfrm>
          <a:custGeom xmlns:a="http://schemas.openxmlformats.org/drawingml/2006/main">
            <a:rect l="l" t="t" r="r" b="b"/>
            <a:pathLst>
              <a:path w="21945600" h="705601">
                <a:moveTo>
                  <a:pt x="0" y="0"/>
                </a:moveTo>
                <a:lnTo>
                  <a:pt x="21945600" y="0"/>
                </a:lnTo>
                <a:lnTo>
                  <a:pt x="21945600" y="705601"/>
                </a:lnTo>
                <a:lnTo>
                  <a:pt x="0" y="70560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7acd088c5a4859">
              <a:alphaModFix amt="0"/>
            </a:blip>
            <a:stretch>
              <a:fillRect l="0" t="-567146" r="0" b="-544901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1636AB1-BF84-4AC4-AF00-7F4DF1FF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13097"/>
            <a:ext cx="16459200" cy="5363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88"/>
              </a:lnSpc>
              <a:buNone/>
            </a:pPr>
            <a:r>
              <a:rPr sz="1920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Only GPU 를 지향하는 AutoML 프레임워크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419D158-E764-49B3-A60D-A474A8E1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1660">
            <a:off x="5437622" y="6002846"/>
            <a:ext cx="626975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3FB8ECB-6395-48DE-99F5-F6D1EC7B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9992" y="2449441"/>
            <a:ext cx="8339328" cy="769441"/>
          </a:xfrm>
          <a:custGeom xmlns:a="http://schemas.openxmlformats.org/drawingml/2006/main">
            <a:rect l="l" t="t" r="r" b="b"/>
            <a:pathLst>
              <a:path w="11119104" h="1025921">
                <a:moveTo>
                  <a:pt x="0" y="0"/>
                </a:moveTo>
                <a:lnTo>
                  <a:pt x="11119104" y="0"/>
                </a:lnTo>
                <a:lnTo>
                  <a:pt x="11119104" y="1025921"/>
                </a:lnTo>
                <a:lnTo>
                  <a:pt x="0" y="102592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7acd088c5a4859">
              <a:alphaModFix amt="0"/>
            </a:blip>
            <a:stretch>
              <a:fillRect l="0" t="-180877" r="0" b="-141486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98187BD-25C8-4FF2-B7F8-CBAE626D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9992" y="2428010"/>
            <a:ext cx="8339328" cy="7908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602361" lvl="1" indent="-301180" algn="l">
              <a:lnSpc>
                <a:spcPts val="3615"/>
              </a:lnSpc>
              <a:buAutoNum type="arabicPeriod" startAt="1"/>
            </a:pPr>
            <a:r>
              <a:rPr sz="2790" spc="10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프레임워크 개발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2879A041-59AF-4EEA-BC95-C5C3026B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60">
            <a:off x="816293" y="9706166"/>
            <a:ext cx="1665085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D88F9C82-2701-4C6D-B590-21AB30C0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823" y="2376678"/>
            <a:ext cx="7228332" cy="769440"/>
          </a:xfrm>
          <a:custGeom xmlns:a="http://schemas.openxmlformats.org/drawingml/2006/main">
            <a:rect l="l" t="t" r="r" b="b"/>
            <a:pathLst>
              <a:path w="9637776" h="1025921">
                <a:moveTo>
                  <a:pt x="0" y="0"/>
                </a:moveTo>
                <a:lnTo>
                  <a:pt x="9637776" y="0"/>
                </a:lnTo>
                <a:lnTo>
                  <a:pt x="9637776" y="1025921"/>
                </a:lnTo>
                <a:lnTo>
                  <a:pt x="0" y="102592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7acd088c5a4859">
              <a:alphaModFix amt="0"/>
            </a:blip>
            <a:stretch>
              <a:fillRect l="0" t="-152743" r="0" b="-113351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EFB5583-806E-44E9-AE11-6A18A956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823" y="2355247"/>
            <a:ext cx="7228332" cy="790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602361" lvl="1" indent="-301180" algn="l">
              <a:lnSpc>
                <a:spcPts val="3615"/>
              </a:lnSpc>
              <a:buAutoNum type="arabicPeriod" startAt="1"/>
            </a:pPr>
            <a:r>
              <a:rPr sz="2790" spc="10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스터디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93830D2-E718-41F7-B2E4-07AF1D72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823" y="3135731"/>
            <a:ext cx="6539133" cy="1715843"/>
          </a:xfrm>
          <a:custGeom xmlns:a="http://schemas.openxmlformats.org/drawingml/2006/main">
            <a:rect l="l" t="t" r="r" b="b"/>
            <a:pathLst>
              <a:path w="8718844" h="2287791">
                <a:moveTo>
                  <a:pt x="0" y="0"/>
                </a:moveTo>
                <a:lnTo>
                  <a:pt x="8718844" y="0"/>
                </a:lnTo>
                <a:lnTo>
                  <a:pt x="8718844" y="2287791"/>
                </a:lnTo>
                <a:lnTo>
                  <a:pt x="0" y="22877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6ead09b6c94711"/>
            <a:stretch>
              <a:fillRect l="0" t="-64" r="0" b="-64"/>
            </a:stretch>
          </a:blipFill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F685806-A292-447A-BA6F-1FEB2A6C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823" y="4121004"/>
            <a:ext cx="6539133" cy="1839599"/>
          </a:xfrm>
          <a:custGeom xmlns:a="http://schemas.openxmlformats.org/drawingml/2006/main">
            <a:rect l="l" t="t" r="r" b="b"/>
            <a:pathLst>
              <a:path w="8718844" h="2452800">
                <a:moveTo>
                  <a:pt x="0" y="0"/>
                </a:moveTo>
                <a:lnTo>
                  <a:pt x="8718844" y="0"/>
                </a:lnTo>
                <a:lnTo>
                  <a:pt x="8718844" y="2452800"/>
                </a:lnTo>
                <a:lnTo>
                  <a:pt x="0" y="2452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ba1ba74a874453"/>
            <a:stretch>
              <a:fillRect l="0" t="-68" r="0" b="-68"/>
            </a:stretch>
          </a:blipFill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7210B7B-0416-43FF-8DF3-A00C6D71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95" y="5155642"/>
            <a:ext cx="6600661" cy="1945802"/>
          </a:xfrm>
          <a:custGeom xmlns:a="http://schemas.openxmlformats.org/drawingml/2006/main">
            <a:rect l="l" t="t" r="r" b="b"/>
            <a:pathLst>
              <a:path w="8800882" h="2594404">
                <a:moveTo>
                  <a:pt x="0" y="0"/>
                </a:moveTo>
                <a:lnTo>
                  <a:pt x="8800882" y="0"/>
                </a:lnTo>
                <a:lnTo>
                  <a:pt x="8800882" y="2594404"/>
                </a:lnTo>
                <a:lnTo>
                  <a:pt x="0" y="259440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0c92cb173dc4779"/>
            <a:stretch>
              <a:fillRect l="0" t="-71" r="0" b="-71"/>
            </a:stretch>
          </a:blipFill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A1252B9-36DF-4B59-8788-388364EF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823" y="6206804"/>
            <a:ext cx="6539133" cy="1782623"/>
          </a:xfrm>
          <a:custGeom xmlns:a="http://schemas.openxmlformats.org/drawingml/2006/main">
            <a:rect l="l" t="t" r="r" b="b"/>
            <a:pathLst>
              <a:path w="8718844" h="2376831">
                <a:moveTo>
                  <a:pt x="0" y="0"/>
                </a:moveTo>
                <a:lnTo>
                  <a:pt x="8718844" y="0"/>
                </a:lnTo>
                <a:lnTo>
                  <a:pt x="8718844" y="2376832"/>
                </a:lnTo>
                <a:lnTo>
                  <a:pt x="0" y="237683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d8e7ba2a9034b78"/>
            <a:stretch>
              <a:fillRect l="0" t="-66" r="0" b="-66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E8F068F5-D2F5-440F-AC3F-C94CAA48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3886" y="8065628"/>
            <a:ext cx="4574679" cy="11804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759"/>
              </a:lnSpc>
              <a:buNone/>
            </a:pPr>
            <a:r>
              <a:rPr sz="3399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엔비디아 수료증 4종 취득</a:t>
            </a:r>
          </a:p>
          <a:p xmlns:a="http://schemas.openxmlformats.org/drawingml/2006/main">
            <a:pPr algn="l">
              <a:lnSpc>
                <a:spcPts val="4759"/>
              </a:lnSpc>
              <a:buNone/>
            </a:pPr>
            <a:r>
              <a:rPr sz="3399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AI / ML / DL 관련 수료증</a:t>
            </a:r>
          </a:p>
        </p:txBody>
      </p:sp>
      <p:sp>
        <p:nvSpPr>
          <p:cNvPr id="25" name="GUAM_PR213_lead">
            <a:extLst xmlns:a="http://schemas.openxmlformats.org/drawingml/2006/main">
              <a:ext uri="{FF2B5EF4-FFF2-40B4-BE49-F238E27FC236}">
                <a16:creationId xmlns:a16="http://schemas.microsoft.com/office/drawing/2014/main" id="{F1921F51-6742-4DB7-A1F0-BF5ACA79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43275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B3047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B3047"/>
                </a:solidFill>
                <a:latin typeface="Noto Sans Kr"/>
                <a:ea typeface="Noto Sans Kr"/>
                <a:cs typeface="Noto Sans Kr"/>
              </a:rPr>
              <a:t>코드와 문서의 불일치를 실제로 정정</a:t>
            </a:r>
          </a:p>
        </p:txBody>
      </p:sp>
      <p:sp>
        <p:nvSpPr>
          <p:cNvPr id="26" name="GUAM_PR213_scope">
            <a:extLst xmlns:a="http://schemas.openxmlformats.org/drawingml/2006/main">
              <a:ext uri="{FF2B5EF4-FFF2-40B4-BE49-F238E27FC236}">
                <a16:creationId xmlns:a16="http://schemas.microsoft.com/office/drawing/2014/main" id="{9E8C473C-5A3E-4B08-8BED-164CE571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90975"/>
            <a:ext cx="790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165A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3165A9"/>
                </a:solidFill>
                <a:latin typeface="Noto Sans Kr"/>
                <a:ea typeface="Noto Sans Kr"/>
                <a:cs typeface="Noto Sans Kr"/>
              </a:rPr>
              <a:t>PR #213 실제 변경 전후 · docs/API-SPEC.md</a:t>
            </a:r>
          </a:p>
        </p:txBody>
      </p:sp>
      <p:sp>
        <p:nvSpPr>
          <p:cNvPr id="27" name="GUAM_PR213_example1">
            <a:extLst xmlns:a="http://schemas.openxmlformats.org/drawingml/2006/main">
              <a:ext uri="{FF2B5EF4-FFF2-40B4-BE49-F238E27FC236}">
                <a16:creationId xmlns:a16="http://schemas.microsoft.com/office/drawing/2014/main" id="{82324F7A-3CE6-4C4A-9D65-0C8F2BD6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56247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304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B3047"/>
                </a:solidFill>
                <a:latin typeface="Noto Sans Kr"/>
                <a:ea typeface="Noto Sans Kr"/>
                <a:cs typeface="Noto Sans Kr"/>
              </a:rPr>
              <a:t>사용 안내: 목표 API와 실행 가능한 예제 구분</a:t>
            </a:r>
          </a:p>
        </p:txBody>
      </p:sp>
      <p:sp>
        <p:nvSpPr>
          <p:cNvPr id="28" name="GUAM_PR213_before1">
            <a:extLst xmlns:a="http://schemas.openxmlformats.org/drawingml/2006/main">
              <a:ext uri="{FF2B5EF4-FFF2-40B4-BE49-F238E27FC236}">
                <a16:creationId xmlns:a16="http://schemas.microsoft.com/office/drawing/2014/main" id="{03E37160-FAE5-43BA-B2C2-338C21C0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57775"/>
            <a:ext cx="790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9C343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9C343B"/>
                </a:solidFill>
                <a:latin typeface="Noto Sans Kr"/>
                <a:ea typeface="Noto Sans Kr"/>
                <a:cs typeface="Noto Sans Kr"/>
              </a:rPr>
              <a:t>− 아래는 GUAM이 완성되었을 때의</a:t>
            </a:r>
          </a:p>
          <a:p xmlns:a="http://schemas.openxmlformats.org/drawingml/2006/main">
            <a:pPr>
              <a:defRPr sz="1950" b="0">
                <a:solidFill>
                  <a:srgbClr val="9C343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9C343B"/>
                </a:solidFill>
                <a:latin typeface="Noto Sans Kr"/>
                <a:ea typeface="Noto Sans Kr"/>
                <a:cs typeface="Noto Sans Kr"/>
              </a:rPr>
              <a:t>   목표 사용자 API이다.</a:t>
            </a:r>
          </a:p>
        </p:txBody>
      </p:sp>
      <p:sp>
        <p:nvSpPr>
          <p:cNvPr id="29" name="GUAM_PR213_after1">
            <a:extLst xmlns:a="http://schemas.openxmlformats.org/drawingml/2006/main">
              <a:ext uri="{FF2B5EF4-FFF2-40B4-BE49-F238E27FC236}">
                <a16:creationId xmlns:a16="http://schemas.microsoft.com/office/drawing/2014/main" id="{B7120B91-0752-411F-A8A1-B6932C5A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895975"/>
            <a:ext cx="790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6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rPr>
              <a:t>+ 아래는 현재 공개된 TabularAutoML 기본 프리셋의</a:t>
            </a:r>
          </a:p>
          <a:p xmlns:a="http://schemas.openxmlformats.org/drawingml/2006/main">
            <a:pPr>
              <a:def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rPr>
              <a:t>   GPU 실행 예제다.</a:t>
            </a:r>
          </a:p>
        </p:txBody>
      </p:sp>
      <p:sp>
        <p:nvSpPr>
          <p:cNvPr id="30" name="GUAM_PR213_after2">
            <a:extLst xmlns:a="http://schemas.openxmlformats.org/drawingml/2006/main">
              <a:ext uri="{FF2B5EF4-FFF2-40B4-BE49-F238E27FC236}">
                <a16:creationId xmlns:a16="http://schemas.microsoft.com/office/drawing/2014/main" id="{D60E5474-A8B7-42F5-BAD4-0AEE01F2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677025"/>
            <a:ext cx="790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6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rPr>
              <a:t>+ GPU 런타임과 선택한 알고리즘 모듈이</a:t>
            </a:r>
          </a:p>
          <a:p xmlns:a="http://schemas.openxmlformats.org/drawingml/2006/main">
            <a:pPr>
              <a:def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rPr>
              <a:t>   준비되어 있어야 실행할 수 있다.</a:t>
            </a:r>
          </a:p>
        </p:txBody>
      </p:sp>
      <p:sp>
        <p:nvSpPr>
          <p:cNvPr id="31" name="GUAM_PR213_example2">
            <a:extLst xmlns:a="http://schemas.openxmlformats.org/drawingml/2006/main">
              <a:ext uri="{FF2B5EF4-FFF2-40B4-BE49-F238E27FC236}">
                <a16:creationId xmlns:a16="http://schemas.microsoft.com/office/drawing/2014/main" id="{B0FB829E-CC08-4B2B-B23E-7EA28EAD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6200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304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B3047"/>
                </a:solidFill>
                <a:latin typeface="Noto Sans Kr"/>
                <a:ea typeface="Noto Sans Kr"/>
                <a:cs typeface="Noto Sans Kr"/>
              </a:rPr>
              <a:t>모듈 상태: RandomForestGPU</a:t>
            </a:r>
          </a:p>
        </p:txBody>
      </p:sp>
      <p:sp>
        <p:nvSpPr>
          <p:cNvPr id="32" name="GUAM_PR213_before2">
            <a:extLst xmlns:a="http://schemas.openxmlformats.org/drawingml/2006/main">
              <a:ext uri="{FF2B5EF4-FFF2-40B4-BE49-F238E27FC236}">
                <a16:creationId xmlns:a16="http://schemas.microsoft.com/office/drawing/2014/main" id="{00840FA5-1BBA-4457-88B3-3DB49F94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8077200"/>
            <a:ext cx="790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C34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9C343B"/>
                </a:solidFill>
                <a:latin typeface="Noto Sans Kr"/>
                <a:ea typeface="Noto Sans Kr"/>
                <a:cs typeface="Noto Sans Kr"/>
              </a:rPr>
              <a:t>− stub (ML-04에서 구현)</a:t>
            </a:r>
          </a:p>
        </p:txBody>
      </p:sp>
      <p:sp>
        <p:nvSpPr>
          <p:cNvPr id="33" name="GUAM_PR213_after3">
            <a:extLst xmlns:a="http://schemas.openxmlformats.org/drawingml/2006/main">
              <a:ext uri="{FF2B5EF4-FFF2-40B4-BE49-F238E27FC236}">
                <a16:creationId xmlns:a16="http://schemas.microsoft.com/office/drawing/2014/main" id="{15CF88CE-388F-4246-A5B7-AD5511DE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8496300"/>
            <a:ext cx="790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6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634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16347"/>
                </a:solidFill>
                <a:latin typeface="Noto Sans Kr"/>
                <a:ea typeface="Noto Sans Kr"/>
                <a:cs typeface="Noto Sans Kr"/>
              </a:rPr>
              <a:t>+ 구현 완료 (guam/ml_algo/random_forest.py)</a:t>
            </a:r>
          </a:p>
        </p:txBody>
      </p:sp>
      <p:sp>
        <p:nvSpPr>
          <p:cNvPr id="34" name="GUAM_PR213_result">
            <a:extLst xmlns:a="http://schemas.openxmlformats.org/drawingml/2006/main">
              <a:ext uri="{FF2B5EF4-FFF2-40B4-BE49-F238E27FC236}">
                <a16:creationId xmlns:a16="http://schemas.microsoft.com/office/drawing/2014/main" id="{517995E1-2D85-4622-BD1D-882A5EF3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9086850"/>
            <a:ext cx="790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165A9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3165A9"/>
                </a:solidFill>
                <a:latin typeface="Noto Sans Kr"/>
                <a:ea typeface="Noto Sans Kr"/>
                <a:cs typeface="Noto Sans Kr"/>
              </a:rPr>
              <a:t>31개 파일 정비 · 2026.09.01 PR 병합 완료</a:t>
            </a:r>
          </a:p>
        </p:txBody>
      </p:sp>
    </p:spTree>
    <p:extLst>
      <p:ext uri="{BB962C8B-B14F-4D97-AF65-F5344CB8AC3E}">
        <p14:creationId xmlns:p14="http://schemas.microsoft.com/office/powerpoint/2010/main" val="42874005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2026-09-21T07:29:30.7810000Z</dcterms:created>
  <dcterms:modified xsi:type="dcterms:W3CDTF">2026-09-21T07:29:30.7810000Z</dcterms:modified>
</coreProperties>
</file>