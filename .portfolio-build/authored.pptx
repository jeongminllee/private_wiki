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57df5af1b349b0" /><Relationship Type="http://schemas.openxmlformats.org/officeDocument/2006/relationships/extended-properties" Target="/docProps/app.xml" Id="R400586f4c2e64fe9" /><Relationship Type="http://schemas.openxmlformats.org/officeDocument/2006/relationships/officeDocument" Target="/ppt/presentation.xml" Id="R40732179fdd04cdd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d176b0b11c34484f"/>
  </p:sldMasterIdLst>
  <p:notesMasterIdLst>
    <p:notesMasterId xmlns:r="http://schemas.openxmlformats.org/officeDocument/2006/relationships" r:id="Ra8670584019649ab"/>
  </p:notesMasterIdLst>
  <p:sldIdLst>
    <p:sldId xmlns:r="http://schemas.openxmlformats.org/officeDocument/2006/relationships" id="256" r:id="R2f4e85e0ba2242da"/>
    <p:sldId xmlns:r="http://schemas.openxmlformats.org/officeDocument/2006/relationships" id="257" r:id="R8703584790c74c55"/>
    <p:sldId xmlns:r="http://schemas.openxmlformats.org/officeDocument/2006/relationships" id="258" r:id="Red07f61d5eb34e88"/>
    <p:sldId xmlns:r="http://schemas.openxmlformats.org/officeDocument/2006/relationships" id="259" r:id="R01cc10fe6f344e3c"/>
    <p:sldId xmlns:r="http://schemas.openxmlformats.org/officeDocument/2006/relationships" id="260" r:id="R0e89f3936b2741db"/>
    <p:sldId xmlns:r="http://schemas.openxmlformats.org/officeDocument/2006/relationships" id="261" r:id="Rbbc8ba9807d7496c"/>
  </p:sldIdLst>
  <p:sldSz cx="18288000" cy="10287000"/>
  <p:notesSz cx="6858000" cy="9144000"/>
  <p:embeddedFontLst>
    <p:embeddedFont>
      <p:font typeface="Mandali"/>
      <p:regular xmlns:r="http://schemas.openxmlformats.org/officeDocument/2006/relationships" r:id="Rb83ca215095c4281"/>
    </p:embeddedFont>
    <p:embeddedFont>
      <p:font typeface="Noto Sans Kr"/>
      <p:regular xmlns:r="http://schemas.openxmlformats.org/officeDocument/2006/relationships" r:id="Rf71ef51919bc42e7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0be0f17c3e4f84" /><Relationship Type="http://schemas.openxmlformats.org/officeDocument/2006/relationships/slideMaster" Target="/ppt/slideMasters/slideMaster1.xml" Id="Rd176b0b11c34484f" /><Relationship Type="http://schemas.openxmlformats.org/officeDocument/2006/relationships/notesMaster" Target="/ppt/notesMasters/notesMaster1.xml" Id="Ra8670584019649ab" /><Relationship Type="http://schemas.openxmlformats.org/officeDocument/2006/relationships/presProps" Target="/ppt/presProps.xml" Id="R8703a1c0733b450b" /><Relationship Type="http://schemas.openxmlformats.org/officeDocument/2006/relationships/viewProps" Target="/ppt/viewProps.xml" Id="Rf32a17b4954b457c" /><Relationship Type="http://schemas.openxmlformats.org/officeDocument/2006/relationships/tableStyles" Target="/ppt/tableStyles.xml" Id="R6ac725c788d24540" /><Relationship Type="http://schemas.openxmlformats.org/officeDocument/2006/relationships/font" Target="/ppt/fonts/font.dat" Id="Rb83ca215095c4281" /><Relationship Type="http://schemas.openxmlformats.org/officeDocument/2006/relationships/font" Target="/ppt/fonts/font2.dat" Id="Rf71ef51919bc42e7" /><Relationship Type="http://schemas.openxmlformats.org/officeDocument/2006/relationships/slide" Target="/ppt/slides/slide1.xml" Id="R2f4e85e0ba2242da" /><Relationship Type="http://schemas.openxmlformats.org/officeDocument/2006/relationships/slide" Target="/ppt/slides/slide2.xml" Id="R8703584790c74c55" /><Relationship Type="http://schemas.openxmlformats.org/officeDocument/2006/relationships/slide" Target="/ppt/slides/slide3.xml" Id="Red07f61d5eb34e88" /><Relationship Type="http://schemas.openxmlformats.org/officeDocument/2006/relationships/slide" Target="/ppt/slides/slide4.xml" Id="R01cc10fe6f344e3c" /><Relationship Type="http://schemas.openxmlformats.org/officeDocument/2006/relationships/slide" Target="/ppt/slides/slide5.xml" Id="R0e89f3936b2741db" /><Relationship Type="http://schemas.openxmlformats.org/officeDocument/2006/relationships/slide" Target="/ppt/slides/slide6.xml" Id="Rbbc8ba9807d749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264451ef4142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af04f2e6274835" /><Relationship Type="http://schemas.openxmlformats.org/officeDocument/2006/relationships/notesMaster" Target="/ppt/notesMasters/notesMaster1.xml" Id="Rb250d5a7ccff46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147e9b020a4c01" /><Relationship Type="http://schemas.openxmlformats.org/officeDocument/2006/relationships/notesMaster" Target="/ppt/notesMasters/notesMaster1.xml" Id="Rdc736044995041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b4917dff4a4bb9" /><Relationship Type="http://schemas.openxmlformats.org/officeDocument/2006/relationships/notesMaster" Target="/ppt/notesMasters/notesMaster1.xml" Id="R00a5d952ac0d46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41c05a303b49c4" /><Relationship Type="http://schemas.openxmlformats.org/officeDocument/2006/relationships/notesMaster" Target="/ppt/notesMasters/notesMaster1.xml" Id="R9a01269ad36c4c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70f62d4c1044b8" /><Relationship Type="http://schemas.openxmlformats.org/officeDocument/2006/relationships/notesMaster" Target="/ppt/notesMasters/notesMaster1.xml" Id="R405488559c2a4a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b0ce4b3f0c477c" /><Relationship Type="http://schemas.openxmlformats.org/officeDocument/2006/relationships/notesMaster" Target="/ppt/notesMasters/notesMaster1.xml" Id="Ree8fd7221d554e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구성 자료: 이정민 전공소개서 원본(표지·프로필·석사 연구·시스템 개발·모델 실험).</a:t>
            </a:r>
          </a:p>
          <a:p xmlns:a="http://schemas.openxmlformats.org/drawingml/2006/main">
            <a:r>
              <a:t>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학력·연구 실적·현재 교육: 전공소개서 원본 2p. 연구실 활동·Python·PyTorch 경험: 기존 Notion 포트폴리오.</a:t>
            </a:r>
          </a:p>
          <a:p xmlns:a="http://schemas.openxmlformats.org/drawingml/2006/main">
            <a:r>
              <a:t>https://momentous-loaf-283.notion.site/ML-bc41a73cf20b833c85b90151bffc455d</a:t>
            </a:r>
          </a:p>
          <a:p xmlns:a="http://schemas.openxmlformats.org/drawingml/2006/main">
            <a:r>
              <a:t>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전공소개서 원본 3p의 석사 연구 제목, 설명, 확산식, 세 가지 물리량의 분포 그래프. 그래프의 축·데이터점·회귀선은 원본과 동일함.</a:t>
            </a:r>
          </a:p>
          <a:p xmlns:a="http://schemas.openxmlformats.org/drawingml/2006/main">
            <a:r>
              <a:t>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구조 참고: A2A-MCP / Code_Vulnerability. 수치 출처: 전공소개서 원본 4p의 프로토타입 시험 기록. 분석 23/23개 파일, 3,524줄, 정적 분석 신호 18개(위험 호출 8·Secret 후보 10), 로컬 LLM 리뷰 18개. 개발 구조 요약과 프로토타입 시험 결과는 구분하여 제시함.</a:t>
            </a:r>
          </a:p>
          <a:p xmlns:a="http://schemas.openxmlformats.org/drawingml/2006/main">
            <a:r>
              <a:t>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수치 출처: 전공소개서 원본 5p의 1차·재설계·2차 실험 기록. 1차는 DiverseVul 기반 평가, 2차는 NIST SARD/Juliet 기반 C/C++ 함수 및 지정 CWE 평가. 평가 데이터셋이 달라 직접적인 향상률 비교가 아님. 재설계 화면의 모델은 Qwen3-Coder-Next 80B, B200 2장. 원본의 진행 상태 문구는 데이터셋 구축 후 실증 테스트 예정으로 기재되어 있음.</a:t>
            </a:r>
          </a:p>
          <a:p xmlns:a="http://schemas.openxmlformats.org/drawingml/2006/main">
            <a:r>
              <a:t>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수치 출처: 전공소개서 원본 5p의 1차·재설계·2차 실험 기록. 1차는 DiverseVul 기반 평가, 2차는 NIST SARD/Juliet 기반 C/C++ 함수 및 지정 CWE 평가. 평가 데이터셋이 달라 직접적인 향상률 비교가 아님. 재설계 화면의 모델은 Qwen3-Coder-Next 80B, B200 2장. 원본의 진행 상태 문구는 데이터셋 구축 후 실증 테스트 예정으로 기재되어 있음.</a:t>
            </a:r>
          </a:p>
          <a:p xmlns:a="http://schemas.openxmlformats.org/drawingml/2006/main">
            <a:r>
              <a:t>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6e1453169246f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fe4d5625c14b8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0ab05fae6946e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10e12644a44f7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47f637916a435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7fcc4585b04ef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6be8e6745846f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a82ce1046147c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733bcfae98482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ab40ba571b485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058fdf5bda48fc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DF7194-B487-41D6-9AA3-20E5EFDCB8A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F22BB42-BB8C-40EB-A5F8-A59C92A3950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46453B7-E038-4C20-8E6B-D10B1AECEB7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B81F5E9-FC69-4268-A82A-A4FFEDF48B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7EC859D-0478-4192-B35E-B676E81A86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880955-8A73-45A5-97CA-7160BFB4B6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568CD0D-3AC6-4C83-8D3B-A3990CC8536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83C5682-C4C3-4D8F-B3D2-932801E0B9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50741C7-2D8E-4B13-A77B-2A91BF2E1D1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90A1F9E-C64C-49B9-BFBC-89E26B7901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CBF9EA1-6D26-46AC-924B-F7AE8840D6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2B8EBDC-A7D0-46AD-8987-CF489E6A9E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38F3BDC-CE93-4E72-912E-1F240BD2D6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CACC4DD-E3CC-4CF7-B00F-810A275A400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4D5A14F-8930-422F-9424-9CD57CAA5F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50D58D-F59D-44E1-BA4B-12959EB3CC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E883C79-4C6A-45D1-87EE-7B990940B29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86F7C31-F62B-4045-AEE4-E1B309FD941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414C6C0-4330-4A51-97CC-1BF53C6D6A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3D451BA-8C60-4330-B3C3-91C410C1F3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16F6695-3FE1-44D6-A8FF-7443737DDB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961853-D860-458B-9B7B-0EEB505DFC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FB88381-344E-42F5-89FD-0836AFEF02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16AD925-5955-434B-8332-8DAB89ACA4B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D89CDE58-5156-48C6-9B77-D675684EEC7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5580E9F-3857-4376-85F7-EAF6A73362E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49F36EE-2610-4989-98FC-95B01D23F1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AD358004-390F-46AE-BAD6-ACEA5E11C8F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AFE3339E-3857-4366-A2FE-9161D87BA2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A7805D1-B008-40BB-805E-0E26F5A6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5A3CB70-E7B9-4708-AB2A-B71BDD5422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E79073BA-0D2B-481D-90C5-3A04BB2D6C6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6CCB8ADB-D8D0-4113-8B1C-4199253E9E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59589F4-2443-4737-8849-604511A5783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2BF3DBF-CC25-4544-B763-B585E573B9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6C48599-1038-42BF-A0FE-4E8B7C3C95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1C4D129-1C73-4A7B-8AD6-EAD363BDD6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3B60FC9-1E00-4B98-9E03-9A7868694F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79ED399-D8B7-41F1-AC20-A0012268E6E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885D3E8-57C8-4451-B440-5D897A11369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0D7DFE4-6CD6-4BB1-9042-2B4CC44ED60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CC7C849-0B63-47C5-BC25-89FE5B7B3E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A9FAE2-8BA2-4A3A-A915-A8B884262A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E9B44BC3-DCE1-4293-A672-3D1435F0B71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F869024-00E5-4621-BA08-AC4B1D17906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2D4A616-53B3-42FC-BC1D-83F55265CA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415F4F9-F9E8-440B-8308-70AA5D58E9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2DDBC5D-7326-4460-916D-B5AAC6958D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C43F358-B1A1-4E31-8D8A-A011701AE9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D477B7C-588D-40CF-BABF-24766DA2D2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D4EA06F-EA7C-4B40-A063-5B485455BF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26A789-24E7-496A-9DE3-7FF41B94191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5FAA71F-A942-448A-9C67-B2CEC83DBC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2E1756E-6119-45C6-A115-98DA33994F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C9A805-06F7-455A-A2E1-D611307E0C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31CD697-8D3F-4963-9D18-8A68E58836F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71813CF-40F9-4E91-A421-FFD62E63E7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44F8EF7-EFE3-4D16-AD2A-E5D77E6F7D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79b2d5205e4a4d" /><Relationship Type="http://schemas.openxmlformats.org/officeDocument/2006/relationships/slideLayout" Target="/ppt/slideLayouts/slideLayout1.xml" Id="R899c1896108742a0" /><Relationship Type="http://schemas.openxmlformats.org/officeDocument/2006/relationships/slideLayout" Target="/ppt/slideLayouts/slideLayout2.xml" Id="R76d20a3ad81f4b92" /><Relationship Type="http://schemas.openxmlformats.org/officeDocument/2006/relationships/slideLayout" Target="/ppt/slideLayouts/slideLayout3.xml" Id="Rcb4745c08ad54679" /><Relationship Type="http://schemas.openxmlformats.org/officeDocument/2006/relationships/slideLayout" Target="/ppt/slideLayouts/slideLayout4.xml" Id="R361fff8c47434b53" /><Relationship Type="http://schemas.openxmlformats.org/officeDocument/2006/relationships/slideLayout" Target="/ppt/slideLayouts/slideLayout5.xml" Id="R91fee738971a4b7a" /><Relationship Type="http://schemas.openxmlformats.org/officeDocument/2006/relationships/slideLayout" Target="/ppt/slideLayouts/slideLayout6.xml" Id="Rb4fa6d57177c410c" /><Relationship Type="http://schemas.openxmlformats.org/officeDocument/2006/relationships/slideLayout" Target="/ppt/slideLayouts/slideLayout7.xml" Id="Rd50f74453c0541ed" /><Relationship Type="http://schemas.openxmlformats.org/officeDocument/2006/relationships/slideLayout" Target="/ppt/slideLayouts/slideLayout8.xml" Id="R8a0045dcadae4081" /><Relationship Type="http://schemas.openxmlformats.org/officeDocument/2006/relationships/slideLayout" Target="/ppt/slideLayouts/slideLayout9.xml" Id="R56fa6f6dd7294289" /><Relationship Type="http://schemas.openxmlformats.org/officeDocument/2006/relationships/slideLayout" Target="/ppt/slideLayouts/slideLayout10.xml" Id="Rbda1e3bba66a457a" /><Relationship Type="http://schemas.openxmlformats.org/officeDocument/2006/relationships/slideLayout" Target="/ppt/slideLayouts/slideLayout11.xml" Id="R6ecbb0a6d03c459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B9C66D4-9472-4035-B80D-1D894BDF44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1609D8-5FC3-426A-BCE7-176C9903A4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674296A-A583-4F4B-9538-F6395CFE1DD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115D3FD-A502-460D-BFED-4B80AE2CC1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DE306AF-F5D0-4D66-B9CB-A1989C418F8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9c1896108742a0"/>
    <p:sldLayoutId xmlns:r="http://schemas.openxmlformats.org/officeDocument/2006/relationships" id="2147483650" r:id="R76d20a3ad81f4b92"/>
    <p:sldLayoutId xmlns:r="http://schemas.openxmlformats.org/officeDocument/2006/relationships" id="2147483651" r:id="Rcb4745c08ad54679"/>
    <p:sldLayoutId xmlns:r="http://schemas.openxmlformats.org/officeDocument/2006/relationships" id="2147483652" r:id="R361fff8c47434b53"/>
    <p:sldLayoutId xmlns:r="http://schemas.openxmlformats.org/officeDocument/2006/relationships" id="2147483653" r:id="R91fee738971a4b7a"/>
    <p:sldLayoutId xmlns:r="http://schemas.openxmlformats.org/officeDocument/2006/relationships" id="2147483654" r:id="Rb4fa6d57177c410c"/>
    <p:sldLayoutId xmlns:r="http://schemas.openxmlformats.org/officeDocument/2006/relationships" id="2147483655" r:id="Rd50f74453c0541ed"/>
    <p:sldLayoutId xmlns:r="http://schemas.openxmlformats.org/officeDocument/2006/relationships" id="2147483656" r:id="R8a0045dcadae4081"/>
    <p:sldLayoutId xmlns:r="http://schemas.openxmlformats.org/officeDocument/2006/relationships" id="2147483657" r:id="R56fa6f6dd7294289"/>
    <p:sldLayoutId xmlns:r="http://schemas.openxmlformats.org/officeDocument/2006/relationships" id="2147483658" r:id="Rbda1e3bba66a457a"/>
    <p:sldLayoutId xmlns:r="http://schemas.openxmlformats.org/officeDocument/2006/relationships" id="2147483659" r:id="R6ecbb0a6d03c4596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593394e209f471d" /><Relationship Type="http://schemas.openxmlformats.org/officeDocument/2006/relationships/image" Target="/ppt/media/image.jpeg" Id="R670e39026f7342a6" /><Relationship Type="http://schemas.openxmlformats.org/officeDocument/2006/relationships/notesSlide" Target="/ppt/notesSlides/notesSlide1.xml" Id="R61f4db154a8746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0c073ee6d53468e" /><Relationship Type="http://schemas.openxmlformats.org/officeDocument/2006/relationships/image" Target="/ppt/media/image.jpeg" Id="R07277918e69e4ad1" /><Relationship Type="http://schemas.openxmlformats.org/officeDocument/2006/relationships/image" Target="/ppt/media/image.png" Id="R4e91e9a3207f4676" /><Relationship Type="http://schemas.openxmlformats.org/officeDocument/2006/relationships/notesSlide" Target="/ppt/notesSlides/notesSlide2.xml" Id="R6b90b30945b94b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3cc9475fb6e432e" /><Relationship Type="http://schemas.openxmlformats.org/officeDocument/2006/relationships/image" Target="/ppt/media/image.jpeg" Id="Rc30a024789cd46a2" /><Relationship Type="http://schemas.openxmlformats.org/officeDocument/2006/relationships/image" Target="/ppt/media/image2.png" Id="R387d7e6e41fd44e4" /><Relationship Type="http://schemas.openxmlformats.org/officeDocument/2006/relationships/image" Target="/ppt/media/image3.png" Id="Rf65c6d5d95754a81" /><Relationship Type="http://schemas.openxmlformats.org/officeDocument/2006/relationships/image" Target="/ppt/media/image4.png" Id="R96eddd05278144c5" /><Relationship Type="http://schemas.openxmlformats.org/officeDocument/2006/relationships/image" Target="/ppt/media/image5.png" Id="R9e7fd40c7fd746e7" /><Relationship Type="http://schemas.openxmlformats.org/officeDocument/2006/relationships/notesSlide" Target="/ppt/notesSlides/notesSlide3.xml" Id="R036a775273e24f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a974cd6231e4faf" /><Relationship Type="http://schemas.openxmlformats.org/officeDocument/2006/relationships/image" Target="/ppt/media/image.jpeg" Id="R14952c83d69844d6" /><Relationship Type="http://schemas.openxmlformats.org/officeDocument/2006/relationships/hyperlink" Target="https://github.com/gilbutITbook/080493/tree/main/Code_Vulnerability" TargetMode="External" Id="R2252f0fa1b214ecf" /><Relationship Type="http://schemas.openxmlformats.org/officeDocument/2006/relationships/notesSlide" Target="/ppt/notesSlides/notesSlide4.xml" Id="R1ab5cc77cc0348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cbe42fe56f44ad9" /><Relationship Type="http://schemas.openxmlformats.org/officeDocument/2006/relationships/image" Target="/ppt/media/image.jpeg" Id="Rc88e225c4ac2493b" /><Relationship Type="http://schemas.openxmlformats.org/officeDocument/2006/relationships/notesSlide" Target="/ppt/notesSlides/notesSlide5.xml" Id="R8473cc1838ed4f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5f73bcd63234d67" /><Relationship Type="http://schemas.openxmlformats.org/officeDocument/2006/relationships/image" Target="/ppt/media/image.jpeg" Id="R745733e81de34a27" /><Relationship Type="http://schemas.openxmlformats.org/officeDocument/2006/relationships/image" Target="/ppt/media/image6.png" Id="R53eff41f54f34350" /><Relationship Type="http://schemas.openxmlformats.org/officeDocument/2006/relationships/image" Target="/ppt/media/image7.png" Id="R11c0bc510ec94b67" /><Relationship Type="http://schemas.openxmlformats.org/officeDocument/2006/relationships/image" Target="/ppt/media/image8.png" Id="R6aa430ac1c204d48" /><Relationship Type="http://schemas.openxmlformats.org/officeDocument/2006/relationships/image" Target="/ppt/media/image9.png" Id="R051420fa282d4a65" /><Relationship Type="http://schemas.openxmlformats.org/officeDocument/2006/relationships/notesSlide" Target="/ppt/notesSlides/notesSlide6.xml" Id="R139f5e2d3ee548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B7AD428E-DBA8-4291-A5D9-5376F95B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38863" y="-9525"/>
            <a:ext cx="6058662" cy="10306050"/>
          </a:xfrm>
          <a:custGeom xmlns:a="http://schemas.openxmlformats.org/drawingml/2006/main">
            <a:rect l="l" t="t" r="r" b="b"/>
            <a:pathLst>
              <a:path w="8078216" h="13741400">
                <a:moveTo>
                  <a:pt x="0" y="0"/>
                </a:moveTo>
                <a:lnTo>
                  <a:pt x="8078216" y="0"/>
                </a:lnTo>
                <a:lnTo>
                  <a:pt x="8078216" y="13741400"/>
                </a:lnTo>
                <a:lnTo>
                  <a:pt x="0" y="13741400"/>
                </a:lnTo>
                <a:close/>
              </a:path>
            </a:pathLst>
          </a:custGeom>
          <a:solidFill xmlns:a="http://schemas.openxmlformats.org/drawingml/2006/main">
            <a:srgbClr val="162B43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8E35A010-A0DC-4767-A8F7-1E0F0E7E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905256"/>
            <a:ext cx="10424160" cy="516318"/>
          </a:xfrm>
          <a:custGeom xmlns:a="http://schemas.openxmlformats.org/drawingml/2006/main">
            <a:rect l="l" t="t" r="r" b="b"/>
            <a:pathLst>
              <a:path w="13898880" h="688424">
                <a:moveTo>
                  <a:pt x="0" y="0"/>
                </a:moveTo>
                <a:lnTo>
                  <a:pt x="13898880" y="0"/>
                </a:lnTo>
                <a:lnTo>
                  <a:pt x="13898880" y="688424"/>
                </a:lnTo>
                <a:lnTo>
                  <a:pt x="0" y="68842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70e39026f7342a6">
              <a:alphaModFix amt="0"/>
            </a:blip>
            <a:stretch>
              <a:fillRect l="0" t="-360185" r="0" b="-326597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667AC9D3-8049-4019-A553-4A811D71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890969"/>
            <a:ext cx="10424160" cy="530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49"/>
              </a:lnSpc>
              <a:buNone/>
            </a:pPr>
            <a:r>
              <a:rPr sz="1889" spc="7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목재 물리학</a:t>
            </a:r>
            <a:r>
              <a:rPr sz="1889" spc="7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|  시스템 개발  |  LLM  | AutoML 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1472FF8-310D-4A4E-B7A6-50AE5CC6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840" y="1740791"/>
            <a:ext cx="5541741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859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46FB7EB6-FFFD-4008-8E61-CB7EA227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120" y="2510028"/>
            <a:ext cx="10835640" cy="1941520"/>
          </a:xfrm>
          <a:custGeom xmlns:a="http://schemas.openxmlformats.org/drawingml/2006/main">
            <a:rect l="l" t="t" r="r" b="b"/>
            <a:pathLst>
              <a:path w="14447520" h="2588695">
                <a:moveTo>
                  <a:pt x="0" y="0"/>
                </a:moveTo>
                <a:lnTo>
                  <a:pt x="14447520" y="0"/>
                </a:lnTo>
                <a:lnTo>
                  <a:pt x="14447520" y="2588695"/>
                </a:lnTo>
                <a:lnTo>
                  <a:pt x="0" y="258869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70e39026f7342a6">
              <a:alphaModFix amt="0"/>
            </a:blip>
            <a:stretch>
              <a:fillRect l="0" t="-77662" r="0" b="-39830"/>
            </a:stretch>
          </a:blip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C580047D-8E9F-41A3-BE1A-206998FE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120" y="2467166"/>
            <a:ext cx="10835640" cy="19843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9136"/>
              </a:lnSpc>
              <a:buNone/>
            </a:pPr>
            <a:r>
              <a:rPr sz="7050" spc="2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포트폴리오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6A1DE531-3D62-4C73-B036-E0601E31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6132" y="4059936"/>
            <a:ext cx="9052560" cy="644652"/>
          </a:xfrm>
          <a:custGeom xmlns:a="http://schemas.openxmlformats.org/drawingml/2006/main">
            <a:rect l="l" t="t" r="r" b="b"/>
            <a:pathLst>
              <a:path w="12070080" h="859536">
                <a:moveTo>
                  <a:pt x="0" y="0"/>
                </a:moveTo>
                <a:lnTo>
                  <a:pt x="12070080" y="0"/>
                </a:lnTo>
                <a:lnTo>
                  <a:pt x="12070080" y="859536"/>
                </a:lnTo>
                <a:lnTo>
                  <a:pt x="0" y="85953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70e39026f7342a6">
              <a:alphaModFix amt="0"/>
            </a:blip>
            <a:stretch>
              <a:fillRect l="0" t="-223619" r="0" b="-223619"/>
            </a:stretch>
          </a:blip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113797CD-3B3E-477A-BACE-ABDB374B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6132" y="4031361"/>
            <a:ext cx="9052560" cy="673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860"/>
              </a:lnSpc>
              <a:buNone/>
            </a:pPr>
            <a:r>
              <a:rPr sz="3750" spc="14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이정민</a:t>
            </a: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4777BE8F-FBF7-4A4A-BABB-4ABF3A99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9848" y="5678424"/>
            <a:ext cx="10081260" cy="1591056"/>
          </a:xfrm>
          <a:custGeom xmlns:a="http://schemas.openxmlformats.org/drawingml/2006/main">
            <a:rect l="l" t="t" r="r" b="b"/>
            <a:pathLst>
              <a:path w="13441680" h="2121408">
                <a:moveTo>
                  <a:pt x="0" y="0"/>
                </a:moveTo>
                <a:lnTo>
                  <a:pt x="13441680" y="0"/>
                </a:lnTo>
                <a:lnTo>
                  <a:pt x="13441680" y="2121408"/>
                </a:lnTo>
                <a:lnTo>
                  <a:pt x="0" y="212140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70e39026f7342a6">
              <a:alphaModFix amt="0"/>
            </a:blip>
            <a:stretch>
              <a:fillRect l="0" t="-73461" r="0" b="-73461"/>
            </a:stretch>
          </a:blipFill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B505B1DB-56C6-42BF-A910-81B7BC2A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9848" y="5628418"/>
            <a:ext cx="10081260" cy="16410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5011"/>
              </a:lnSpc>
              <a:buNone/>
            </a:pPr>
            <a:r>
              <a:rPr sz="3600" spc="13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실험 데이터 분석에서</a:t>
            </a:r>
          </a:p>
          <a:p xmlns:a="http://schemas.openxmlformats.org/drawingml/2006/main">
            <a:pPr algn="l">
              <a:lnSpc>
                <a:spcPts val="5011"/>
              </a:lnSpc>
              <a:buNone/>
            </a:pPr>
            <a:r>
              <a:rPr sz="3600" spc="13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로컬 LLM 개발·검증까지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3BED00FD-6F58-4F40-8DA7-121A502E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3564" y="8778240"/>
            <a:ext cx="10012679" cy="397764"/>
          </a:xfrm>
          <a:custGeom xmlns:a="http://schemas.openxmlformats.org/drawingml/2006/main">
            <a:rect l="l" t="t" r="r" b="b"/>
            <a:pathLst>
              <a:path w="13350239" h="530352">
                <a:moveTo>
                  <a:pt x="0" y="0"/>
                </a:moveTo>
                <a:lnTo>
                  <a:pt x="13350239" y="0"/>
                </a:lnTo>
                <a:lnTo>
                  <a:pt x="13350239" y="530352"/>
                </a:lnTo>
                <a:lnTo>
                  <a:pt x="0" y="53035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70e39026f7342a6">
              <a:alphaModFix amt="0"/>
            </a:blip>
            <a:stretch>
              <a:fillRect l="0" t="-440485" r="0" b="-440485"/>
            </a:stretch>
          </a:blipFill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6833A70D-9826-4808-8CCF-431C7B41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3564" y="8763953"/>
            <a:ext cx="10012680" cy="4120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799"/>
              </a:lnSpc>
              <a:buNone/>
            </a:pPr>
            <a:r>
              <a:rPr sz="2160" spc="8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임산공학 · 목재 물리학 석사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DE33FA96-CB14-4C9A-8CC6-227FFC35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3564" y="9354312"/>
            <a:ext cx="10012679" cy="467599"/>
          </a:xfrm>
          <a:custGeom xmlns:a="http://schemas.openxmlformats.org/drawingml/2006/main">
            <a:rect l="l" t="t" r="r" b="b"/>
            <a:pathLst>
              <a:path w="13350239" h="623465">
                <a:moveTo>
                  <a:pt x="0" y="0"/>
                </a:moveTo>
                <a:lnTo>
                  <a:pt x="13350239" y="0"/>
                </a:lnTo>
                <a:lnTo>
                  <a:pt x="13350239" y="623465"/>
                </a:lnTo>
                <a:lnTo>
                  <a:pt x="0" y="62346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70e39026f7342a6">
              <a:alphaModFix amt="0"/>
            </a:blip>
            <a:stretch>
              <a:fillRect l="0" t="-384966" r="0" b="-349498"/>
            </a:stretch>
          </a:blip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52B7A409-11F5-4687-9E95-262C0AAF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3564" y="9340025"/>
            <a:ext cx="10012680" cy="4818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16"/>
              </a:lnSpc>
              <a:buNone/>
            </a:pPr>
            <a:r>
              <a:rPr sz="1710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연구 · 시스템 구현 · 모델 개선, 프레임워크 개발</a:t>
            </a: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45BDBE65-F40A-4862-9F36-9640EA92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30200" y="946404"/>
            <a:ext cx="4457700" cy="1110996"/>
          </a:xfrm>
          <a:custGeom xmlns:a="http://schemas.openxmlformats.org/drawingml/2006/main">
            <a:rect l="l" t="t" r="r" b="b"/>
            <a:pathLst>
              <a:path w="5943600" h="1481328">
                <a:moveTo>
                  <a:pt x="0" y="0"/>
                </a:moveTo>
                <a:lnTo>
                  <a:pt x="5943600" y="0"/>
                </a:lnTo>
                <a:lnTo>
                  <a:pt x="5943600" y="1481328"/>
                </a:lnTo>
                <a:lnTo>
                  <a:pt x="0" y="148132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70e39026f7342a6">
              <a:alphaModFix amt="0"/>
            </a:blip>
            <a:stretch>
              <a:fillRect l="0" t="-28180" r="0" b="-28180"/>
            </a:stretch>
          </a:blipFill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9BE6DB9D-6E5B-4A24-8130-90186A99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30200" y="932117"/>
            <a:ext cx="4457700" cy="11252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817"/>
              </a:lnSpc>
              <a:buNone/>
            </a:pPr>
            <a:r>
              <a:rPr sz="3029" spc="11">
                <a:solidFill>
                  <a:srgbClr val="FFFFFF"/>
                </a:solidFill>
                <a:latin typeface="Mandali"/>
                <a:ea typeface="Mandali"/>
                <a:cs typeface="Mandali"/>
              </a:rPr>
              <a:t>RESEARCH &amp;</a:t>
            </a:r>
          </a:p>
          <a:p xmlns:a="http://schemas.openxmlformats.org/drawingml/2006/main">
            <a:pPr algn="l">
              <a:lnSpc>
                <a:spcPts val="3817"/>
              </a:lnSpc>
              <a:buNone/>
            </a:pPr>
            <a:r>
              <a:rPr sz="3029" spc="11">
                <a:solidFill>
                  <a:srgbClr val="FFFFFF"/>
                </a:solidFill>
                <a:latin typeface="Mandali"/>
                <a:ea typeface="Mandali"/>
                <a:cs typeface="Mandali"/>
              </a:rPr>
              <a:t>ENGINEERING</a:t>
            </a:r>
          </a:p>
        </p:txBody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CECA9B6A-2534-43D8-B23F-494AD935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2685" y="2166180"/>
            <a:ext cx="3977640" cy="836639"/>
          </a:xfrm>
          <a:custGeom xmlns:a="http://schemas.openxmlformats.org/drawingml/2006/main">
            <a:rect l="l" t="t" r="r" b="b"/>
            <a:pathLst>
              <a:path w="5303520" h="1115519">
                <a:moveTo>
                  <a:pt x="0" y="0"/>
                </a:moveTo>
                <a:lnTo>
                  <a:pt x="5303520" y="0"/>
                </a:lnTo>
                <a:lnTo>
                  <a:pt x="5303520" y="1115519"/>
                </a:lnTo>
                <a:lnTo>
                  <a:pt x="0" y="111551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70e39026f7342a6">
              <a:alphaModFix amt="0"/>
            </a:blip>
            <a:stretch>
              <a:fillRect l="0" t="-63128" r="0" b="-22147"/>
            </a:stretch>
          </a:blipFill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C0CE13E6-0041-4939-97CD-FDEC7101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2685" y="2144749"/>
            <a:ext cx="3977640" cy="8580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952"/>
              </a:lnSpc>
              <a:buNone/>
            </a:pPr>
            <a:r>
              <a:rPr sz="3050" spc="11">
                <a:solidFill>
                  <a:srgbClr val="C8D7E6"/>
                </a:solidFill>
                <a:latin typeface="Mandali"/>
                <a:ea typeface="Mandali"/>
                <a:cs typeface="Mandali"/>
              </a:rPr>
              <a:t>01</a:t>
            </a: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FABA6F3A-FAB7-4C4B-ACFE-394473CF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2685" y="2778080"/>
            <a:ext cx="4457700" cy="705041"/>
          </a:xfrm>
          <a:custGeom xmlns:a="http://schemas.openxmlformats.org/drawingml/2006/main">
            <a:rect l="l" t="t" r="r" b="b"/>
            <a:pathLst>
              <a:path w="5943600" h="940055">
                <a:moveTo>
                  <a:pt x="0" y="0"/>
                </a:moveTo>
                <a:lnTo>
                  <a:pt x="5943600" y="0"/>
                </a:lnTo>
                <a:lnTo>
                  <a:pt x="5943600" y="940055"/>
                </a:lnTo>
                <a:lnTo>
                  <a:pt x="0" y="94005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70e39026f7342a6">
              <a:alphaModFix amt="0"/>
            </a:blip>
            <a:stretch>
              <a:fillRect l="0" t="-91096" r="0" b="-55295"/>
            </a:stretch>
          </a:blipFill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5719673E-57FC-414D-A586-E1A72997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2685" y="2763793"/>
            <a:ext cx="4457700" cy="7193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311"/>
              </a:lnSpc>
              <a:buNone/>
            </a:pPr>
            <a:r>
              <a:rPr sz="2555" spc="9">
                <a:solidFill>
                  <a:srgbClr val="FFFFFF"/>
                </a:solidFill>
                <a:latin typeface="Mandali"/>
                <a:ea typeface="Mandali"/>
                <a:cs typeface="Mandali"/>
              </a:rPr>
              <a:t>목재 물리학 연구</a:t>
            </a:r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2D4D2F40-B3A3-4E60-AC26-3D236C9C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2685" y="3398309"/>
            <a:ext cx="4457700" cy="451917"/>
          </a:xfrm>
          <a:custGeom xmlns:a="http://schemas.openxmlformats.org/drawingml/2006/main">
            <a:rect l="l" t="t" r="r" b="b"/>
            <a:pathLst>
              <a:path w="5943600" h="602558">
                <a:moveTo>
                  <a:pt x="0" y="0"/>
                </a:moveTo>
                <a:lnTo>
                  <a:pt x="5943600" y="0"/>
                </a:lnTo>
                <a:lnTo>
                  <a:pt x="5943600" y="602558"/>
                </a:lnTo>
                <a:lnTo>
                  <a:pt x="0" y="60255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70e39026f7342a6">
              <a:alphaModFix amt="0"/>
            </a:blip>
            <a:stretch>
              <a:fillRect l="0" t="-155778" r="0" b="-128620"/>
            </a:stretch>
          </a:blipFill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BB1F9109-7974-4960-A3A4-5E9EF3DC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2685" y="3384022"/>
            <a:ext cx="4457700" cy="4662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44"/>
              </a:lnSpc>
              <a:buNone/>
            </a:pPr>
            <a:r>
              <a:rPr sz="1655" spc="6">
                <a:solidFill>
                  <a:srgbClr val="C8D7E6"/>
                </a:solidFill>
                <a:latin typeface="Mandali"/>
                <a:ea typeface="Mandali"/>
                <a:cs typeface="Mandali"/>
              </a:rPr>
              <a:t>수분 분포 · 회귀분석</a:t>
            </a:r>
          </a:p>
        </p:txBody>
      </p:sp>
      <p:sp>
        <p:nvSpPr>
          <p:cNvPr id="35" name="AutoShape 35">
            <a:extLst xmlns:a="http://schemas.openxmlformats.org/drawingml/2006/main">
              <a:ext uri="{FF2B5EF4-FFF2-40B4-BE49-F238E27FC236}">
                <a16:creationId xmlns:a16="http://schemas.microsoft.com/office/drawing/2014/main" id="{1AA14B20-39D8-4AF4-AB87-7EF25081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6018" y="3818936"/>
            <a:ext cx="4457318" cy="1247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4C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" name="Freeform 37">
            <a:extLst xmlns:a="http://schemas.openxmlformats.org/drawingml/2006/main">
              <a:ext uri="{FF2B5EF4-FFF2-40B4-BE49-F238E27FC236}">
                <a16:creationId xmlns:a16="http://schemas.microsoft.com/office/drawing/2014/main" id="{E22F1A3F-489A-40A8-A637-C88B28B8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2685" y="4017331"/>
            <a:ext cx="3977640" cy="836639"/>
          </a:xfrm>
          <a:custGeom xmlns:a="http://schemas.openxmlformats.org/drawingml/2006/main">
            <a:rect l="l" t="t" r="r" b="b"/>
            <a:pathLst>
              <a:path w="5303520" h="1115519">
                <a:moveTo>
                  <a:pt x="0" y="0"/>
                </a:moveTo>
                <a:lnTo>
                  <a:pt x="5303520" y="0"/>
                </a:lnTo>
                <a:lnTo>
                  <a:pt x="5303520" y="1115519"/>
                </a:lnTo>
                <a:lnTo>
                  <a:pt x="0" y="111551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70e39026f7342a6">
              <a:alphaModFix amt="0"/>
            </a:blip>
            <a:stretch>
              <a:fillRect l="0" t="-63128" r="0" b="-22147"/>
            </a:stretch>
          </a:blipFill>
        </p:spPr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1752D697-D70C-4C2E-9FAF-6D64D81D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2685" y="3995900"/>
            <a:ext cx="3977640" cy="8580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952"/>
              </a:lnSpc>
              <a:buNone/>
            </a:pPr>
            <a:r>
              <a:rPr sz="3050" spc="11">
                <a:solidFill>
                  <a:srgbClr val="C8D7E6"/>
                </a:solidFill>
                <a:latin typeface="Mandali"/>
                <a:ea typeface="Mandali"/>
                <a:cs typeface="Mandali"/>
              </a:rPr>
              <a:t>02</a:t>
            </a:r>
          </a:p>
        </p:txBody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992E1788-DC17-4BFA-9FB6-2BCE1D97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2685" y="4681421"/>
            <a:ext cx="4457700" cy="705041"/>
          </a:xfrm>
          <a:custGeom xmlns:a="http://schemas.openxmlformats.org/drawingml/2006/main">
            <a:rect l="l" t="t" r="r" b="b"/>
            <a:pathLst>
              <a:path w="5943600" h="940055">
                <a:moveTo>
                  <a:pt x="0" y="0"/>
                </a:moveTo>
                <a:lnTo>
                  <a:pt x="5943600" y="0"/>
                </a:lnTo>
                <a:lnTo>
                  <a:pt x="5943600" y="940055"/>
                </a:lnTo>
                <a:lnTo>
                  <a:pt x="0" y="94005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70e39026f7342a6">
              <a:alphaModFix amt="0"/>
            </a:blip>
            <a:stretch>
              <a:fillRect l="0" t="-91096" r="0" b="-55295"/>
            </a:stretch>
          </a:blipFill>
        </p:spPr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549025D-46E3-41AA-953E-D3061B6B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2685" y="4667134"/>
            <a:ext cx="4457700" cy="7193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311"/>
              </a:lnSpc>
              <a:buNone/>
            </a:pPr>
            <a:r>
              <a:rPr sz="2555" spc="9">
                <a:solidFill>
                  <a:srgbClr val="FFFFFF"/>
                </a:solidFill>
                <a:latin typeface="Mandali"/>
                <a:ea typeface="Mandali"/>
                <a:cs typeface="Mandali"/>
              </a:rPr>
              <a:t>로컬 LLM 시스템</a:t>
            </a:r>
          </a:p>
        </p:txBody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13D94B3B-750E-4491-82A7-54D518D1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2685" y="5301650"/>
            <a:ext cx="4457700" cy="451917"/>
          </a:xfrm>
          <a:custGeom xmlns:a="http://schemas.openxmlformats.org/drawingml/2006/main">
            <a:rect l="l" t="t" r="r" b="b"/>
            <a:pathLst>
              <a:path w="5943600" h="602558">
                <a:moveTo>
                  <a:pt x="0" y="0"/>
                </a:moveTo>
                <a:lnTo>
                  <a:pt x="5943600" y="0"/>
                </a:lnTo>
                <a:lnTo>
                  <a:pt x="5943600" y="602558"/>
                </a:lnTo>
                <a:lnTo>
                  <a:pt x="0" y="60255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70e39026f7342a6">
              <a:alphaModFix amt="0"/>
            </a:blip>
            <a:stretch>
              <a:fillRect l="0" t="-155778" r="0" b="-128620"/>
            </a:stretch>
          </a:blipFill>
        </p:spPr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F8A5B07C-43F9-4BC5-AEC8-5D829CC6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2685" y="5287363"/>
            <a:ext cx="4457700" cy="4662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44"/>
              </a:lnSpc>
              <a:buNone/>
            </a:pPr>
            <a:r>
              <a:rPr sz="1655" spc="6">
                <a:solidFill>
                  <a:srgbClr val="C8D7E6"/>
                </a:solidFill>
                <a:latin typeface="Mandali"/>
                <a:ea typeface="Mandali"/>
                <a:cs typeface="Mandali"/>
              </a:rPr>
              <a:t>악성 코드 분석 · 프로토타입</a:t>
            </a:r>
          </a:p>
        </p:txBody>
      </p:sp>
      <p:sp>
        <p:nvSpPr>
          <p:cNvPr id="45" name="AutoShape 45">
            <a:extLst xmlns:a="http://schemas.openxmlformats.org/drawingml/2006/main">
              <a:ext uri="{FF2B5EF4-FFF2-40B4-BE49-F238E27FC236}">
                <a16:creationId xmlns:a16="http://schemas.microsoft.com/office/drawing/2014/main" id="{E06E27AA-E899-4E81-A982-65A46743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6018" y="5722276"/>
            <a:ext cx="4457318" cy="1247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4C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7" name="Freeform 47">
            <a:extLst xmlns:a="http://schemas.openxmlformats.org/drawingml/2006/main">
              <a:ext uri="{FF2B5EF4-FFF2-40B4-BE49-F238E27FC236}">
                <a16:creationId xmlns:a16="http://schemas.microsoft.com/office/drawing/2014/main" id="{C9B325CC-D0B0-48CD-9E55-75751076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2685" y="5920672"/>
            <a:ext cx="3977640" cy="836639"/>
          </a:xfrm>
          <a:custGeom xmlns:a="http://schemas.openxmlformats.org/drawingml/2006/main">
            <a:rect l="l" t="t" r="r" b="b"/>
            <a:pathLst>
              <a:path w="5303520" h="1115519">
                <a:moveTo>
                  <a:pt x="0" y="0"/>
                </a:moveTo>
                <a:lnTo>
                  <a:pt x="5303520" y="0"/>
                </a:lnTo>
                <a:lnTo>
                  <a:pt x="5303520" y="1115519"/>
                </a:lnTo>
                <a:lnTo>
                  <a:pt x="0" y="111551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70e39026f7342a6">
              <a:alphaModFix amt="0"/>
            </a:blip>
            <a:stretch>
              <a:fillRect l="0" t="-63128" r="0" b="-22147"/>
            </a:stretch>
          </a:blipFill>
        </p:spPr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3223AC8-13AB-4CE4-9881-65AC7B69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2685" y="5899241"/>
            <a:ext cx="3977640" cy="8580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952"/>
              </a:lnSpc>
              <a:buNone/>
            </a:pPr>
            <a:r>
              <a:rPr sz="3050" spc="11">
                <a:solidFill>
                  <a:srgbClr val="C8D7E6"/>
                </a:solidFill>
                <a:latin typeface="Mandali"/>
                <a:ea typeface="Mandali"/>
                <a:cs typeface="Mandali"/>
              </a:rPr>
              <a:t>03</a:t>
            </a:r>
          </a:p>
        </p:txBody>
      </p:sp>
      <p:sp>
        <p:nvSpPr>
          <p:cNvPr id="50" name="Freeform 50">
            <a:extLst xmlns:a="http://schemas.openxmlformats.org/drawingml/2006/main">
              <a:ext uri="{FF2B5EF4-FFF2-40B4-BE49-F238E27FC236}">
                <a16:creationId xmlns:a16="http://schemas.microsoft.com/office/drawing/2014/main" id="{4CFCBAED-DCA8-499C-B9D4-9BAA6174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2685" y="6584761"/>
            <a:ext cx="4457700" cy="705041"/>
          </a:xfrm>
          <a:custGeom xmlns:a="http://schemas.openxmlformats.org/drawingml/2006/main">
            <a:rect l="l" t="t" r="r" b="b"/>
            <a:pathLst>
              <a:path w="5943600" h="940055">
                <a:moveTo>
                  <a:pt x="0" y="0"/>
                </a:moveTo>
                <a:lnTo>
                  <a:pt x="5943600" y="0"/>
                </a:lnTo>
                <a:lnTo>
                  <a:pt x="5943600" y="940055"/>
                </a:lnTo>
                <a:lnTo>
                  <a:pt x="0" y="94005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70e39026f7342a6">
              <a:alphaModFix amt="0"/>
            </a:blip>
            <a:stretch>
              <a:fillRect l="0" t="-91096" r="0" b="-55295"/>
            </a:stretch>
          </a:blipFill>
        </p:spPr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B3D291E2-D238-44B6-996B-3A72A2C7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2685" y="6570474"/>
            <a:ext cx="4457700" cy="7193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311"/>
              </a:lnSpc>
              <a:buNone/>
            </a:pPr>
            <a:r>
              <a:rPr sz="2555" spc="9">
                <a:solidFill>
                  <a:srgbClr val="FFFFFF"/>
                </a:solidFill>
                <a:latin typeface="Mandali"/>
                <a:ea typeface="Mandali"/>
                <a:cs typeface="Mandali"/>
              </a:rPr>
              <a:t>보안 LLM 파인튜닝</a:t>
            </a:r>
          </a:p>
        </p:txBody>
      </p:sp>
      <p:sp>
        <p:nvSpPr>
          <p:cNvPr id="53" name="Freeform 53">
            <a:extLst xmlns:a="http://schemas.openxmlformats.org/drawingml/2006/main">
              <a:ext uri="{FF2B5EF4-FFF2-40B4-BE49-F238E27FC236}">
                <a16:creationId xmlns:a16="http://schemas.microsoft.com/office/drawing/2014/main" id="{D78647FB-0AC1-4754-B558-9F6BE249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2685" y="7204990"/>
            <a:ext cx="4457700" cy="451917"/>
          </a:xfrm>
          <a:custGeom xmlns:a="http://schemas.openxmlformats.org/drawingml/2006/main">
            <a:rect l="l" t="t" r="r" b="b"/>
            <a:pathLst>
              <a:path w="5943600" h="602558">
                <a:moveTo>
                  <a:pt x="0" y="0"/>
                </a:moveTo>
                <a:lnTo>
                  <a:pt x="5943600" y="0"/>
                </a:lnTo>
                <a:lnTo>
                  <a:pt x="5943600" y="602558"/>
                </a:lnTo>
                <a:lnTo>
                  <a:pt x="0" y="60255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70e39026f7342a6">
              <a:alphaModFix amt="0"/>
            </a:blip>
            <a:stretch>
              <a:fillRect l="0" t="-155778" r="0" b="-128620"/>
            </a:stretch>
          </a:blipFill>
        </p:spPr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1A7E65F9-EECA-48F4-8D19-FCF62044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2685" y="7190703"/>
            <a:ext cx="4457700" cy="4662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44"/>
              </a:lnSpc>
              <a:buNone/>
            </a:pPr>
            <a:r>
              <a:rPr sz="1655" spc="6">
                <a:solidFill>
                  <a:srgbClr val="C8D7E6"/>
                </a:solidFill>
                <a:latin typeface="Mandali"/>
                <a:ea typeface="Mandali"/>
                <a:cs typeface="Mandali"/>
              </a:rPr>
              <a:t>실험 평가 · 데이터 재설계</a:t>
            </a:r>
          </a:p>
        </p:txBody>
      </p:sp>
      <p:sp>
        <p:nvSpPr>
          <p:cNvPr id="55" name="AutoShape 55">
            <a:extLst xmlns:a="http://schemas.openxmlformats.org/drawingml/2006/main">
              <a:ext uri="{FF2B5EF4-FFF2-40B4-BE49-F238E27FC236}">
                <a16:creationId xmlns:a16="http://schemas.microsoft.com/office/drawing/2014/main" id="{10173664-D287-47A1-90D7-59153EB9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2699" y="7817443"/>
            <a:ext cx="4457318" cy="1247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4C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7" name="Freeform 57">
            <a:extLst xmlns:a="http://schemas.openxmlformats.org/drawingml/2006/main">
              <a:ext uri="{FF2B5EF4-FFF2-40B4-BE49-F238E27FC236}">
                <a16:creationId xmlns:a16="http://schemas.microsoft.com/office/drawing/2014/main" id="{599D1F22-E44D-430A-8410-F97D947B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9366" y="8015839"/>
            <a:ext cx="3977640" cy="836639"/>
          </a:xfrm>
          <a:custGeom xmlns:a="http://schemas.openxmlformats.org/drawingml/2006/main">
            <a:rect l="l" t="t" r="r" b="b"/>
            <a:pathLst>
              <a:path w="5303520" h="1115519">
                <a:moveTo>
                  <a:pt x="0" y="0"/>
                </a:moveTo>
                <a:lnTo>
                  <a:pt x="5303520" y="0"/>
                </a:lnTo>
                <a:lnTo>
                  <a:pt x="5303520" y="1115519"/>
                </a:lnTo>
                <a:lnTo>
                  <a:pt x="0" y="111551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70e39026f7342a6">
              <a:alphaModFix amt="0"/>
            </a:blip>
            <a:stretch>
              <a:fillRect l="0" t="-63128" r="0" b="-22147"/>
            </a:stretch>
          </a:blipFill>
        </p:spPr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E2E6BAC8-95AC-480D-BC8F-AAD90697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9366" y="7994408"/>
            <a:ext cx="3977640" cy="8580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952"/>
              </a:lnSpc>
              <a:buNone/>
            </a:pPr>
            <a:r>
              <a:rPr sz="3050" spc="11">
                <a:solidFill>
                  <a:srgbClr val="C8D7E6"/>
                </a:solidFill>
                <a:latin typeface="Mandali"/>
                <a:ea typeface="Mandali"/>
                <a:cs typeface="Mandali"/>
              </a:rPr>
              <a:t>04</a:t>
            </a:r>
          </a:p>
        </p:txBody>
      </p:sp>
      <p:sp>
        <p:nvSpPr>
          <p:cNvPr id="60" name="Freeform 60">
            <a:extLst xmlns:a="http://schemas.openxmlformats.org/drawingml/2006/main">
              <a:ext uri="{FF2B5EF4-FFF2-40B4-BE49-F238E27FC236}">
                <a16:creationId xmlns:a16="http://schemas.microsoft.com/office/drawing/2014/main" id="{DBDFF7E2-A87C-4B66-805E-8C7030A4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9366" y="8679929"/>
            <a:ext cx="4457700" cy="705041"/>
          </a:xfrm>
          <a:custGeom xmlns:a="http://schemas.openxmlformats.org/drawingml/2006/main">
            <a:rect l="l" t="t" r="r" b="b"/>
            <a:pathLst>
              <a:path w="5943600" h="940055">
                <a:moveTo>
                  <a:pt x="0" y="0"/>
                </a:moveTo>
                <a:lnTo>
                  <a:pt x="5943600" y="0"/>
                </a:lnTo>
                <a:lnTo>
                  <a:pt x="5943600" y="940055"/>
                </a:lnTo>
                <a:lnTo>
                  <a:pt x="0" y="94005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70e39026f7342a6">
              <a:alphaModFix amt="0"/>
            </a:blip>
            <a:stretch>
              <a:fillRect l="0" t="-91096" r="0" b="-55295"/>
            </a:stretch>
          </a:blipFill>
        </p:spPr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C6E2F91D-818F-490E-97EC-02CD09AE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9366" y="8665642"/>
            <a:ext cx="4457700" cy="7193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311"/>
              </a:lnSpc>
              <a:buNone/>
            </a:pPr>
            <a:r>
              <a:rPr sz="2555" spc="9">
                <a:solidFill>
                  <a:srgbClr val="FFFFFF"/>
                </a:solidFill>
                <a:latin typeface="Mandali"/>
                <a:ea typeface="Mandali"/>
                <a:cs typeface="Mandali"/>
              </a:rPr>
              <a:t>GUAM</a:t>
            </a:r>
          </a:p>
        </p:txBody>
      </p:sp>
      <p:sp>
        <p:nvSpPr>
          <p:cNvPr id="63" name="Freeform 63">
            <a:extLst xmlns:a="http://schemas.openxmlformats.org/drawingml/2006/main">
              <a:ext uri="{FF2B5EF4-FFF2-40B4-BE49-F238E27FC236}">
                <a16:creationId xmlns:a16="http://schemas.microsoft.com/office/drawing/2014/main" id="{3650F590-CD80-43F3-93C0-A0381F67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9366" y="9300158"/>
            <a:ext cx="4457700" cy="451917"/>
          </a:xfrm>
          <a:custGeom xmlns:a="http://schemas.openxmlformats.org/drawingml/2006/main">
            <a:rect l="l" t="t" r="r" b="b"/>
            <a:pathLst>
              <a:path w="5943600" h="602558">
                <a:moveTo>
                  <a:pt x="0" y="0"/>
                </a:moveTo>
                <a:lnTo>
                  <a:pt x="5943600" y="0"/>
                </a:lnTo>
                <a:lnTo>
                  <a:pt x="5943600" y="602558"/>
                </a:lnTo>
                <a:lnTo>
                  <a:pt x="0" y="60255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70e39026f7342a6">
              <a:alphaModFix amt="0"/>
            </a:blip>
            <a:stretch>
              <a:fillRect l="0" t="-155778" r="0" b="-128620"/>
            </a:stretch>
          </a:blipFill>
        </p:spPr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CF3232FF-16D1-4304-9E88-B4C8BA93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9366" y="9285871"/>
            <a:ext cx="4457700" cy="4662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44"/>
              </a:lnSpc>
              <a:buNone/>
            </a:pPr>
            <a:r>
              <a:rPr sz="1655" spc="6">
                <a:solidFill>
                  <a:srgbClr val="C8D7E6"/>
                </a:solidFill>
                <a:latin typeface="Mandali"/>
                <a:ea typeface="Mandali"/>
                <a:cs typeface="Mandali"/>
              </a:rPr>
              <a:t>모듈 구현, 문서 최신화, 테스트</a:t>
            </a:r>
          </a:p>
        </p:txBody>
      </p:sp>
    </p:spTree>
    <p:extLst>
      <p:ext uri="{BB962C8B-B14F-4D97-AF65-F5344CB8AC3E}">
        <p14:creationId xmlns:p14="http://schemas.microsoft.com/office/powerpoint/2010/main" val="9937487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4AB4DBF-2339-4804-99AC-80E5C4FA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960" y="493776"/>
            <a:ext cx="16596360" cy="301752"/>
          </a:xfrm>
          <a:custGeom xmlns:a="http://schemas.openxmlformats.org/drawingml/2006/main">
            <a:rect l="l" t="t" r="r" b="b"/>
            <a:pathLst>
              <a:path w="22128480" h="402336">
                <a:moveTo>
                  <a:pt x="0" y="0"/>
                </a:moveTo>
                <a:lnTo>
                  <a:pt x="22128480" y="0"/>
                </a:lnTo>
                <a:lnTo>
                  <a:pt x="22128480" y="402336"/>
                </a:lnTo>
                <a:lnTo>
                  <a:pt x="0" y="40233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7277918e69e4ad1">
              <a:alphaModFix amt="0"/>
            </a:blip>
            <a:stretch>
              <a:fillRect l="0" t="-1021677" r="0" b="-1021677"/>
            </a:stretch>
          </a:blip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8548F629-14F1-4749-9DDA-0488DB41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960" y="486633"/>
            <a:ext cx="16596360" cy="308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99"/>
              </a:lnSpc>
              <a:buNone/>
            </a:pPr>
            <a:r>
              <a:rPr sz="1620" spc="126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01  /  PROFILE</a:t>
            </a: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CAD5AE8D-CAC3-4D86-A884-084E3A0D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960" y="1124712"/>
            <a:ext cx="16596360" cy="685800"/>
          </a:xfrm>
          <a:custGeom xmlns:a="http://schemas.openxmlformats.org/drawingml/2006/main">
            <a:rect l="l" t="t" r="r" b="b"/>
            <a:pathLst>
              <a:path w="22128480" h="914400">
                <a:moveTo>
                  <a:pt x="0" y="0"/>
                </a:moveTo>
                <a:lnTo>
                  <a:pt x="22128480" y="0"/>
                </a:lnTo>
                <a:lnTo>
                  <a:pt x="22128480" y="914400"/>
                </a:lnTo>
                <a:lnTo>
                  <a:pt x="0" y="9144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7277918e69e4ad1">
              <a:alphaModFix amt="0"/>
            </a:blip>
            <a:stretch>
              <a:fillRect l="0" t="-421537" r="0" b="-421537"/>
            </a:stretch>
          </a:blip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5BDA711A-299C-4FA3-A4FE-3A0ED804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960" y="1096137"/>
            <a:ext cx="1659636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5248"/>
              </a:lnSpc>
              <a:buNone/>
            </a:pPr>
            <a:r>
              <a:rPr sz="4050" spc="15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연구 경험을 AI 시스템 개발로 연결합니다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3D83899E-3CA5-40C3-BC84-5169EA69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0392" y="1920240"/>
            <a:ext cx="16459200" cy="411480"/>
          </a:xfrm>
          <a:custGeom xmlns:a="http://schemas.openxmlformats.org/drawingml/2006/main">
            <a:rect l="l" t="t" r="r" b="b"/>
            <a:pathLst>
              <a:path w="21945600" h="548640">
                <a:moveTo>
                  <a:pt x="0" y="0"/>
                </a:moveTo>
                <a:lnTo>
                  <a:pt x="21945600" y="0"/>
                </a:lnTo>
                <a:lnTo>
                  <a:pt x="2194560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7277918e69e4ad1">
              <a:alphaModFix amt="0"/>
            </a:blip>
            <a:stretch>
              <a:fillRect l="0" t="-729401" r="0" b="-729401"/>
            </a:stretch>
          </a:blip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E95B0CF2-057C-45E8-8162-9DDA9279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0392" y="1913097"/>
            <a:ext cx="16459200" cy="4186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88"/>
              </a:lnSpc>
              <a:buNone/>
            </a:pPr>
            <a:r>
              <a:rPr sz="1920" spc="7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실험 데이터의 해석, 분석 시스템 구현, 데이터·모델 개선으로 이어지는 경험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0B580CCC-87D5-4D35-A1B5-22284ABE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3435" y="2692527"/>
            <a:ext cx="5217414" cy="6698742"/>
          </a:xfrm>
          <a:custGeom xmlns:a="http://schemas.openxmlformats.org/drawingml/2006/main">
            <a:rect l="l" t="t" r="r" b="b"/>
            <a:pathLst>
              <a:path w="6956552" h="8931656">
                <a:moveTo>
                  <a:pt x="0" y="0"/>
                </a:moveTo>
                <a:lnTo>
                  <a:pt x="6956552" y="0"/>
                </a:lnTo>
                <a:lnTo>
                  <a:pt x="6956552" y="8931656"/>
                </a:lnTo>
                <a:lnTo>
                  <a:pt x="0" y="8931656"/>
                </a:lnTo>
                <a:close/>
              </a:path>
            </a:pathLst>
          </a:custGeom>
          <a:solidFill xmlns:a="http://schemas.openxmlformats.org/drawingml/2006/main">
            <a:srgbClr val="F0F3F6"/>
          </a:solidFill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59275564-3C06-41B6-98D7-D44DA1B8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8327" y="3044952"/>
            <a:ext cx="1490091" cy="1988820"/>
          </a:xfrm>
          <a:custGeom xmlns:a="http://schemas.openxmlformats.org/drawingml/2006/main">
            <a:rect l="l" t="t" r="r" b="b"/>
            <a:pathLst>
              <a:path w="1986788" h="2651760">
                <a:moveTo>
                  <a:pt x="0" y="0"/>
                </a:moveTo>
                <a:lnTo>
                  <a:pt x="1986788" y="0"/>
                </a:lnTo>
                <a:lnTo>
                  <a:pt x="1986788" y="2651760"/>
                </a:lnTo>
                <a:lnTo>
                  <a:pt x="0" y="265176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e91e9a3207f4676"/>
            <a:stretch>
              <a:fillRect l="0" t="0" r="-1" b="0"/>
            </a:stretch>
          </a:blipFill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C844907B-266F-4521-ACEE-FB252D38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07792" y="3236976"/>
            <a:ext cx="2729484" cy="534924"/>
          </a:xfrm>
          <a:custGeom xmlns:a="http://schemas.openxmlformats.org/drawingml/2006/main">
            <a:rect l="l" t="t" r="r" b="b"/>
            <a:pathLst>
              <a:path w="3639312" h="713232">
                <a:moveTo>
                  <a:pt x="0" y="0"/>
                </a:moveTo>
                <a:lnTo>
                  <a:pt x="3639312" y="0"/>
                </a:lnTo>
                <a:lnTo>
                  <a:pt x="3639312" y="713232"/>
                </a:lnTo>
                <a:lnTo>
                  <a:pt x="0" y="7132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7277918e69e4ad1">
              <a:alphaModFix amt="0"/>
            </a:blip>
            <a:stretch>
              <a:fillRect l="0" t="-49423" r="0" b="-49423"/>
            </a:stretch>
          </a:blip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DE83D7FE-E22C-4566-8B80-95114F0E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07792" y="3215545"/>
            <a:ext cx="2729484" cy="5563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374"/>
              </a:lnSpc>
              <a:buNone/>
            </a:pPr>
            <a:r>
              <a:rPr sz="3375" spc="13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이정민</a:t>
            </a: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82F969D4-C8A4-485F-9A90-237744AE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21508" y="4005072"/>
            <a:ext cx="2688336" cy="795528"/>
          </a:xfrm>
          <a:custGeom xmlns:a="http://schemas.openxmlformats.org/drawingml/2006/main">
            <a:rect l="l" t="t" r="r" b="b"/>
            <a:pathLst>
              <a:path w="3584448" h="1060704">
                <a:moveTo>
                  <a:pt x="0" y="0"/>
                </a:moveTo>
                <a:lnTo>
                  <a:pt x="3584448" y="0"/>
                </a:lnTo>
                <a:lnTo>
                  <a:pt x="3584448" y="1060704"/>
                </a:lnTo>
                <a:lnTo>
                  <a:pt x="0" y="106070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7277918e69e4ad1">
              <a:alphaModFix amt="0"/>
            </a:blip>
            <a:stretch>
              <a:fillRect l="0" t="-15845" r="0" b="-15845"/>
            </a:stretch>
          </a:blip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693DD02-E374-48A6-8210-DB91FBF8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21508" y="3983641"/>
            <a:ext cx="2688336" cy="8169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860"/>
              </a:lnSpc>
              <a:buNone/>
            </a:pPr>
            <a:r>
              <a:rPr sz="2054" spc="7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임산공학 석사</a:t>
            </a:r>
          </a:p>
          <a:p xmlns:a="http://schemas.openxmlformats.org/drawingml/2006/main">
            <a:pPr algn="l">
              <a:lnSpc>
                <a:spcPts val="2860"/>
              </a:lnSpc>
              <a:buNone/>
            </a:pPr>
            <a:r>
              <a:rPr sz="2054" spc="7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목재 물리학</a:t>
            </a:r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279D37AB-8608-44A7-9601-6D3F3D8B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760">
            <a:off x="1185662" y="5399342"/>
            <a:ext cx="4445537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BE7E7B98-7DF1-4C15-9A9F-CE34F17F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3292" y="5692140"/>
            <a:ext cx="4306824" cy="329184"/>
          </a:xfrm>
          <a:custGeom xmlns:a="http://schemas.openxmlformats.org/drawingml/2006/main">
            <a:rect l="l" t="t" r="r" b="b"/>
            <a:pathLst>
              <a:path w="5742432" h="438912">
                <a:moveTo>
                  <a:pt x="0" y="0"/>
                </a:moveTo>
                <a:lnTo>
                  <a:pt x="5742432" y="0"/>
                </a:lnTo>
                <a:lnTo>
                  <a:pt x="5742432" y="438912"/>
                </a:lnTo>
                <a:lnTo>
                  <a:pt x="0" y="43891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7277918e69e4ad1">
              <a:alphaModFix amt="0"/>
            </a:blip>
            <a:stretch>
              <a:fillRect l="0" t="-204929" r="0" b="-204929"/>
            </a:stretch>
          </a:blip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E0D290D0-CD13-4829-9EB5-B5C6B234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3292" y="5677853"/>
            <a:ext cx="4306824" cy="3434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16"/>
              </a:lnSpc>
              <a:buNone/>
            </a:pPr>
            <a:r>
              <a:rPr sz="1710" spc="6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학력 및 현재 교육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87D7C0A9-3984-4FE6-8FA1-A867C059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3292" y="6199632"/>
            <a:ext cx="4430268" cy="370332"/>
          </a:xfrm>
          <a:custGeom xmlns:a="http://schemas.openxmlformats.org/drawingml/2006/main">
            <a:rect l="l" t="t" r="r" b="b"/>
            <a:pathLst>
              <a:path w="5907024" h="493776">
                <a:moveTo>
                  <a:pt x="0" y="0"/>
                </a:moveTo>
                <a:lnTo>
                  <a:pt x="5907024" y="0"/>
                </a:lnTo>
                <a:lnTo>
                  <a:pt x="5907024" y="493776"/>
                </a:lnTo>
                <a:lnTo>
                  <a:pt x="0" y="49377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7277918e69e4ad1">
              <a:alphaModFix amt="0"/>
            </a:blip>
            <a:stretch>
              <a:fillRect l="0" t="-183098" r="0" b="-183098"/>
            </a:stretch>
          </a:blip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F0CA8CDB-D504-4071-BDAE-48C17DEC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3292" y="6185345"/>
            <a:ext cx="4430268" cy="3846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760"/>
              </a:lnSpc>
              <a:buNone/>
            </a:pPr>
            <a:r>
              <a:rPr sz="2129" spc="8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경북대학교 대학원 · 석사</a:t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F65E3601-A686-4E8D-B7E4-5B75DA99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3292" y="6748272"/>
            <a:ext cx="4402836" cy="672084"/>
          </a:xfrm>
          <a:custGeom xmlns:a="http://schemas.openxmlformats.org/drawingml/2006/main">
            <a:rect l="l" t="t" r="r" b="b"/>
            <a:pathLst>
              <a:path w="5870448" h="896112">
                <a:moveTo>
                  <a:pt x="0" y="0"/>
                </a:moveTo>
                <a:lnTo>
                  <a:pt x="5870448" y="0"/>
                </a:lnTo>
                <a:lnTo>
                  <a:pt x="5870448" y="896112"/>
                </a:lnTo>
                <a:lnTo>
                  <a:pt x="0" y="89611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7277918e69e4ad1">
              <a:alphaModFix amt="0"/>
            </a:blip>
            <a:stretch>
              <a:fillRect l="0" t="-77646" r="0" b="-77646"/>
            </a:stretch>
          </a:blipFill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ABDA9716-E431-4112-B486-963379F5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3292" y="6733985"/>
            <a:ext cx="4402836" cy="6863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78"/>
              </a:lnSpc>
              <a:buNone/>
            </a:pPr>
            <a:r>
              <a:rPr sz="1770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임산공학(목재 물리학)</a:t>
            </a:r>
          </a:p>
          <a:p xmlns:a="http://schemas.openxmlformats.org/drawingml/2006/main">
            <a:pPr algn="l">
              <a:lnSpc>
                <a:spcPts val="2378"/>
              </a:lnSpc>
              <a:buNone/>
            </a:pPr>
            <a:r>
              <a:rPr sz="1770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2017.03–2019.02</a:t>
            </a:r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75742709-C730-48A3-BB13-4AAA5D0A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3292" y="7626096"/>
            <a:ext cx="4430268" cy="370332"/>
          </a:xfrm>
          <a:custGeom xmlns:a="http://schemas.openxmlformats.org/drawingml/2006/main">
            <a:rect l="l" t="t" r="r" b="b"/>
            <a:pathLst>
              <a:path w="5907024" h="493776">
                <a:moveTo>
                  <a:pt x="0" y="0"/>
                </a:moveTo>
                <a:lnTo>
                  <a:pt x="5907024" y="0"/>
                </a:lnTo>
                <a:lnTo>
                  <a:pt x="5907024" y="493776"/>
                </a:lnTo>
                <a:lnTo>
                  <a:pt x="0" y="49377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7277918e69e4ad1">
              <a:alphaModFix amt="0"/>
            </a:blip>
            <a:stretch>
              <a:fillRect l="0" t="-183098" r="0" b="-183098"/>
            </a:stretch>
          </a:blipFill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07219588-FF38-4388-8AB6-53985E92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3292" y="7611809"/>
            <a:ext cx="4430268" cy="3846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760"/>
              </a:lnSpc>
              <a:buNone/>
            </a:pPr>
            <a:r>
              <a:rPr sz="2129" spc="8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경북대학교 · 학사</a:t>
            </a:r>
          </a:p>
        </p:txBody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1AFD590F-A349-4E94-993B-4632B8C3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3292" y="8147304"/>
            <a:ext cx="4430268" cy="301752"/>
          </a:xfrm>
          <a:custGeom xmlns:a="http://schemas.openxmlformats.org/drawingml/2006/main">
            <a:rect l="l" t="t" r="r" b="b"/>
            <a:pathLst>
              <a:path w="5907024" h="402336">
                <a:moveTo>
                  <a:pt x="0" y="0"/>
                </a:moveTo>
                <a:lnTo>
                  <a:pt x="5907024" y="0"/>
                </a:lnTo>
                <a:lnTo>
                  <a:pt x="5907024" y="402336"/>
                </a:lnTo>
                <a:lnTo>
                  <a:pt x="0" y="40233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7277918e69e4ad1">
              <a:alphaModFix amt="0"/>
            </a:blip>
            <a:stretch>
              <a:fillRect l="0" t="-236075" r="0" b="-236075"/>
            </a:stretch>
          </a:blipFill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4DDBC683-71E2-497E-8081-BEAE0DC4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3292" y="8140161"/>
            <a:ext cx="4430268" cy="308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93"/>
              </a:lnSpc>
              <a:buNone/>
            </a:pPr>
            <a:r>
              <a:rPr sz="1770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임산공학  |  2011.03–2017.02</a:t>
            </a: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60C7763F-D399-4963-82AD-87D8CC1B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3292" y="8723376"/>
            <a:ext cx="4430268" cy="562356"/>
          </a:xfrm>
          <a:custGeom xmlns:a="http://schemas.openxmlformats.org/drawingml/2006/main">
            <a:rect l="l" t="t" r="r" b="b"/>
            <a:pathLst>
              <a:path w="5907024" h="749808">
                <a:moveTo>
                  <a:pt x="0" y="0"/>
                </a:moveTo>
                <a:lnTo>
                  <a:pt x="5907024" y="0"/>
                </a:lnTo>
                <a:lnTo>
                  <a:pt x="5907024" y="749808"/>
                </a:lnTo>
                <a:lnTo>
                  <a:pt x="0" y="74980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7277918e69e4ad1">
              <a:alphaModFix amt="0"/>
            </a:blip>
            <a:stretch>
              <a:fillRect l="0" t="-103504" r="0" b="-103504"/>
            </a:stretch>
          </a:blip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19CAB855-945D-46E6-9E5E-F1D8F327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3292" y="8716233"/>
            <a:ext cx="4430268" cy="56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70"/>
              </a:lnSpc>
              <a:buNone/>
            </a:pPr>
            <a:r>
              <a:rPr sz="1785" spc="6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한국폴리텍대학 대구캠퍼스</a:t>
            </a:r>
          </a:p>
          <a:p xmlns:a="http://schemas.openxmlformats.org/drawingml/2006/main">
            <a:pPr algn="l">
              <a:lnSpc>
                <a:spcPts val="2270"/>
              </a:lnSpc>
              <a:buNone/>
            </a:pPr>
            <a:r>
              <a:rPr sz="1785" spc="6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AI 엔지니어링 과정 수강 중</a:t>
            </a:r>
          </a:p>
        </p:txBody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FA6CC27B-1065-4F8B-8C6B-DF3ABA86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8816" y="2852928"/>
            <a:ext cx="2414016" cy="672084"/>
          </a:xfrm>
          <a:custGeom xmlns:a="http://schemas.openxmlformats.org/drawingml/2006/main">
            <a:rect l="l" t="t" r="r" b="b"/>
            <a:pathLst>
              <a:path w="3218688" h="896112">
                <a:moveTo>
                  <a:pt x="0" y="0"/>
                </a:moveTo>
                <a:lnTo>
                  <a:pt x="3218688" y="0"/>
                </a:lnTo>
                <a:lnTo>
                  <a:pt x="3218688" y="896112"/>
                </a:lnTo>
                <a:lnTo>
                  <a:pt x="0" y="89611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7277918e69e4ad1">
              <a:alphaModFix amt="0"/>
            </a:blip>
            <a:stretch>
              <a:fillRect l="0" t="-19987" r="0" b="-19987"/>
            </a:stretch>
          </a:blipFill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BFBED5BC-D4E6-48FA-B06F-D182B467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8816" y="2824353"/>
            <a:ext cx="2414016" cy="7006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5443"/>
              </a:lnSpc>
              <a:buNone/>
            </a:pPr>
            <a:r>
              <a:rPr sz="4200" spc="16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3편</a:t>
            </a:r>
          </a:p>
        </p:txBody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4EFBB6BE-A656-4514-9BE3-E1E9A3B7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42532" y="3717036"/>
            <a:ext cx="3086100" cy="301752"/>
          </a:xfrm>
          <a:custGeom xmlns:a="http://schemas.openxmlformats.org/drawingml/2006/main">
            <a:rect l="l" t="t" r="r" b="b"/>
            <a:pathLst>
              <a:path w="4114800" h="402336">
                <a:moveTo>
                  <a:pt x="0" y="0"/>
                </a:moveTo>
                <a:lnTo>
                  <a:pt x="4114800" y="0"/>
                </a:lnTo>
                <a:lnTo>
                  <a:pt x="4114800" y="402336"/>
                </a:lnTo>
                <a:lnTo>
                  <a:pt x="0" y="40233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7277918e69e4ad1">
              <a:alphaModFix amt="0"/>
            </a:blip>
            <a:stretch>
              <a:fillRect l="0" t="-149278" r="0" b="-149278"/>
            </a:stretch>
          </a:blipFill>
        </p:spPr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67A0EAFA-BED3-426C-9104-ECD68B0D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42532" y="3709893"/>
            <a:ext cx="3086100" cy="308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57"/>
              </a:lnSpc>
              <a:buNone/>
            </a:pPr>
            <a:r>
              <a:rPr sz="1664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논문 · 학위논문 포함</a:t>
            </a:r>
          </a:p>
        </p:txBody>
      </p:sp>
      <p:sp>
        <p:nvSpPr>
          <p:cNvPr id="46" name="AutoShape 46">
            <a:extLst xmlns:a="http://schemas.openxmlformats.org/drawingml/2006/main">
              <a:ext uri="{FF2B5EF4-FFF2-40B4-BE49-F238E27FC236}">
                <a16:creationId xmlns:a16="http://schemas.microsoft.com/office/drawing/2014/main" id="{8E900515-2C32-40EA-99CC-AA684BBD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58720">
            <a:off x="9292742" y="3437954"/>
            <a:ext cx="1110691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8" name="Freeform 48">
            <a:extLst xmlns:a="http://schemas.openxmlformats.org/drawingml/2006/main">
              <a:ext uri="{FF2B5EF4-FFF2-40B4-BE49-F238E27FC236}">
                <a16:creationId xmlns:a16="http://schemas.microsoft.com/office/drawing/2014/main" id="{AA532AB3-7708-4EF1-AE7E-B4D291CF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59568" y="2852928"/>
            <a:ext cx="2180844" cy="672084"/>
          </a:xfrm>
          <a:custGeom xmlns:a="http://schemas.openxmlformats.org/drawingml/2006/main">
            <a:rect l="l" t="t" r="r" b="b"/>
            <a:pathLst>
              <a:path w="2907792" h="896112">
                <a:moveTo>
                  <a:pt x="0" y="0"/>
                </a:moveTo>
                <a:lnTo>
                  <a:pt x="2907792" y="0"/>
                </a:lnTo>
                <a:lnTo>
                  <a:pt x="2907792" y="896112"/>
                </a:lnTo>
                <a:lnTo>
                  <a:pt x="0" y="89611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7277918e69e4ad1">
              <a:alphaModFix amt="0"/>
            </a:blip>
            <a:stretch>
              <a:fillRect l="0" t="-13226" r="0" b="-13226"/>
            </a:stretch>
          </a:blipFill>
        </p:spPr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EB39F4A5-5901-4D79-BE85-116CFE45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59568" y="2824353"/>
            <a:ext cx="2180844" cy="7006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5443"/>
              </a:lnSpc>
              <a:buNone/>
            </a:pPr>
            <a:r>
              <a:rPr sz="4200" spc="16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1회</a:t>
            </a:r>
          </a:p>
        </p:txBody>
      </p:sp>
      <p:sp>
        <p:nvSpPr>
          <p:cNvPr id="51" name="Freeform 51">
            <a:extLst xmlns:a="http://schemas.openxmlformats.org/drawingml/2006/main">
              <a:ext uri="{FF2B5EF4-FFF2-40B4-BE49-F238E27FC236}">
                <a16:creationId xmlns:a16="http://schemas.microsoft.com/office/drawing/2014/main" id="{5F5D5960-7709-4D8E-B106-256DE082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73284" y="3717036"/>
            <a:ext cx="2441448" cy="301752"/>
          </a:xfrm>
          <a:custGeom xmlns:a="http://schemas.openxmlformats.org/drawingml/2006/main">
            <a:rect l="l" t="t" r="r" b="b"/>
            <a:pathLst>
              <a:path w="3255264" h="402336">
                <a:moveTo>
                  <a:pt x="0" y="0"/>
                </a:moveTo>
                <a:lnTo>
                  <a:pt x="3255264" y="0"/>
                </a:lnTo>
                <a:lnTo>
                  <a:pt x="3255264" y="402336"/>
                </a:lnTo>
                <a:lnTo>
                  <a:pt x="0" y="40233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7277918e69e4ad1">
              <a:alphaModFix amt="0"/>
            </a:blip>
            <a:stretch>
              <a:fillRect l="0" t="-107651" r="0" b="-107651"/>
            </a:stretch>
          </a:blipFill>
        </p:spPr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17F023D0-52DD-4574-883C-589D103B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73284" y="3709893"/>
            <a:ext cx="2441448" cy="308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57"/>
              </a:lnSpc>
              <a:buNone/>
            </a:pPr>
            <a:r>
              <a:rPr sz="1664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국제학회 발표</a:t>
            </a:r>
          </a:p>
        </p:txBody>
      </p:sp>
      <p:sp>
        <p:nvSpPr>
          <p:cNvPr id="53" name="AutoShape 53">
            <a:extLst xmlns:a="http://schemas.openxmlformats.org/drawingml/2006/main">
              <a:ext uri="{FF2B5EF4-FFF2-40B4-BE49-F238E27FC236}">
                <a16:creationId xmlns:a16="http://schemas.microsoft.com/office/drawing/2014/main" id="{C175E11F-06E8-4706-B94A-25573C2F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58720">
            <a:off x="12625730" y="3437954"/>
            <a:ext cx="1110691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5" name="Freeform 55">
            <a:extLst xmlns:a="http://schemas.openxmlformats.org/drawingml/2006/main">
              <a:ext uri="{FF2B5EF4-FFF2-40B4-BE49-F238E27FC236}">
                <a16:creationId xmlns:a16="http://schemas.microsoft.com/office/drawing/2014/main" id="{FD25191F-45C5-449F-9AA3-A5DD9A45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606272" y="3017520"/>
            <a:ext cx="3607308" cy="411480"/>
          </a:xfrm>
          <a:custGeom xmlns:a="http://schemas.openxmlformats.org/drawingml/2006/main">
            <a:rect l="l" t="t" r="r" b="b"/>
            <a:pathLst>
              <a:path w="4809744" h="548640">
                <a:moveTo>
                  <a:pt x="0" y="0"/>
                </a:moveTo>
                <a:lnTo>
                  <a:pt x="4809744" y="0"/>
                </a:lnTo>
                <a:lnTo>
                  <a:pt x="4809744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7277918e69e4ad1">
              <a:alphaModFix amt="0"/>
            </a:blip>
            <a:stretch>
              <a:fillRect l="0" t="-120818" r="0" b="-120818"/>
            </a:stretch>
          </a:blipFill>
        </p:spPr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DAD91E4C-F2EC-480D-9290-98F44233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606272" y="2996089"/>
            <a:ext cx="3607308" cy="4329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538"/>
              </a:lnSpc>
              <a:buNone/>
            </a:pPr>
            <a:r>
              <a:rPr sz="2729" spc="10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연구실 운영</a:t>
            </a:r>
          </a:p>
        </p:txBody>
      </p:sp>
      <p:sp>
        <p:nvSpPr>
          <p:cNvPr id="58" name="Freeform 58">
            <a:extLst xmlns:a="http://schemas.openxmlformats.org/drawingml/2006/main">
              <a:ext uri="{FF2B5EF4-FFF2-40B4-BE49-F238E27FC236}">
                <a16:creationId xmlns:a16="http://schemas.microsoft.com/office/drawing/2014/main" id="{2042BEB5-A5A7-450A-A8EF-19BFDC98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606272" y="3717036"/>
            <a:ext cx="3826764" cy="315468"/>
          </a:xfrm>
          <a:custGeom xmlns:a="http://schemas.openxmlformats.org/drawingml/2006/main">
            <a:rect l="l" t="t" r="r" b="b"/>
            <a:pathLst>
              <a:path w="5102352" h="420624">
                <a:moveTo>
                  <a:pt x="0" y="0"/>
                </a:moveTo>
                <a:lnTo>
                  <a:pt x="5102352" y="0"/>
                </a:lnTo>
                <a:lnTo>
                  <a:pt x="5102352" y="420624"/>
                </a:lnTo>
                <a:lnTo>
                  <a:pt x="0" y="42062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7277918e69e4ad1">
              <a:alphaModFix amt="0"/>
            </a:blip>
            <a:stretch>
              <a:fillRect l="0" t="-186361" r="0" b="-186361"/>
            </a:stretch>
          </a:blipFill>
        </p:spPr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ACFB2F93-B9EF-46D2-9EE0-71CAA422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606272" y="3709893"/>
            <a:ext cx="3826764" cy="3226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80"/>
              </a:lnSpc>
              <a:buNone/>
            </a:pPr>
            <a:r>
              <a:rPr sz="1604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방장 · 학부생 졸업논문 지도</a:t>
            </a:r>
          </a:p>
        </p:txBody>
      </p:sp>
      <p:sp>
        <p:nvSpPr>
          <p:cNvPr id="61" name="Freeform 61">
            <a:extLst xmlns:a="http://schemas.openxmlformats.org/drawingml/2006/main">
              <a:ext uri="{FF2B5EF4-FFF2-40B4-BE49-F238E27FC236}">
                <a16:creationId xmlns:a16="http://schemas.microsoft.com/office/drawing/2014/main" id="{799F6639-4637-45E1-8953-19D232F3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8816" y="4608576"/>
            <a:ext cx="9326880" cy="329184"/>
          </a:xfrm>
          <a:custGeom xmlns:a="http://schemas.openxmlformats.org/drawingml/2006/main">
            <a:rect l="l" t="t" r="r" b="b"/>
            <a:pathLst>
              <a:path w="12435840" h="438912">
                <a:moveTo>
                  <a:pt x="0" y="0"/>
                </a:moveTo>
                <a:lnTo>
                  <a:pt x="12435840" y="0"/>
                </a:lnTo>
                <a:lnTo>
                  <a:pt x="12435840" y="438912"/>
                </a:lnTo>
                <a:lnTo>
                  <a:pt x="0" y="43891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7277918e69e4ad1">
              <a:alphaModFix amt="0"/>
            </a:blip>
            <a:stretch>
              <a:fillRect l="0" t="-502076" r="0" b="-502076"/>
            </a:stretch>
          </a:blipFill>
        </p:spPr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9B751046-3682-4C55-9554-1706AC68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8816" y="4594289"/>
            <a:ext cx="9326880" cy="3434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16"/>
              </a:lnSpc>
              <a:buNone/>
            </a:pPr>
            <a:r>
              <a:rPr sz="1710" spc="6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핵심 역량과 수행 근거</a:t>
            </a:r>
          </a:p>
        </p:txBody>
      </p:sp>
      <p:sp>
        <p:nvSpPr>
          <p:cNvPr id="64" name="Freeform 64">
            <a:extLst xmlns:a="http://schemas.openxmlformats.org/drawingml/2006/main">
              <a:ext uri="{FF2B5EF4-FFF2-40B4-BE49-F238E27FC236}">
                <a16:creationId xmlns:a16="http://schemas.microsoft.com/office/drawing/2014/main" id="{8C3FA04D-0971-400D-9A3D-A52B81BF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8816" y="5417820"/>
            <a:ext cx="576072" cy="329184"/>
          </a:xfrm>
          <a:custGeom xmlns:a="http://schemas.openxmlformats.org/drawingml/2006/main">
            <a:rect l="l" t="t" r="r" b="b"/>
            <a:pathLst>
              <a:path w="768096" h="438912">
                <a:moveTo>
                  <a:pt x="0" y="0"/>
                </a:moveTo>
                <a:lnTo>
                  <a:pt x="768096" y="0"/>
                </a:lnTo>
                <a:lnTo>
                  <a:pt x="768096" y="438912"/>
                </a:lnTo>
                <a:lnTo>
                  <a:pt x="0" y="43891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7277918e69e4ad1">
              <a:alphaModFix amt="0"/>
            </a:blip>
            <a:stretch>
              <a:fillRect l="-23316" t="0" r="-23316" b="0"/>
            </a:stretch>
          </a:blipFill>
        </p:spPr>
      </p:sp>
      <p:sp>
        <p:nvSpPr>
          <p:cNvPr id="65" name="TextBox 65">
            <a:extLst xmlns:a="http://schemas.openxmlformats.org/drawingml/2006/main">
              <a:ext uri="{FF2B5EF4-FFF2-40B4-BE49-F238E27FC236}">
                <a16:creationId xmlns:a16="http://schemas.microsoft.com/office/drawing/2014/main" id="{7D369136-50AA-4456-9630-4014A210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8816" y="5410677"/>
            <a:ext cx="576072" cy="336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96"/>
              </a:lnSpc>
              <a:buNone/>
            </a:pPr>
            <a:r>
              <a:rPr sz="1695" spc="6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01</a:t>
            </a:r>
          </a:p>
        </p:txBody>
      </p:sp>
      <p:sp>
        <p:nvSpPr>
          <p:cNvPr id="67" name="Freeform 67">
            <a:extLst xmlns:a="http://schemas.openxmlformats.org/drawingml/2006/main">
              <a:ext uri="{FF2B5EF4-FFF2-40B4-BE49-F238E27FC236}">
                <a16:creationId xmlns:a16="http://schemas.microsoft.com/office/drawing/2014/main" id="{A111D772-5C8C-43A2-9EC6-31CF96F5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96912" y="5349240"/>
            <a:ext cx="2427732" cy="521208"/>
          </a:xfrm>
          <a:custGeom xmlns:a="http://schemas.openxmlformats.org/drawingml/2006/main">
            <a:rect l="l" t="t" r="r" b="b"/>
            <a:pathLst>
              <a:path w="3236976" h="694944">
                <a:moveTo>
                  <a:pt x="0" y="0"/>
                </a:moveTo>
                <a:lnTo>
                  <a:pt x="3236976" y="0"/>
                </a:lnTo>
                <a:lnTo>
                  <a:pt x="3236976" y="694944"/>
                </a:lnTo>
                <a:lnTo>
                  <a:pt x="0" y="69494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7277918e69e4ad1">
              <a:alphaModFix amt="0"/>
            </a:blip>
            <a:stretch>
              <a:fillRect l="0" t="-40759" r="0" b="-40759"/>
            </a:stretch>
          </a:blipFill>
        </p:spPr>
      </p:sp>
      <p:sp>
        <p:nvSpPr>
          <p:cNvPr id="68" name="TextBox 68">
            <a:extLst xmlns:a="http://schemas.openxmlformats.org/drawingml/2006/main">
              <a:ext uri="{FF2B5EF4-FFF2-40B4-BE49-F238E27FC236}">
                <a16:creationId xmlns:a16="http://schemas.microsoft.com/office/drawing/2014/main" id="{703161E5-35AA-4868-A415-67D1BB48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96912" y="5334953"/>
            <a:ext cx="2427732" cy="535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110"/>
              </a:lnSpc>
              <a:buNone/>
            </a:pPr>
            <a:r>
              <a:rPr sz="2400" spc="9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연구·분석</a:t>
            </a:r>
          </a:p>
        </p:txBody>
      </p:sp>
      <p:sp>
        <p:nvSpPr>
          <p:cNvPr id="70" name="Freeform 70">
            <a:extLst xmlns:a="http://schemas.openxmlformats.org/drawingml/2006/main">
              <a:ext uri="{FF2B5EF4-FFF2-40B4-BE49-F238E27FC236}">
                <a16:creationId xmlns:a16="http://schemas.microsoft.com/office/drawing/2014/main" id="{A7757F11-9255-4AC2-BC2A-50E5FBEA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75520" y="5280660"/>
            <a:ext cx="6309360" cy="781812"/>
          </a:xfrm>
          <a:custGeom xmlns:a="http://schemas.openxmlformats.org/drawingml/2006/main">
            <a:rect l="l" t="t" r="r" b="b"/>
            <a:pathLst>
              <a:path w="8412480" h="1042416">
                <a:moveTo>
                  <a:pt x="0" y="0"/>
                </a:moveTo>
                <a:lnTo>
                  <a:pt x="8412480" y="0"/>
                </a:lnTo>
                <a:lnTo>
                  <a:pt x="8412480" y="1042416"/>
                </a:lnTo>
                <a:lnTo>
                  <a:pt x="0" y="104241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7277918e69e4ad1">
              <a:alphaModFix amt="0"/>
            </a:blip>
            <a:stretch>
              <a:fillRect l="0" t="-107247" r="0" b="-107247"/>
            </a:stretch>
          </a:blipFill>
        </p:spPr>
      </p:sp>
      <p:sp>
        <p:nvSpPr>
          <p:cNvPr id="71" name="TextBox 71">
            <a:extLst xmlns:a="http://schemas.openxmlformats.org/drawingml/2006/main">
              <a:ext uri="{FF2B5EF4-FFF2-40B4-BE49-F238E27FC236}">
                <a16:creationId xmlns:a16="http://schemas.microsoft.com/office/drawing/2014/main" id="{0C7608CA-034C-4811-8C4D-D2BCBD6C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75520" y="5259229"/>
            <a:ext cx="6309360" cy="8032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buNone/>
            </a:pPr>
            <a:r>
              <a:rPr sz="2025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함수율 분포·경사 비교</a:t>
            </a:r>
          </a:p>
          <a:p xmlns:a="http://schemas.openxmlformats.org/drawingml/2006/main">
            <a:pPr algn="l">
              <a:lnSpc>
                <a:spcPts val="2721"/>
              </a:lnSpc>
              <a:buNone/>
            </a:pPr>
            <a:r>
              <a:rPr sz="2025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회귀분석을 통한 연구 결과 해석</a:t>
            </a:r>
          </a:p>
        </p:txBody>
      </p:sp>
      <p:sp>
        <p:nvSpPr>
          <p:cNvPr id="72" name="AutoShape 72">
            <a:extLst xmlns:a="http://schemas.openxmlformats.org/drawingml/2006/main">
              <a:ext uri="{FF2B5EF4-FFF2-40B4-BE49-F238E27FC236}">
                <a16:creationId xmlns:a16="http://schemas.microsoft.com/office/drawing/2014/main" id="{544D9C1A-6743-4B03-9BA3-4CCB515B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200">
            <a:off x="6522149" y="6236018"/>
            <a:ext cx="10931281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4" name="Freeform 74">
            <a:extLst xmlns:a="http://schemas.openxmlformats.org/drawingml/2006/main">
              <a:ext uri="{FF2B5EF4-FFF2-40B4-BE49-F238E27FC236}">
                <a16:creationId xmlns:a16="http://schemas.microsoft.com/office/drawing/2014/main" id="{9BF5FA8D-4F73-44EB-B9A0-F6251F2A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8816" y="6583680"/>
            <a:ext cx="576072" cy="329184"/>
          </a:xfrm>
          <a:custGeom xmlns:a="http://schemas.openxmlformats.org/drawingml/2006/main">
            <a:rect l="l" t="t" r="r" b="b"/>
            <a:pathLst>
              <a:path w="768096" h="438912">
                <a:moveTo>
                  <a:pt x="0" y="0"/>
                </a:moveTo>
                <a:lnTo>
                  <a:pt x="768096" y="0"/>
                </a:lnTo>
                <a:lnTo>
                  <a:pt x="768096" y="438912"/>
                </a:lnTo>
                <a:lnTo>
                  <a:pt x="0" y="43891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7277918e69e4ad1">
              <a:alphaModFix amt="0"/>
            </a:blip>
            <a:stretch>
              <a:fillRect l="-23316" t="0" r="-23316" b="0"/>
            </a:stretch>
          </a:blipFill>
        </p:spPr>
      </p:sp>
      <p:sp>
        <p:nvSpPr>
          <p:cNvPr id="75" name="TextBox 75">
            <a:extLst xmlns:a="http://schemas.openxmlformats.org/drawingml/2006/main">
              <a:ext uri="{FF2B5EF4-FFF2-40B4-BE49-F238E27FC236}">
                <a16:creationId xmlns:a16="http://schemas.microsoft.com/office/drawing/2014/main" id="{D3927B00-FE70-412A-8DD1-1ABD269A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8816" y="6576537"/>
            <a:ext cx="576072" cy="336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96"/>
              </a:lnSpc>
              <a:buNone/>
            </a:pPr>
            <a:r>
              <a:rPr sz="1695" spc="6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02</a:t>
            </a:r>
          </a:p>
        </p:txBody>
      </p:sp>
      <p:sp>
        <p:nvSpPr>
          <p:cNvPr id="77" name="Freeform 77">
            <a:extLst xmlns:a="http://schemas.openxmlformats.org/drawingml/2006/main">
              <a:ext uri="{FF2B5EF4-FFF2-40B4-BE49-F238E27FC236}">
                <a16:creationId xmlns:a16="http://schemas.microsoft.com/office/drawing/2014/main" id="{F83AABBD-6C8D-492B-9C23-997FDB01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96912" y="6515100"/>
            <a:ext cx="2427732" cy="521208"/>
          </a:xfrm>
          <a:custGeom xmlns:a="http://schemas.openxmlformats.org/drawingml/2006/main">
            <a:rect l="l" t="t" r="r" b="b"/>
            <a:pathLst>
              <a:path w="3236976" h="694944">
                <a:moveTo>
                  <a:pt x="0" y="0"/>
                </a:moveTo>
                <a:lnTo>
                  <a:pt x="3236976" y="0"/>
                </a:lnTo>
                <a:lnTo>
                  <a:pt x="3236976" y="694944"/>
                </a:lnTo>
                <a:lnTo>
                  <a:pt x="0" y="69494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7277918e69e4ad1">
              <a:alphaModFix amt="0"/>
            </a:blip>
            <a:stretch>
              <a:fillRect l="0" t="-40759" r="0" b="-40759"/>
            </a:stretch>
          </a:blipFill>
        </p:spPr>
      </p:sp>
      <p:sp>
        <p:nvSpPr>
          <p:cNvPr id="78" name="TextBox 78">
            <a:extLst xmlns:a="http://schemas.openxmlformats.org/drawingml/2006/main">
              <a:ext uri="{FF2B5EF4-FFF2-40B4-BE49-F238E27FC236}">
                <a16:creationId xmlns:a16="http://schemas.microsoft.com/office/drawing/2014/main" id="{9FF82CEB-6ECB-427F-9322-434988E9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96912" y="6500813"/>
            <a:ext cx="2427732" cy="535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110"/>
              </a:lnSpc>
              <a:buNone/>
            </a:pPr>
            <a:r>
              <a:rPr sz="2400" spc="9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구현·검증</a:t>
            </a:r>
          </a:p>
        </p:txBody>
      </p:sp>
      <p:sp>
        <p:nvSpPr>
          <p:cNvPr id="80" name="Freeform 80">
            <a:extLst xmlns:a="http://schemas.openxmlformats.org/drawingml/2006/main">
              <a:ext uri="{FF2B5EF4-FFF2-40B4-BE49-F238E27FC236}">
                <a16:creationId xmlns:a16="http://schemas.microsoft.com/office/drawing/2014/main" id="{3F00949B-ACF3-4DAC-93B5-3F7089E2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75520" y="6446520"/>
            <a:ext cx="6309360" cy="781812"/>
          </a:xfrm>
          <a:custGeom xmlns:a="http://schemas.openxmlformats.org/drawingml/2006/main">
            <a:rect l="l" t="t" r="r" b="b"/>
            <a:pathLst>
              <a:path w="8412480" h="1042416">
                <a:moveTo>
                  <a:pt x="0" y="0"/>
                </a:moveTo>
                <a:lnTo>
                  <a:pt x="8412480" y="0"/>
                </a:lnTo>
                <a:lnTo>
                  <a:pt x="8412480" y="1042416"/>
                </a:lnTo>
                <a:lnTo>
                  <a:pt x="0" y="104241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7277918e69e4ad1">
              <a:alphaModFix amt="0"/>
            </a:blip>
            <a:stretch>
              <a:fillRect l="0" t="-107247" r="0" b="-107247"/>
            </a:stretch>
          </a:blipFill>
        </p:spPr>
      </p:sp>
      <p:sp>
        <p:nvSpPr>
          <p:cNvPr id="81" name="TextBox 81">
            <a:extLst xmlns:a="http://schemas.openxmlformats.org/drawingml/2006/main">
              <a:ext uri="{FF2B5EF4-FFF2-40B4-BE49-F238E27FC236}">
                <a16:creationId xmlns:a16="http://schemas.microsoft.com/office/drawing/2014/main" id="{6AD5C160-A66C-4B22-AB64-D4EDF806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75520" y="6425089"/>
            <a:ext cx="6309360" cy="8032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buNone/>
            </a:pPr>
            <a:r>
              <a:rPr sz="2025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정적 분석과 로컬 LLM 연계</a:t>
            </a:r>
          </a:p>
          <a:p xmlns:a="http://schemas.openxmlformats.org/drawingml/2006/main">
            <a:pPr algn="l">
              <a:lnSpc>
                <a:spcPts val="2721"/>
              </a:lnSpc>
              <a:buNone/>
            </a:pPr>
            <a:r>
              <a:rPr sz="2025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Python 코드 분석 프로토타입 시험</a:t>
            </a:r>
          </a:p>
        </p:txBody>
      </p:sp>
      <p:sp>
        <p:nvSpPr>
          <p:cNvPr id="82" name="AutoShape 82">
            <a:extLst xmlns:a="http://schemas.openxmlformats.org/drawingml/2006/main">
              <a:ext uri="{FF2B5EF4-FFF2-40B4-BE49-F238E27FC236}">
                <a16:creationId xmlns:a16="http://schemas.microsoft.com/office/drawing/2014/main" id="{B13878BB-A72B-44F0-9976-42DC1685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200">
            <a:off x="6522149" y="7401878"/>
            <a:ext cx="10931281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4" name="Freeform 84">
            <a:extLst xmlns:a="http://schemas.openxmlformats.org/drawingml/2006/main">
              <a:ext uri="{FF2B5EF4-FFF2-40B4-BE49-F238E27FC236}">
                <a16:creationId xmlns:a16="http://schemas.microsoft.com/office/drawing/2014/main" id="{BD8ED968-78B1-4E2F-AD9A-9A2CF5A8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8816" y="7749540"/>
            <a:ext cx="576072" cy="329184"/>
          </a:xfrm>
          <a:custGeom xmlns:a="http://schemas.openxmlformats.org/drawingml/2006/main">
            <a:rect l="l" t="t" r="r" b="b"/>
            <a:pathLst>
              <a:path w="768096" h="438912">
                <a:moveTo>
                  <a:pt x="0" y="0"/>
                </a:moveTo>
                <a:lnTo>
                  <a:pt x="768096" y="0"/>
                </a:lnTo>
                <a:lnTo>
                  <a:pt x="768096" y="438912"/>
                </a:lnTo>
                <a:lnTo>
                  <a:pt x="0" y="43891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7277918e69e4ad1">
              <a:alphaModFix amt="0"/>
            </a:blip>
            <a:stretch>
              <a:fillRect l="-23316" t="0" r="-23316" b="0"/>
            </a:stretch>
          </a:blipFill>
        </p:spPr>
      </p:sp>
      <p:sp>
        <p:nvSpPr>
          <p:cNvPr id="85" name="TextBox 85">
            <a:extLst xmlns:a="http://schemas.openxmlformats.org/drawingml/2006/main">
              <a:ext uri="{FF2B5EF4-FFF2-40B4-BE49-F238E27FC236}">
                <a16:creationId xmlns:a16="http://schemas.microsoft.com/office/drawing/2014/main" id="{FD914C06-110F-4C08-B9CD-6E88E7C0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8816" y="7742397"/>
            <a:ext cx="576072" cy="336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96"/>
              </a:lnSpc>
              <a:buNone/>
            </a:pPr>
            <a:r>
              <a:rPr sz="1695" spc="6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03</a:t>
            </a:r>
          </a:p>
        </p:txBody>
      </p:sp>
      <p:sp>
        <p:nvSpPr>
          <p:cNvPr id="87" name="Freeform 87">
            <a:extLst xmlns:a="http://schemas.openxmlformats.org/drawingml/2006/main">
              <a:ext uri="{FF2B5EF4-FFF2-40B4-BE49-F238E27FC236}">
                <a16:creationId xmlns:a16="http://schemas.microsoft.com/office/drawing/2014/main" id="{14551E3D-AA28-4946-B1A9-10F6FDA1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96912" y="7680960"/>
            <a:ext cx="2427732" cy="521208"/>
          </a:xfrm>
          <a:custGeom xmlns:a="http://schemas.openxmlformats.org/drawingml/2006/main">
            <a:rect l="l" t="t" r="r" b="b"/>
            <a:pathLst>
              <a:path w="3236976" h="694944">
                <a:moveTo>
                  <a:pt x="0" y="0"/>
                </a:moveTo>
                <a:lnTo>
                  <a:pt x="3236976" y="0"/>
                </a:lnTo>
                <a:lnTo>
                  <a:pt x="3236976" y="694944"/>
                </a:lnTo>
                <a:lnTo>
                  <a:pt x="0" y="69494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7277918e69e4ad1">
              <a:alphaModFix amt="0"/>
            </a:blip>
            <a:stretch>
              <a:fillRect l="0" t="-40759" r="0" b="-40759"/>
            </a:stretch>
          </a:blipFill>
        </p:spPr>
      </p:sp>
      <p:sp>
        <p:nvSpPr>
          <p:cNvPr id="88" name="TextBox 88">
            <a:extLst xmlns:a="http://schemas.openxmlformats.org/drawingml/2006/main">
              <a:ext uri="{FF2B5EF4-FFF2-40B4-BE49-F238E27FC236}">
                <a16:creationId xmlns:a16="http://schemas.microsoft.com/office/drawing/2014/main" id="{B3D04D53-895A-40BF-88F9-462E6626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96912" y="7666673"/>
            <a:ext cx="2427732" cy="535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110"/>
              </a:lnSpc>
              <a:buNone/>
            </a:pPr>
            <a:r>
              <a:rPr sz="2400" spc="9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데이터·학습</a:t>
            </a:r>
          </a:p>
        </p:txBody>
      </p:sp>
      <p:sp>
        <p:nvSpPr>
          <p:cNvPr id="90" name="Freeform 90">
            <a:extLst xmlns:a="http://schemas.openxmlformats.org/drawingml/2006/main">
              <a:ext uri="{FF2B5EF4-FFF2-40B4-BE49-F238E27FC236}">
                <a16:creationId xmlns:a16="http://schemas.microsoft.com/office/drawing/2014/main" id="{3C726647-56E0-421A-AB24-EC810783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75520" y="7612380"/>
            <a:ext cx="6309360" cy="781812"/>
          </a:xfrm>
          <a:custGeom xmlns:a="http://schemas.openxmlformats.org/drawingml/2006/main">
            <a:rect l="l" t="t" r="r" b="b"/>
            <a:pathLst>
              <a:path w="8412480" h="1042416">
                <a:moveTo>
                  <a:pt x="0" y="0"/>
                </a:moveTo>
                <a:lnTo>
                  <a:pt x="8412480" y="0"/>
                </a:lnTo>
                <a:lnTo>
                  <a:pt x="8412480" y="1042416"/>
                </a:lnTo>
                <a:lnTo>
                  <a:pt x="0" y="104241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7277918e69e4ad1">
              <a:alphaModFix amt="0"/>
            </a:blip>
            <a:stretch>
              <a:fillRect l="0" t="-107247" r="0" b="-107247"/>
            </a:stretch>
          </a:blipFill>
        </p:spPr>
      </p:sp>
      <p:sp>
        <p:nvSpPr>
          <p:cNvPr id="91" name="TextBox 91">
            <a:extLst xmlns:a="http://schemas.openxmlformats.org/drawingml/2006/main">
              <a:ext uri="{FF2B5EF4-FFF2-40B4-BE49-F238E27FC236}">
                <a16:creationId xmlns:a16="http://schemas.microsoft.com/office/drawing/2014/main" id="{C9E6DFBD-7257-4576-B5ED-51235C07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75520" y="7590949"/>
            <a:ext cx="6309360" cy="8032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buNone/>
            </a:pPr>
            <a:r>
              <a:rPr sz="2025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파인튜닝 결과 분석</a:t>
            </a:r>
          </a:p>
          <a:p xmlns:a="http://schemas.openxmlformats.org/drawingml/2006/main">
            <a:pPr algn="l">
              <a:lnSpc>
                <a:spcPts val="2721"/>
              </a:lnSpc>
              <a:buNone/>
            </a:pPr>
            <a:r>
              <a:rPr sz="2025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학습·평가 데이터셋 재구축</a:t>
            </a:r>
          </a:p>
        </p:txBody>
      </p:sp>
      <p:sp>
        <p:nvSpPr>
          <p:cNvPr id="93" name="Freeform 93">
            <a:extLst xmlns:a="http://schemas.openxmlformats.org/drawingml/2006/main">
              <a:ext uri="{FF2B5EF4-FFF2-40B4-BE49-F238E27FC236}">
                <a16:creationId xmlns:a16="http://schemas.microsoft.com/office/drawing/2014/main" id="{917CAA85-180F-4E84-A54A-874FC69F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05575" y="8892159"/>
            <a:ext cx="10950702" cy="499110"/>
          </a:xfrm>
          <a:custGeom xmlns:a="http://schemas.openxmlformats.org/drawingml/2006/main">
            <a:rect l="l" t="t" r="r" b="b"/>
            <a:pathLst>
              <a:path w="14600937" h="665480">
                <a:moveTo>
                  <a:pt x="0" y="0"/>
                </a:moveTo>
                <a:lnTo>
                  <a:pt x="14600937" y="0"/>
                </a:lnTo>
                <a:lnTo>
                  <a:pt x="14600937" y="665480"/>
                </a:lnTo>
                <a:lnTo>
                  <a:pt x="0" y="665480"/>
                </a:lnTo>
                <a:close/>
              </a:path>
            </a:pathLst>
          </a:custGeom>
          <a:solidFill xmlns:a="http://schemas.openxmlformats.org/drawingml/2006/main">
            <a:srgbClr val="EDF3FA"/>
          </a:solidFill>
        </p:spPr>
      </p:sp>
      <p:sp>
        <p:nvSpPr>
          <p:cNvPr id="95" name="Freeform 95">
            <a:extLst xmlns:a="http://schemas.openxmlformats.org/drawingml/2006/main">
              <a:ext uri="{FF2B5EF4-FFF2-40B4-BE49-F238E27FC236}">
                <a16:creationId xmlns:a16="http://schemas.microsoft.com/office/drawing/2014/main" id="{E5BCD990-A8D5-4B11-ABFC-24A28B7A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61988" y="9011412"/>
            <a:ext cx="1522476" cy="233172"/>
          </a:xfrm>
          <a:custGeom xmlns:a="http://schemas.openxmlformats.org/drawingml/2006/main">
            <a:rect l="l" t="t" r="r" b="b"/>
            <a:pathLst>
              <a:path w="2029968" h="310896">
                <a:moveTo>
                  <a:pt x="0" y="0"/>
                </a:moveTo>
                <a:lnTo>
                  <a:pt x="2029968" y="0"/>
                </a:lnTo>
                <a:lnTo>
                  <a:pt x="2029968" y="310896"/>
                </a:lnTo>
                <a:lnTo>
                  <a:pt x="0" y="31089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7277918e69e4ad1">
              <a:alphaModFix amt="0"/>
            </a:blip>
            <a:stretch>
              <a:fillRect l="0" t="-77225" r="0" b="-77225"/>
            </a:stretch>
          </a:blipFill>
        </p:spPr>
      </p:sp>
      <p:sp>
        <p:nvSpPr>
          <p:cNvPr id="96" name="TextBox 96">
            <a:extLst xmlns:a="http://schemas.openxmlformats.org/drawingml/2006/main">
              <a:ext uri="{FF2B5EF4-FFF2-40B4-BE49-F238E27FC236}">
                <a16:creationId xmlns:a16="http://schemas.microsoft.com/office/drawing/2014/main" id="{63D23D11-7E5A-4616-8755-31E71172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61988" y="9004269"/>
            <a:ext cx="1522476" cy="2403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99"/>
              </a:lnSpc>
              <a:buNone/>
            </a:pPr>
            <a:r>
              <a:rPr sz="1620" spc="6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사용 도구</a:t>
            </a:r>
          </a:p>
        </p:txBody>
      </p:sp>
      <p:sp>
        <p:nvSpPr>
          <p:cNvPr id="98" name="Freeform 98">
            <a:extLst xmlns:a="http://schemas.openxmlformats.org/drawingml/2006/main">
              <a:ext uri="{FF2B5EF4-FFF2-40B4-BE49-F238E27FC236}">
                <a16:creationId xmlns:a16="http://schemas.microsoft.com/office/drawing/2014/main" id="{86030A8E-0533-4BAF-BF72-7D7B8D92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90204" y="8983980"/>
            <a:ext cx="8627364" cy="496721"/>
          </a:xfrm>
          <a:custGeom xmlns:a="http://schemas.openxmlformats.org/drawingml/2006/main">
            <a:rect l="l" t="t" r="r" b="b"/>
            <a:pathLst>
              <a:path w="11503152" h="662294">
                <a:moveTo>
                  <a:pt x="0" y="0"/>
                </a:moveTo>
                <a:lnTo>
                  <a:pt x="11503152" y="0"/>
                </a:lnTo>
                <a:lnTo>
                  <a:pt x="11503152" y="662294"/>
                </a:lnTo>
                <a:lnTo>
                  <a:pt x="0" y="66229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7277918e69e4ad1">
              <a:alphaModFix amt="0"/>
            </a:blip>
            <a:stretch>
              <a:fillRect l="0" t="-308054" r="0" b="-268802"/>
            </a:stretch>
          </a:blipFill>
        </p:spPr>
      </p:sp>
      <p:sp>
        <p:nvSpPr>
          <p:cNvPr id="99" name="TextBox 99">
            <a:extLst xmlns:a="http://schemas.openxmlformats.org/drawingml/2006/main">
              <a:ext uri="{FF2B5EF4-FFF2-40B4-BE49-F238E27FC236}">
                <a16:creationId xmlns:a16="http://schemas.microsoft.com/office/drawing/2014/main" id="{0B23EF28-4DFB-4434-97B3-05F88BD4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90204" y="8969693"/>
            <a:ext cx="8627364" cy="5110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32"/>
              </a:lnSpc>
              <a:buNone/>
            </a:pPr>
            <a:r>
              <a:rPr sz="1800" spc="6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Python  ·  PyTorch  ·  vLLM · Nvidia Rapids · GPU-based ML</a:t>
            </a:r>
          </a:p>
        </p:txBody>
      </p:sp>
      <p:sp>
        <p:nvSpPr>
          <p:cNvPr id="100" name="AutoShape 100">
            <a:extLst xmlns:a="http://schemas.openxmlformats.org/drawingml/2006/main">
              <a:ext uri="{FF2B5EF4-FFF2-40B4-BE49-F238E27FC236}">
                <a16:creationId xmlns:a16="http://schemas.microsoft.com/office/drawing/2014/main" id="{FB54FADE-9DC7-4600-A0E3-C3254CB2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60">
            <a:off x="816293" y="9706166"/>
            <a:ext cx="16650853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036760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EBF384C7-715C-4797-A135-A5F3B44C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960" y="493776"/>
            <a:ext cx="16596360" cy="301752"/>
          </a:xfrm>
          <a:custGeom xmlns:a="http://schemas.openxmlformats.org/drawingml/2006/main">
            <a:rect l="l" t="t" r="r" b="b"/>
            <a:pathLst>
              <a:path w="22128480" h="402336">
                <a:moveTo>
                  <a:pt x="0" y="0"/>
                </a:moveTo>
                <a:lnTo>
                  <a:pt x="22128480" y="0"/>
                </a:lnTo>
                <a:lnTo>
                  <a:pt x="22128480" y="402336"/>
                </a:lnTo>
                <a:lnTo>
                  <a:pt x="0" y="40233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30a024789cd46a2">
              <a:alphaModFix amt="0"/>
            </a:blip>
            <a:stretch>
              <a:fillRect l="0" t="-1021677" r="0" b="-1021677"/>
            </a:stretch>
          </a:blip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FCD9FA4C-F19F-4573-8F10-6201E6D9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960" y="486633"/>
            <a:ext cx="16596360" cy="308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99"/>
              </a:lnSpc>
              <a:buNone/>
            </a:pPr>
            <a:r>
              <a:rPr sz="1620" spc="126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02  /  MASTER’S RESEARCH</a:t>
            </a: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BEDE9A00-1D12-4C53-AC60-424C7219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960" y="1124712"/>
            <a:ext cx="16596360" cy="685800"/>
          </a:xfrm>
          <a:custGeom xmlns:a="http://schemas.openxmlformats.org/drawingml/2006/main">
            <a:rect l="l" t="t" r="r" b="b"/>
            <a:pathLst>
              <a:path w="22128480" h="914400">
                <a:moveTo>
                  <a:pt x="0" y="0"/>
                </a:moveTo>
                <a:lnTo>
                  <a:pt x="22128480" y="0"/>
                </a:lnTo>
                <a:lnTo>
                  <a:pt x="22128480" y="914400"/>
                </a:lnTo>
                <a:lnTo>
                  <a:pt x="0" y="9144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30a024789cd46a2">
              <a:alphaModFix amt="0"/>
            </a:blip>
            <a:stretch>
              <a:fillRect l="0" t="-421537" r="0" b="-421537"/>
            </a:stretch>
          </a:blip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758E8E12-55E8-46F4-8942-657F2092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960" y="1096137"/>
            <a:ext cx="1659636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5248"/>
              </a:lnSpc>
              <a:buNone/>
            </a:pPr>
            <a:r>
              <a:rPr sz="4050" spc="15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섬유포화점 이하에서의 목재 내 함수율 분포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1D01FA7E-0E75-47A8-A93D-B2C3EBCC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0392" y="1920240"/>
            <a:ext cx="16459200" cy="411480"/>
          </a:xfrm>
          <a:custGeom xmlns:a="http://schemas.openxmlformats.org/drawingml/2006/main">
            <a:rect l="l" t="t" r="r" b="b"/>
            <a:pathLst>
              <a:path w="21945600" h="548640">
                <a:moveTo>
                  <a:pt x="0" y="0"/>
                </a:moveTo>
                <a:lnTo>
                  <a:pt x="21945600" y="0"/>
                </a:lnTo>
                <a:lnTo>
                  <a:pt x="2194560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30a024789cd46a2">
              <a:alphaModFix amt="0"/>
            </a:blip>
            <a:stretch>
              <a:fillRect l="0" t="-729401" r="0" b="-729401"/>
            </a:stretch>
          </a:blip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F6A44654-3983-4981-A3DF-E2E95997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0392" y="1913097"/>
            <a:ext cx="16459200" cy="4186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88"/>
              </a:lnSpc>
              <a:buNone/>
            </a:pPr>
            <a:r>
              <a:rPr sz="1920" spc="7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경북대학교 대학원 · 임산공학(목재 물리학) · 석사 연구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B432BCDD-2AF6-4B29-A542-0CB43369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1540" y="2811780"/>
            <a:ext cx="4183380" cy="329184"/>
          </a:xfrm>
          <a:custGeom xmlns:a="http://schemas.openxmlformats.org/drawingml/2006/main">
            <a:rect l="l" t="t" r="r" b="b"/>
            <a:pathLst>
              <a:path w="5577840" h="438912">
                <a:moveTo>
                  <a:pt x="0" y="0"/>
                </a:moveTo>
                <a:lnTo>
                  <a:pt x="5577840" y="0"/>
                </a:lnTo>
                <a:lnTo>
                  <a:pt x="5577840" y="438912"/>
                </a:lnTo>
                <a:lnTo>
                  <a:pt x="0" y="43891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30a024789cd46a2">
              <a:alphaModFix amt="0"/>
            </a:blip>
            <a:stretch>
              <a:fillRect l="0" t="-197622" r="0" b="-197622"/>
            </a:stretch>
          </a:blip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CF20DFD3-8B3C-4046-A407-21E23C65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1540" y="2797493"/>
            <a:ext cx="4183380" cy="3434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16"/>
              </a:lnSpc>
              <a:buNone/>
            </a:pPr>
            <a:r>
              <a:rPr sz="1710" spc="6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연구 질문</a:t>
            </a: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76F6654A-24B8-4E08-8AF2-117B44B2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1540" y="3374136"/>
            <a:ext cx="4155948" cy="1508760"/>
          </a:xfrm>
          <a:custGeom xmlns:a="http://schemas.openxmlformats.org/drawingml/2006/main">
            <a:rect l="l" t="t" r="r" b="b"/>
            <a:pathLst>
              <a:path w="5541264" h="2011680">
                <a:moveTo>
                  <a:pt x="0" y="0"/>
                </a:moveTo>
                <a:lnTo>
                  <a:pt x="5541264" y="0"/>
                </a:lnTo>
                <a:lnTo>
                  <a:pt x="5541264" y="2011680"/>
                </a:lnTo>
                <a:lnTo>
                  <a:pt x="0" y="20116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30a024789cd46a2">
              <a:alphaModFix amt="0"/>
            </a:blip>
            <a:stretch>
              <a:fillRect l="0" t="-3672" r="0" b="-3672"/>
            </a:stretch>
          </a:blipFill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5579E3E2-A70F-4A4B-B75C-00824080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1540" y="3352705"/>
            <a:ext cx="4155948" cy="15301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693"/>
              </a:lnSpc>
              <a:buNone/>
            </a:pPr>
            <a:r>
              <a:rPr sz="2700" spc="10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목재 내 수분 이동의 구동력에 대해서 발견할 수 있을까?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56C0F308-E3BC-46A4-9EC9-965A2FDC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1540" y="5294376"/>
            <a:ext cx="4197096" cy="329184"/>
          </a:xfrm>
          <a:custGeom xmlns:a="http://schemas.openxmlformats.org/drawingml/2006/main">
            <a:rect l="l" t="t" r="r" b="b"/>
            <a:pathLst>
              <a:path w="5596128" h="438912">
                <a:moveTo>
                  <a:pt x="0" y="0"/>
                </a:moveTo>
                <a:lnTo>
                  <a:pt x="5596128" y="0"/>
                </a:lnTo>
                <a:lnTo>
                  <a:pt x="5596128" y="438912"/>
                </a:lnTo>
                <a:lnTo>
                  <a:pt x="0" y="43891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30a024789cd46a2">
              <a:alphaModFix amt="0"/>
            </a:blip>
            <a:stretch>
              <a:fillRect l="0" t="-198434" r="0" b="-198434"/>
            </a:stretch>
          </a:blipFill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F1CE74FA-4989-4067-A5F8-B8A031D7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1540" y="5280089"/>
            <a:ext cx="4197096" cy="3434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16"/>
              </a:lnSpc>
              <a:buNone/>
            </a:pPr>
            <a:r>
              <a:rPr sz="1710" spc="6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분석 접근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A309F002-9FCC-45E7-B9AB-C0FE29D4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1540" y="5801868"/>
            <a:ext cx="4238244" cy="1234440"/>
          </a:xfrm>
          <a:custGeom xmlns:a="http://schemas.openxmlformats.org/drawingml/2006/main">
            <a:rect l="l" t="t" r="r" b="b"/>
            <a:pathLst>
              <a:path w="5650992" h="1645920">
                <a:moveTo>
                  <a:pt x="0" y="0"/>
                </a:moveTo>
                <a:lnTo>
                  <a:pt x="5650992" y="0"/>
                </a:lnTo>
                <a:lnTo>
                  <a:pt x="5650992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30a024789cd46a2">
              <a:alphaModFix amt="0"/>
            </a:blip>
            <a:stretch>
              <a:fillRect l="0" t="-16898" r="0" b="-16898"/>
            </a:stretch>
          </a:blip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96BA60E8-2B3A-43B7-A372-CED0D750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1540" y="5780437"/>
            <a:ext cx="4238244" cy="1255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688"/>
              </a:lnSpc>
              <a:buNone/>
            </a:pPr>
            <a:r>
              <a:rPr sz="1964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함수율·수증기압·화학 포텐셜</a:t>
            </a:r>
          </a:p>
          <a:p xmlns:a="http://schemas.openxmlformats.org/drawingml/2006/main">
            <a:pPr algn="l">
              <a:lnSpc>
                <a:spcPts val="2688"/>
              </a:lnSpc>
              <a:buNone/>
            </a:pPr>
            <a:r>
              <a:rPr sz="1964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에너지 경사를 비교하고,</a:t>
            </a:r>
          </a:p>
          <a:p xmlns:a="http://schemas.openxmlformats.org/drawingml/2006/main">
            <a:pPr algn="l">
              <a:lnSpc>
                <a:spcPts val="2688"/>
              </a:lnSpc>
              <a:buNone/>
            </a:pPr>
            <a:r>
              <a:rPr sz="1964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회귀분석을 통해 구동력 규명</a:t>
            </a: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6E397823-88C4-4882-A25F-40A4A362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7523" y="7255764"/>
            <a:ext cx="3892581" cy="1248156"/>
          </a:xfrm>
          <a:custGeom xmlns:a="http://schemas.openxmlformats.org/drawingml/2006/main">
            <a:rect l="l" t="t" r="r" b="b"/>
            <a:pathLst>
              <a:path w="5190109" h="1664208">
                <a:moveTo>
                  <a:pt x="0" y="0"/>
                </a:moveTo>
                <a:lnTo>
                  <a:pt x="5190109" y="0"/>
                </a:lnTo>
                <a:lnTo>
                  <a:pt x="5190109" y="1664208"/>
                </a:lnTo>
                <a:lnTo>
                  <a:pt x="0" y="166420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87d7e6e41fd44e4"/>
            <a:stretch>
              <a:fillRect l="0" t="0" r="0" b="0"/>
            </a:stretch>
          </a:blipFill>
        </p:spPr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65C7826E-7933-466B-B9E6-B178F0F8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7552" y="8599932"/>
            <a:ext cx="4306824" cy="329184"/>
          </a:xfrm>
          <a:custGeom xmlns:a="http://schemas.openxmlformats.org/drawingml/2006/main">
            <a:rect l="l" t="t" r="r" b="b"/>
            <a:pathLst>
              <a:path w="5742432" h="438912">
                <a:moveTo>
                  <a:pt x="0" y="0"/>
                </a:moveTo>
                <a:lnTo>
                  <a:pt x="5742432" y="0"/>
                </a:lnTo>
                <a:lnTo>
                  <a:pt x="5742432" y="438912"/>
                </a:lnTo>
                <a:lnTo>
                  <a:pt x="0" y="43891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30a024789cd46a2">
              <a:alphaModFix amt="0"/>
            </a:blip>
            <a:stretch>
              <a:fillRect l="0" t="-204929" r="0" b="-204929"/>
            </a:stretch>
          </a:blip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F2D6F11A-1541-4A14-8904-9761A4B3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7552" y="8585645"/>
            <a:ext cx="4306824" cy="3434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905"/>
              </a:lnSpc>
              <a:buNone/>
            </a:pPr>
            <a:r>
              <a:rPr sz="1470" spc="5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D_c: 확산계수  ·  dc/dx: 농도경사</a:t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8ECBD50A-9892-4364-8741-9851F404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07164" y="2590714"/>
            <a:ext cx="3826383" cy="5033391"/>
          </a:xfrm>
          <a:custGeom xmlns:a="http://schemas.openxmlformats.org/drawingml/2006/main">
            <a:rect l="l" t="t" r="r" b="b"/>
            <a:pathLst>
              <a:path w="5101844" h="6711188">
                <a:moveTo>
                  <a:pt x="0" y="0"/>
                </a:moveTo>
                <a:lnTo>
                  <a:pt x="5101844" y="0"/>
                </a:lnTo>
                <a:lnTo>
                  <a:pt x="5101844" y="6711188"/>
                </a:lnTo>
                <a:lnTo>
                  <a:pt x="0" y="671118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DE3E9"/>
            </a:solidFill>
            <a:prstDash val="solid"/>
          </a:ln>
        </p:spPr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747FD891-F8E0-4415-BBC0-BFB3C4CC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37276" y="2871702"/>
            <a:ext cx="3566160" cy="438912"/>
          </a:xfrm>
          <a:custGeom xmlns:a="http://schemas.openxmlformats.org/drawingml/2006/main">
            <a:rect l="l" t="t" r="r" b="b"/>
            <a:pathLst>
              <a:path w="4754880" h="585216">
                <a:moveTo>
                  <a:pt x="0" y="0"/>
                </a:moveTo>
                <a:lnTo>
                  <a:pt x="4754880" y="0"/>
                </a:lnTo>
                <a:lnTo>
                  <a:pt x="4754880" y="585216"/>
                </a:lnTo>
                <a:lnTo>
                  <a:pt x="0" y="58521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30a024789cd46a2">
              <a:alphaModFix amt="0"/>
            </a:blip>
            <a:stretch>
              <a:fillRect l="0" t="-108315" r="0" b="-108315"/>
            </a:stretch>
          </a:blipFill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280BDDA4-9CCA-40DA-8582-19B3DC0E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37276" y="2843127"/>
            <a:ext cx="3566160" cy="4674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3013"/>
              </a:lnSpc>
              <a:buNone/>
            </a:pPr>
            <a:r>
              <a:rPr sz="2325" spc="9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함수율</a:t>
            </a:r>
          </a:p>
        </p:txBody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30858BE4-718E-4B64-938D-4C84FBF8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50992" y="4124963"/>
            <a:ext cx="3538728" cy="2650712"/>
          </a:xfrm>
          <a:custGeom xmlns:a="http://schemas.openxmlformats.org/drawingml/2006/main">
            <a:rect l="l" t="t" r="r" b="b"/>
            <a:pathLst>
              <a:path w="4718304" h="3534283">
                <a:moveTo>
                  <a:pt x="0" y="0"/>
                </a:moveTo>
                <a:lnTo>
                  <a:pt x="4718304" y="0"/>
                </a:lnTo>
                <a:lnTo>
                  <a:pt x="4718304" y="3534283"/>
                </a:lnTo>
                <a:lnTo>
                  <a:pt x="0" y="353428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65c6d5d95754a81"/>
            <a:stretch>
              <a:fillRect l="0" t="0" r="0" b="1"/>
            </a:stretch>
          </a:blipFill>
        </p:spPr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0B157BCD-CAC4-4175-9A0C-756CC8B4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53384" y="2590714"/>
            <a:ext cx="3826383" cy="5033391"/>
          </a:xfrm>
          <a:custGeom xmlns:a="http://schemas.openxmlformats.org/drawingml/2006/main">
            <a:rect l="l" t="t" r="r" b="b"/>
            <a:pathLst>
              <a:path w="5101844" h="6711188">
                <a:moveTo>
                  <a:pt x="0" y="0"/>
                </a:moveTo>
                <a:lnTo>
                  <a:pt x="5101844" y="0"/>
                </a:lnTo>
                <a:lnTo>
                  <a:pt x="5101844" y="6711188"/>
                </a:lnTo>
                <a:lnTo>
                  <a:pt x="0" y="671118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DE3E9"/>
            </a:solidFill>
            <a:prstDash val="solid"/>
          </a:ln>
        </p:spPr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3FC1463E-8DB8-4EC6-AD0C-5A61081E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83496" y="2871702"/>
            <a:ext cx="3566160" cy="438912"/>
          </a:xfrm>
          <a:custGeom xmlns:a="http://schemas.openxmlformats.org/drawingml/2006/main">
            <a:rect l="l" t="t" r="r" b="b"/>
            <a:pathLst>
              <a:path w="4754880" h="585216">
                <a:moveTo>
                  <a:pt x="0" y="0"/>
                </a:moveTo>
                <a:lnTo>
                  <a:pt x="4754880" y="0"/>
                </a:lnTo>
                <a:lnTo>
                  <a:pt x="4754880" y="585216"/>
                </a:lnTo>
                <a:lnTo>
                  <a:pt x="0" y="58521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30a024789cd46a2">
              <a:alphaModFix amt="0"/>
            </a:blip>
            <a:stretch>
              <a:fillRect l="0" t="-108315" r="0" b="-108315"/>
            </a:stretch>
          </a:blip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53A86F30-92FE-42D5-859D-4D0DDDDB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83496" y="2843127"/>
            <a:ext cx="3566160" cy="4674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3013"/>
              </a:lnSpc>
              <a:buNone/>
            </a:pPr>
            <a:r>
              <a:rPr sz="2325" spc="9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수증기압</a:t>
            </a:r>
          </a:p>
        </p:txBody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924BFE42-513E-40A0-BF93-D91AC2AE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97212" y="4141508"/>
            <a:ext cx="3538728" cy="2617564"/>
          </a:xfrm>
          <a:custGeom xmlns:a="http://schemas.openxmlformats.org/drawingml/2006/main">
            <a:rect l="l" t="t" r="r" b="b"/>
            <a:pathLst>
              <a:path w="4718304" h="3490087">
                <a:moveTo>
                  <a:pt x="0" y="0"/>
                </a:moveTo>
                <a:lnTo>
                  <a:pt x="4718304" y="0"/>
                </a:lnTo>
                <a:lnTo>
                  <a:pt x="4718304" y="3490087"/>
                </a:lnTo>
                <a:lnTo>
                  <a:pt x="0" y="349008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6eddd05278144c5"/>
            <a:stretch>
              <a:fillRect l="0" t="0" r="0" b="-1"/>
            </a:stretch>
          </a:blipFill>
        </p:spPr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BA4E6745-43D5-4E10-93FD-21E623E9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99604" y="2590714"/>
            <a:ext cx="3826383" cy="5033391"/>
          </a:xfrm>
          <a:custGeom xmlns:a="http://schemas.openxmlformats.org/drawingml/2006/main">
            <a:rect l="l" t="t" r="r" b="b"/>
            <a:pathLst>
              <a:path w="5101844" h="6711188">
                <a:moveTo>
                  <a:pt x="0" y="0"/>
                </a:moveTo>
                <a:lnTo>
                  <a:pt x="5101844" y="0"/>
                </a:lnTo>
                <a:lnTo>
                  <a:pt x="5101844" y="6711188"/>
                </a:lnTo>
                <a:lnTo>
                  <a:pt x="0" y="671118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DE3E9"/>
            </a:solidFill>
            <a:prstDash val="solid"/>
          </a:ln>
        </p:spPr>
      </p:sp>
      <p:sp>
        <p:nvSpPr>
          <p:cNvPr id="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12F5F990-6B68-4BFD-A5DA-B769B3F5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29716" y="2871702"/>
            <a:ext cx="3566160" cy="438912"/>
          </a:xfrm>
          <a:custGeom xmlns:a="http://schemas.openxmlformats.org/drawingml/2006/main">
            <a:rect l="l" t="t" r="r" b="b"/>
            <a:pathLst>
              <a:path w="4754880" h="585216">
                <a:moveTo>
                  <a:pt x="0" y="0"/>
                </a:moveTo>
                <a:lnTo>
                  <a:pt x="4754880" y="0"/>
                </a:lnTo>
                <a:lnTo>
                  <a:pt x="4754880" y="585216"/>
                </a:lnTo>
                <a:lnTo>
                  <a:pt x="0" y="58521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30a024789cd46a2">
              <a:alphaModFix amt="0"/>
            </a:blip>
            <a:stretch>
              <a:fillRect l="0" t="-108315" r="0" b="-108315"/>
            </a:stretch>
          </a:blipFill>
        </p:spPr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FE49449F-7B05-406D-81C8-CE5977B6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29716" y="2857415"/>
            <a:ext cx="3566160" cy="453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566"/>
              </a:lnSpc>
              <a:buNone/>
            </a:pPr>
            <a:r>
              <a:rPr sz="1979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화학 포텐셜 에너지</a:t>
            </a:r>
          </a:p>
        </p:txBody>
      </p:sp>
      <p:sp>
        <p:nvSpPr>
          <p:cNvPr id="48" name="Freeform 48">
            <a:extLst xmlns:a="http://schemas.openxmlformats.org/drawingml/2006/main">
              <a:ext uri="{FF2B5EF4-FFF2-40B4-BE49-F238E27FC236}">
                <a16:creationId xmlns:a16="http://schemas.microsoft.com/office/drawing/2014/main" id="{5CA7846A-C53A-4CD4-BA52-4EF2BE34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43432" y="3709283"/>
            <a:ext cx="3538728" cy="3482054"/>
          </a:xfrm>
          <a:custGeom xmlns:a="http://schemas.openxmlformats.org/drawingml/2006/main">
            <a:rect l="l" t="t" r="r" b="b"/>
            <a:pathLst>
              <a:path w="4718304" h="4642739">
                <a:moveTo>
                  <a:pt x="0" y="0"/>
                </a:moveTo>
                <a:lnTo>
                  <a:pt x="4718304" y="0"/>
                </a:lnTo>
                <a:lnTo>
                  <a:pt x="4718304" y="4642739"/>
                </a:lnTo>
                <a:lnTo>
                  <a:pt x="0" y="464273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e7fd40c7fd746e7"/>
            <a:stretch>
              <a:fillRect l="0" t="0" r="0" b="0"/>
            </a:stretch>
          </a:blipFill>
        </p:spPr>
      </p:sp>
      <p:sp>
        <p:nvSpPr>
          <p:cNvPr id="50" name="Freeform 50">
            <a:extLst xmlns:a="http://schemas.openxmlformats.org/drawingml/2006/main">
              <a:ext uri="{FF2B5EF4-FFF2-40B4-BE49-F238E27FC236}">
                <a16:creationId xmlns:a16="http://schemas.microsoft.com/office/drawing/2014/main" id="{92AA1206-FFA8-415E-A0E0-12492A53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3435" y="9125331"/>
            <a:ext cx="16656558" cy="430530"/>
          </a:xfrm>
          <a:custGeom xmlns:a="http://schemas.openxmlformats.org/drawingml/2006/main">
            <a:rect l="l" t="t" r="r" b="b"/>
            <a:pathLst>
              <a:path w="22208744" h="574040">
                <a:moveTo>
                  <a:pt x="0" y="0"/>
                </a:moveTo>
                <a:lnTo>
                  <a:pt x="22208744" y="0"/>
                </a:lnTo>
                <a:lnTo>
                  <a:pt x="22208744" y="574040"/>
                </a:lnTo>
                <a:lnTo>
                  <a:pt x="0" y="574040"/>
                </a:lnTo>
                <a:close/>
              </a:path>
            </a:pathLst>
          </a:custGeom>
          <a:solidFill xmlns:a="http://schemas.openxmlformats.org/drawingml/2006/main">
            <a:srgbClr val="162B43"/>
          </a:solidFill>
        </p:spPr>
      </p:sp>
      <p:sp>
        <p:nvSpPr>
          <p:cNvPr id="52" name="Freeform 52">
            <a:extLst xmlns:a="http://schemas.openxmlformats.org/drawingml/2006/main">
              <a:ext uri="{FF2B5EF4-FFF2-40B4-BE49-F238E27FC236}">
                <a16:creationId xmlns:a16="http://schemas.microsoft.com/office/drawing/2014/main" id="{10481FEF-2027-4083-B697-520DA928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6132" y="9210294"/>
            <a:ext cx="1536192" cy="219456"/>
          </a:xfrm>
          <a:custGeom xmlns:a="http://schemas.openxmlformats.org/drawingml/2006/main">
            <a:rect l="l" t="t" r="r" b="b"/>
            <a:pathLst>
              <a:path w="2048256" h="292608">
                <a:moveTo>
                  <a:pt x="0" y="0"/>
                </a:moveTo>
                <a:lnTo>
                  <a:pt x="2048256" y="0"/>
                </a:lnTo>
                <a:lnTo>
                  <a:pt x="2048256" y="292608"/>
                </a:lnTo>
                <a:lnTo>
                  <a:pt x="0" y="29260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30a024789cd46a2">
              <a:alphaModFix amt="0"/>
            </a:blip>
            <a:stretch>
              <a:fillRect l="0" t="-86395" r="0" b="-86395"/>
            </a:stretch>
          </a:blipFill>
        </p:spPr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E243F600-B797-4584-83B1-4FF37BD3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6132" y="9196007"/>
            <a:ext cx="1536192" cy="2337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18"/>
              </a:lnSpc>
              <a:buNone/>
            </a:pPr>
            <a:r>
              <a:rPr sz="1635" spc="6">
                <a:solidFill>
                  <a:srgbClr val="C8D7E6"/>
                </a:solidFill>
                <a:latin typeface="Mandali"/>
                <a:ea typeface="Mandali"/>
                <a:cs typeface="Mandali"/>
              </a:rPr>
              <a:t>핵심 결과</a:t>
            </a:r>
          </a:p>
        </p:txBody>
      </p:sp>
      <p:sp>
        <p:nvSpPr>
          <p:cNvPr id="55" name="Freeform 55">
            <a:extLst xmlns:a="http://schemas.openxmlformats.org/drawingml/2006/main">
              <a:ext uri="{FF2B5EF4-FFF2-40B4-BE49-F238E27FC236}">
                <a16:creationId xmlns:a16="http://schemas.microsoft.com/office/drawing/2014/main" id="{F6E74469-9B90-4565-9068-E9FF29BD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70632" y="9196578"/>
            <a:ext cx="14374368" cy="274320"/>
          </a:xfrm>
          <a:custGeom xmlns:a="http://schemas.openxmlformats.org/drawingml/2006/main">
            <a:rect l="l" t="t" r="r" b="b"/>
            <a:pathLst>
              <a:path w="19165824" h="365760">
                <a:moveTo>
                  <a:pt x="0" y="0"/>
                </a:moveTo>
                <a:lnTo>
                  <a:pt x="19165824" y="0"/>
                </a:lnTo>
                <a:lnTo>
                  <a:pt x="19165824" y="365760"/>
                </a:lnTo>
                <a:lnTo>
                  <a:pt x="0" y="3657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30a024789cd46a2">
              <a:alphaModFix amt="0"/>
            </a:blip>
            <a:stretch>
              <a:fillRect l="0" t="-971016" r="0" b="-971016"/>
            </a:stretch>
          </a:blipFill>
        </p:spPr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F8FE4E48-069C-4AFE-AC2A-1FD9C00E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70632" y="9189435"/>
            <a:ext cx="14374368" cy="2814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88"/>
              </a:lnSpc>
              <a:buNone/>
            </a:pPr>
            <a:r>
              <a:rPr sz="1920" spc="7">
                <a:solidFill>
                  <a:srgbClr val="FFFFFF"/>
                </a:solidFill>
                <a:latin typeface="Mandali"/>
                <a:ea typeface="Mandali"/>
                <a:cs typeface="Mandali"/>
              </a:rPr>
              <a:t>수분 이동의 구동력 규명을 회귀분석으로 설명 시도.</a:t>
            </a:r>
          </a:p>
        </p:txBody>
      </p:sp>
      <p:sp>
        <p:nvSpPr>
          <p:cNvPr id="57" name="AutoShape 57">
            <a:extLst xmlns:a="http://schemas.openxmlformats.org/drawingml/2006/main">
              <a:ext uri="{FF2B5EF4-FFF2-40B4-BE49-F238E27FC236}">
                <a16:creationId xmlns:a16="http://schemas.microsoft.com/office/drawing/2014/main" id="{13A8DB3D-7EDB-4373-B8FE-3DA4A6EE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60">
            <a:off x="816293" y="9706166"/>
            <a:ext cx="16650853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9" name="Freeform 59">
            <a:extLst xmlns:a="http://schemas.openxmlformats.org/drawingml/2006/main">
              <a:ext uri="{FF2B5EF4-FFF2-40B4-BE49-F238E27FC236}">
                <a16:creationId xmlns:a16="http://schemas.microsoft.com/office/drawing/2014/main" id="{A55A9EED-3EA9-4699-B8CD-65A85401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13832" y="7694676"/>
            <a:ext cx="11905488" cy="1234440"/>
          </a:xfrm>
          <a:custGeom xmlns:a="http://schemas.openxmlformats.org/drawingml/2006/main">
            <a:rect l="l" t="t" r="r" b="b"/>
            <a:pathLst>
              <a:path w="15873985" h="1645920">
                <a:moveTo>
                  <a:pt x="0" y="0"/>
                </a:moveTo>
                <a:lnTo>
                  <a:pt x="15873985" y="0"/>
                </a:lnTo>
                <a:lnTo>
                  <a:pt x="15873985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30a024789cd46a2">
              <a:alphaModFix amt="0"/>
            </a:blip>
            <a:stretch>
              <a:fillRect l="0" t="-137922" r="0" b="-137922"/>
            </a:stretch>
          </a:blipFill>
        </p:spPr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EB34BB8A-9484-46EC-A5FE-BA33C11D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13832" y="7673245"/>
            <a:ext cx="11905488" cy="1255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688"/>
              </a:lnSpc>
              <a:buNone/>
            </a:pPr>
            <a:r>
              <a:rPr sz="1964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정상 상태 (steady-state) 에서 상대 습도 조건이 수분 분포 형태를 표현하는 데 중요한 요인이었다.</a:t>
            </a:r>
          </a:p>
          <a:p xmlns:a="http://schemas.openxmlformats.org/drawingml/2006/main">
            <a:pPr algn="l">
              <a:lnSpc>
                <a:spcPts val="2688"/>
              </a:lnSpc>
              <a:buNone/>
            </a:pPr>
            <a:r>
              <a:rPr sz="1964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정상 상태에서 정확한 확산 계수를 얻는다면, 비정상 상태(non-steady state) 조건에서 확산 계수를 확보할 수 있을 것이고, 확산계수를 활용해서 구동력을 규명할 수 있다.</a:t>
            </a:r>
          </a:p>
          <a:p xmlns:a="http://schemas.openxmlformats.org/drawingml/2006/main">
            <a:pPr algn="l">
              <a:lnSpc>
                <a:spcPts val="2688"/>
              </a:lnSpc>
              <a:buNone/>
            </a:pPr>
            <a:r>
              <a:rPr sz="1964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이 과정을 위해서 더욱 치밀한 실험 설계와 더 많은 데이터를 확보하는 것이 요구된다.</a:t>
            </a:r>
          </a:p>
        </p:txBody>
      </p:sp>
    </p:spTree>
    <p:extLst>
      <p:ext uri="{BB962C8B-B14F-4D97-AF65-F5344CB8AC3E}">
        <p14:creationId xmlns:p14="http://schemas.microsoft.com/office/powerpoint/2010/main" val="16634230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7051B834-3E55-4C9D-9DF7-DBB15BF1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960" y="493776"/>
            <a:ext cx="16596360" cy="301752"/>
          </a:xfrm>
          <a:custGeom xmlns:a="http://schemas.openxmlformats.org/drawingml/2006/main">
            <a:rect l="l" t="t" r="r" b="b"/>
            <a:pathLst>
              <a:path w="22128480" h="402336">
                <a:moveTo>
                  <a:pt x="0" y="0"/>
                </a:moveTo>
                <a:lnTo>
                  <a:pt x="22128480" y="0"/>
                </a:lnTo>
                <a:lnTo>
                  <a:pt x="22128480" y="402336"/>
                </a:lnTo>
                <a:lnTo>
                  <a:pt x="0" y="40233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952c83d69844d6">
              <a:alphaModFix amt="0"/>
            </a:blip>
            <a:stretch>
              <a:fillRect l="0" t="-1021677" r="0" b="-1021677"/>
            </a:stretch>
          </a:blip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CA08D1DD-9152-4118-952D-8627A5A8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960" y="486633"/>
            <a:ext cx="16596360" cy="308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99"/>
              </a:lnSpc>
              <a:buNone/>
            </a:pPr>
            <a:r>
              <a:rPr sz="1620" spc="126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03  /  SYSTEM DEVELOPMENT</a:t>
            </a: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7078ED47-1EDB-4C51-A0BC-5BB809D7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960" y="1124712"/>
            <a:ext cx="16596360" cy="685800"/>
          </a:xfrm>
          <a:custGeom xmlns:a="http://schemas.openxmlformats.org/drawingml/2006/main">
            <a:rect l="l" t="t" r="r" b="b"/>
            <a:pathLst>
              <a:path w="22128480" h="914400">
                <a:moveTo>
                  <a:pt x="0" y="0"/>
                </a:moveTo>
                <a:lnTo>
                  <a:pt x="22128480" y="0"/>
                </a:lnTo>
                <a:lnTo>
                  <a:pt x="22128480" y="914400"/>
                </a:lnTo>
                <a:lnTo>
                  <a:pt x="0" y="9144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952c83d69844d6">
              <a:alphaModFix amt="0"/>
            </a:blip>
            <a:stretch>
              <a:fillRect l="0" t="-421537" r="0" b="-421537"/>
            </a:stretch>
          </a:blip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B144193C-45B9-401C-AD5C-957F0A90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960" y="1096137"/>
            <a:ext cx="1659636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5248"/>
              </a:lnSpc>
              <a:buNone/>
            </a:pPr>
            <a:r>
              <a:rPr sz="4050" spc="15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로컬 LLM 기반 악성 코드 분석 시스템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3518E5C2-1153-4A97-BC06-3AE4C9DF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0392" y="1920240"/>
            <a:ext cx="16459200" cy="411480"/>
          </a:xfrm>
          <a:custGeom xmlns:a="http://schemas.openxmlformats.org/drawingml/2006/main">
            <a:rect l="l" t="t" r="r" b="b"/>
            <a:pathLst>
              <a:path w="21945600" h="548640">
                <a:moveTo>
                  <a:pt x="0" y="0"/>
                </a:moveTo>
                <a:lnTo>
                  <a:pt x="21945600" y="0"/>
                </a:lnTo>
                <a:lnTo>
                  <a:pt x="2194560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952c83d69844d6">
              <a:alphaModFix amt="0"/>
            </a:blip>
            <a:stretch>
              <a:fillRect l="0" t="-729401" r="0" b="-729401"/>
            </a:stretch>
          </a:blip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6C6769E2-66F5-429C-9E46-E169C5D3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0392" y="1913097"/>
            <a:ext cx="16459200" cy="4186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88"/>
              </a:lnSpc>
              <a:buNone/>
            </a:pPr>
            <a:r>
              <a:rPr sz="1920" spc="7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공개 프로젝트 구조를 프로젝트 요구에 맞게 재구성하고, 임의의 Python code를 테스트하는 프로토타입 구현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B0B2FDEE-7D01-4DBE-88B3-99E31DB0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6293" y="2750248"/>
            <a:ext cx="10506075" cy="6624447"/>
          </a:xfrm>
          <a:custGeom xmlns:a="http://schemas.openxmlformats.org/drawingml/2006/main">
            <a:rect l="l" t="t" r="r" b="b"/>
            <a:pathLst>
              <a:path w="14008100" h="8832596">
                <a:moveTo>
                  <a:pt x="0" y="0"/>
                </a:moveTo>
                <a:lnTo>
                  <a:pt x="14008100" y="0"/>
                </a:lnTo>
                <a:lnTo>
                  <a:pt x="14008100" y="8832596"/>
                </a:lnTo>
                <a:lnTo>
                  <a:pt x="0" y="883259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DE3E9"/>
            </a:solidFill>
            <a:prstDash val="solid"/>
          </a:ln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C50BC05E-C785-4EB9-B3B1-478CE95D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3292" y="3058668"/>
            <a:ext cx="9573768" cy="342900"/>
          </a:xfrm>
          <a:custGeom xmlns:a="http://schemas.openxmlformats.org/drawingml/2006/main">
            <a:rect l="l" t="t" r="r" b="b"/>
            <a:pathLst>
              <a:path w="12765024" h="457200">
                <a:moveTo>
                  <a:pt x="0" y="0"/>
                </a:moveTo>
                <a:lnTo>
                  <a:pt x="12765024" y="0"/>
                </a:lnTo>
                <a:lnTo>
                  <a:pt x="12765024" y="457200"/>
                </a:lnTo>
                <a:lnTo>
                  <a:pt x="0" y="4572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952c83d69844d6">
              <a:alphaModFix amt="0"/>
            </a:blip>
            <a:stretch>
              <a:fillRect l="0" t="-494022" r="0" b="-494022"/>
            </a:stretch>
          </a:blip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EB2665D9-B12D-49B7-B8C6-40C60E39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3292" y="3044381"/>
            <a:ext cx="9573768" cy="357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85"/>
              </a:lnSpc>
              <a:buNone/>
            </a:pPr>
            <a:r>
              <a:rPr sz="1995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개발 구조  |  핵심 처리 흐름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CDBE9E76-379C-4210-B90B-7145BA2D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0340" y="3902392"/>
            <a:ext cx="2591943" cy="932307"/>
          </a:xfrm>
          <a:custGeom xmlns:a="http://schemas.openxmlformats.org/drawingml/2006/main">
            <a:rect l="l" t="t" r="r" b="b"/>
            <a:pathLst>
              <a:path w="3455924" h="1243076">
                <a:moveTo>
                  <a:pt x="0" y="148463"/>
                </a:moveTo>
                <a:cubicBezTo>
                  <a:pt x="0" y="66421"/>
                  <a:pt x="66421" y="0"/>
                  <a:pt x="148463" y="0"/>
                </a:cubicBezTo>
                <a:lnTo>
                  <a:pt x="3307461" y="0"/>
                </a:lnTo>
                <a:cubicBezTo>
                  <a:pt x="3389376" y="0"/>
                  <a:pt x="3455924" y="66421"/>
                  <a:pt x="3455924" y="148463"/>
                </a:cubicBezTo>
                <a:lnTo>
                  <a:pt x="3455924" y="1094613"/>
                </a:lnTo>
                <a:cubicBezTo>
                  <a:pt x="3455924" y="1176528"/>
                  <a:pt x="3389503" y="1243076"/>
                  <a:pt x="3307461" y="1243076"/>
                </a:cubicBezTo>
                <a:lnTo>
                  <a:pt x="148463" y="1243076"/>
                </a:lnTo>
                <a:cubicBezTo>
                  <a:pt x="66421" y="1243076"/>
                  <a:pt x="0" y="1176655"/>
                  <a:pt x="0" y="1094613"/>
                </a:cubicBezTo>
                <a:close/>
              </a:path>
            </a:pathLst>
          </a:custGeom>
          <a:solidFill xmlns:a="http://schemas.openxmlformats.org/drawingml/2006/main">
            <a:srgbClr val="F0F3F6"/>
          </a:solidFill>
          <a:ln xmlns:a="http://schemas.openxmlformats.org/drawingml/2006/main" w="13335">
            <a:solidFill>
              <a:srgbClr val="DDE3E9"/>
            </a:solidFill>
            <a:prstDash val="solid"/>
          </a:ln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EFDC7A56-0657-4036-A25C-68A3FB99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6736" y="4032504"/>
            <a:ext cx="2359152" cy="370332"/>
          </a:xfrm>
          <a:custGeom xmlns:a="http://schemas.openxmlformats.org/drawingml/2006/main">
            <a:rect l="l" t="t" r="r" b="b"/>
            <a:pathLst>
              <a:path w="3145536" h="493776">
                <a:moveTo>
                  <a:pt x="0" y="0"/>
                </a:moveTo>
                <a:lnTo>
                  <a:pt x="3145536" y="0"/>
                </a:lnTo>
                <a:lnTo>
                  <a:pt x="3145536" y="493776"/>
                </a:lnTo>
                <a:lnTo>
                  <a:pt x="0" y="49377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952c83d69844d6">
              <a:alphaModFix amt="0"/>
            </a:blip>
            <a:stretch>
              <a:fillRect l="0" t="-74126" r="0" b="-74126"/>
            </a:stretch>
          </a:blip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ED109C61-D8D4-434C-A8D4-CA613042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6736" y="4011073"/>
            <a:ext cx="2359152" cy="391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507"/>
              </a:lnSpc>
              <a:buNone/>
            </a:pPr>
            <a:r>
              <a:rPr sz="1935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코드 · 기준 PDF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F707DDD8-3EDD-4F9F-8B48-4C3130F0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3020" y="4457700"/>
            <a:ext cx="2386584" cy="274320"/>
          </a:xfrm>
          <a:custGeom xmlns:a="http://schemas.openxmlformats.org/drawingml/2006/main">
            <a:rect l="l" t="t" r="r" b="b"/>
            <a:pathLst>
              <a:path w="3182112" h="365760">
                <a:moveTo>
                  <a:pt x="0" y="0"/>
                </a:moveTo>
                <a:lnTo>
                  <a:pt x="3182112" y="0"/>
                </a:lnTo>
                <a:lnTo>
                  <a:pt x="3182112" y="365760"/>
                </a:lnTo>
                <a:lnTo>
                  <a:pt x="0" y="3657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952c83d69844d6">
              <a:alphaModFix amt="0"/>
            </a:blip>
            <a:stretch>
              <a:fillRect l="0" t="-119519" r="0" b="-119519"/>
            </a:stretch>
          </a:blip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D50133C7-2E9C-4623-87A0-13C88618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3020" y="4443413"/>
            <a:ext cx="2386584" cy="2886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021"/>
              </a:lnSpc>
              <a:buNone/>
            </a:pPr>
            <a:r>
              <a:rPr sz="1560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입력 자료</a:t>
            </a:r>
          </a:p>
        </p:txBody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8B4DC1AD-D88B-4656-AD8A-2F4ED5AF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41304" y="3902392"/>
            <a:ext cx="2468499" cy="932307"/>
          </a:xfrm>
          <a:custGeom xmlns:a="http://schemas.openxmlformats.org/drawingml/2006/main">
            <a:rect l="l" t="t" r="r" b="b"/>
            <a:pathLst>
              <a:path w="3291332" h="1243076">
                <a:moveTo>
                  <a:pt x="0" y="148463"/>
                </a:moveTo>
                <a:cubicBezTo>
                  <a:pt x="0" y="66421"/>
                  <a:pt x="66421" y="0"/>
                  <a:pt x="148463" y="0"/>
                </a:cubicBezTo>
                <a:lnTo>
                  <a:pt x="3142869" y="0"/>
                </a:lnTo>
                <a:cubicBezTo>
                  <a:pt x="3224784" y="0"/>
                  <a:pt x="3291332" y="66421"/>
                  <a:pt x="3291332" y="148463"/>
                </a:cubicBezTo>
                <a:lnTo>
                  <a:pt x="3291332" y="1094613"/>
                </a:lnTo>
                <a:cubicBezTo>
                  <a:pt x="3291332" y="1176528"/>
                  <a:pt x="3224911" y="1243076"/>
                  <a:pt x="3142869" y="1243076"/>
                </a:cubicBezTo>
                <a:lnTo>
                  <a:pt x="148463" y="1243076"/>
                </a:lnTo>
                <a:cubicBezTo>
                  <a:pt x="66421" y="1243076"/>
                  <a:pt x="0" y="1176655"/>
                  <a:pt x="0" y="1094613"/>
                </a:cubicBezTo>
                <a:close/>
              </a:path>
            </a:pathLst>
          </a:custGeom>
          <a:solidFill xmlns:a="http://schemas.openxmlformats.org/drawingml/2006/main">
            <a:srgbClr val="EDF3FA"/>
          </a:solidFill>
          <a:ln xmlns:a="http://schemas.openxmlformats.org/drawingml/2006/main" w="13335">
            <a:solidFill>
              <a:srgbClr val="DDE3E9"/>
            </a:solidFill>
            <a:prstDash val="solid"/>
          </a:ln>
        </p:spPr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3AABD685-D4D2-4049-81E3-0736A140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57700" y="4032504"/>
            <a:ext cx="2235708" cy="370332"/>
          </a:xfrm>
          <a:custGeom xmlns:a="http://schemas.openxmlformats.org/drawingml/2006/main">
            <a:rect l="l" t="t" r="r" b="b"/>
            <a:pathLst>
              <a:path w="2980944" h="493776">
                <a:moveTo>
                  <a:pt x="0" y="0"/>
                </a:moveTo>
                <a:lnTo>
                  <a:pt x="2980944" y="0"/>
                </a:lnTo>
                <a:lnTo>
                  <a:pt x="2980944" y="493776"/>
                </a:lnTo>
                <a:lnTo>
                  <a:pt x="0" y="49377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952c83d69844d6">
              <a:alphaModFix amt="0"/>
            </a:blip>
            <a:stretch>
              <a:fillRect l="0" t="-67631" r="0" b="-67631"/>
            </a:stretch>
          </a:blipFill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47FE1C44-A188-4E45-A9EB-7641482A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57700" y="4011073"/>
            <a:ext cx="2235708" cy="391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507"/>
              </a:lnSpc>
              <a:buNone/>
            </a:pPr>
            <a:r>
              <a:rPr sz="1935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MCP Server</a:t>
            </a: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1785ABFE-050A-4CE4-A409-CEFD6490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3984" y="4457700"/>
            <a:ext cx="2263140" cy="274320"/>
          </a:xfrm>
          <a:custGeom xmlns:a="http://schemas.openxmlformats.org/drawingml/2006/main">
            <a:rect l="l" t="t" r="r" b="b"/>
            <a:pathLst>
              <a:path w="3017520" h="365760">
                <a:moveTo>
                  <a:pt x="0" y="0"/>
                </a:moveTo>
                <a:lnTo>
                  <a:pt x="3017520" y="0"/>
                </a:lnTo>
                <a:lnTo>
                  <a:pt x="3017520" y="365760"/>
                </a:lnTo>
                <a:lnTo>
                  <a:pt x="0" y="3657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952c83d69844d6">
              <a:alphaModFix amt="0"/>
            </a:blip>
            <a:stretch>
              <a:fillRect l="0" t="-110751" r="0" b="-110751"/>
            </a:stretch>
          </a:blipFill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A5E3C69D-19A5-4838-B5A8-98A6BC7A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3984" y="4443413"/>
            <a:ext cx="2263140" cy="2886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021"/>
              </a:lnSpc>
              <a:buNone/>
            </a:pPr>
            <a:r>
              <a:rPr sz="1560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Jadx-ai-mcp</a:t>
            </a:r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208A9CD5-8A43-42CC-BA82-25ED2362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58825" y="3902392"/>
            <a:ext cx="3387471" cy="932307"/>
          </a:xfrm>
          <a:custGeom xmlns:a="http://schemas.openxmlformats.org/drawingml/2006/main">
            <a:rect l="l" t="t" r="r" b="b"/>
            <a:pathLst>
              <a:path w="4516628" h="1243076">
                <a:moveTo>
                  <a:pt x="0" y="148463"/>
                </a:moveTo>
                <a:cubicBezTo>
                  <a:pt x="0" y="66421"/>
                  <a:pt x="66421" y="0"/>
                  <a:pt x="148463" y="0"/>
                </a:cubicBezTo>
                <a:lnTo>
                  <a:pt x="4368165" y="0"/>
                </a:lnTo>
                <a:cubicBezTo>
                  <a:pt x="4450080" y="0"/>
                  <a:pt x="4516628" y="66421"/>
                  <a:pt x="4516628" y="148463"/>
                </a:cubicBezTo>
                <a:lnTo>
                  <a:pt x="4516628" y="1094613"/>
                </a:lnTo>
                <a:cubicBezTo>
                  <a:pt x="4516628" y="1176528"/>
                  <a:pt x="4450207" y="1243076"/>
                  <a:pt x="4368165" y="1243076"/>
                </a:cubicBezTo>
                <a:lnTo>
                  <a:pt x="148463" y="1243076"/>
                </a:lnTo>
                <a:cubicBezTo>
                  <a:pt x="66421" y="1243076"/>
                  <a:pt x="0" y="1176655"/>
                  <a:pt x="0" y="1094613"/>
                </a:cubicBezTo>
                <a:close/>
              </a:path>
            </a:pathLst>
          </a:custGeom>
          <a:solidFill xmlns:a="http://schemas.openxmlformats.org/drawingml/2006/main">
            <a:srgbClr val="EDF3FA"/>
          </a:solidFill>
          <a:ln xmlns:a="http://schemas.openxmlformats.org/drawingml/2006/main" w="13335">
            <a:solidFill>
              <a:srgbClr val="DDE3E9"/>
            </a:solidFill>
            <a:prstDash val="solid"/>
          </a:ln>
        </p:spPr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EE38878E-88BE-4645-AA86-A7B596E0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75220" y="4032504"/>
            <a:ext cx="3154680" cy="370332"/>
          </a:xfrm>
          <a:custGeom xmlns:a="http://schemas.openxmlformats.org/drawingml/2006/main">
            <a:rect l="l" t="t" r="r" b="b"/>
            <a:pathLst>
              <a:path w="4206240" h="493776">
                <a:moveTo>
                  <a:pt x="0" y="0"/>
                </a:moveTo>
                <a:lnTo>
                  <a:pt x="4206240" y="0"/>
                </a:lnTo>
                <a:lnTo>
                  <a:pt x="4206240" y="493776"/>
                </a:lnTo>
                <a:lnTo>
                  <a:pt x="0" y="49377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952c83d69844d6">
              <a:alphaModFix amt="0"/>
            </a:blip>
            <a:stretch>
              <a:fillRect l="0" t="-115983" r="0" b="-115983"/>
            </a:stretch>
          </a:blipFill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A1D0D5D9-3500-4FB5-8936-A0DC1AC4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75220" y="4011073"/>
            <a:ext cx="3154680" cy="391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507"/>
              </a:lnSpc>
              <a:buNone/>
            </a:pPr>
            <a:r>
              <a:rPr sz="1935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Remediation Service</a:t>
            </a: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E260767D-F14A-4100-AE79-6EC1041C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61504" y="4457700"/>
            <a:ext cx="3182112" cy="274320"/>
          </a:xfrm>
          <a:custGeom xmlns:a="http://schemas.openxmlformats.org/drawingml/2006/main">
            <a:rect l="l" t="t" r="r" b="b"/>
            <a:pathLst>
              <a:path w="4242816" h="365760">
                <a:moveTo>
                  <a:pt x="0" y="0"/>
                </a:moveTo>
                <a:lnTo>
                  <a:pt x="4242816" y="0"/>
                </a:lnTo>
                <a:lnTo>
                  <a:pt x="4242816" y="365760"/>
                </a:lnTo>
                <a:lnTo>
                  <a:pt x="0" y="3657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952c83d69844d6">
              <a:alphaModFix amt="0"/>
            </a:blip>
            <a:stretch>
              <a:fillRect l="0" t="-176026" r="0" b="-176026"/>
            </a:stretch>
          </a:blip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56898D13-A388-4656-8DEB-C57C1F96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61504" y="4443413"/>
            <a:ext cx="3182112" cy="2886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021"/>
              </a:lnSpc>
              <a:buNone/>
            </a:pPr>
            <a:r>
              <a:rPr sz="1560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호출 · 결과 조정</a:t>
            </a:r>
          </a:p>
        </p:txBody>
      </p:sp>
      <p:sp>
        <p:nvSpPr>
          <p:cNvPr id="40" name="AutoShape 40">
            <a:extLst xmlns:a="http://schemas.openxmlformats.org/drawingml/2006/main">
              <a:ext uri="{FF2B5EF4-FFF2-40B4-BE49-F238E27FC236}">
                <a16:creationId xmlns:a16="http://schemas.microsoft.com/office/drawing/2014/main" id="{8145A53A-AF0E-4863-B92E-6A79CFA8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1240">
            <a:off x="3814020" y="4356926"/>
            <a:ext cx="423253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859A6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1" name="AutoShape 41">
            <a:extLst xmlns:a="http://schemas.openxmlformats.org/drawingml/2006/main">
              <a:ext uri="{FF2B5EF4-FFF2-40B4-BE49-F238E27FC236}">
                <a16:creationId xmlns:a16="http://schemas.microsoft.com/office/drawing/2014/main" id="{5EDC2A89-1CBF-4DFB-9840-C8F27E88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1240">
            <a:off x="6831540" y="4356926"/>
            <a:ext cx="423253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859A6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2" name="AutoShape 42">
            <a:extLst xmlns:a="http://schemas.openxmlformats.org/drawingml/2006/main">
              <a:ext uri="{FF2B5EF4-FFF2-40B4-BE49-F238E27FC236}">
                <a16:creationId xmlns:a16="http://schemas.microsoft.com/office/drawing/2014/main" id="{534C5F19-818A-42D3-BD9C-38FA5495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09380">
            <a:off x="8849763" y="5029010"/>
            <a:ext cx="378152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859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3" name="AutoShape 43">
            <a:extLst xmlns:a="http://schemas.openxmlformats.org/drawingml/2006/main">
              <a:ext uri="{FF2B5EF4-FFF2-40B4-BE49-F238E27FC236}">
                <a16:creationId xmlns:a16="http://schemas.microsoft.com/office/drawing/2014/main" id="{BDFC4AAF-B696-41B6-BB3D-AD698112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780">
            <a:off x="2293791" y="5207318"/>
            <a:ext cx="7386476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859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B47743D2-EC7A-420B-9BB8-9A9A92C7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85316" y="4882896"/>
            <a:ext cx="3223260" cy="233172"/>
          </a:xfrm>
          <a:custGeom xmlns:a="http://schemas.openxmlformats.org/drawingml/2006/main">
            <a:rect l="l" t="t" r="r" b="b"/>
            <a:pathLst>
              <a:path w="4297680" h="310896">
                <a:moveTo>
                  <a:pt x="0" y="0"/>
                </a:moveTo>
                <a:lnTo>
                  <a:pt x="4297680" y="0"/>
                </a:lnTo>
                <a:lnTo>
                  <a:pt x="4297680" y="310896"/>
                </a:lnTo>
                <a:lnTo>
                  <a:pt x="0" y="31089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952c83d69844d6">
              <a:alphaModFix amt="0"/>
            </a:blip>
            <a:stretch>
              <a:fillRect l="0" t="-219352" r="0" b="-219352"/>
            </a:stretch>
          </a:blipFill>
        </p:spPr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4CE3AB38-B85D-4A42-970C-0FC3725A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85316" y="4875753"/>
            <a:ext cx="3223260" cy="2403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07"/>
              </a:lnSpc>
              <a:buNone/>
            </a:pPr>
            <a:r>
              <a:rPr sz="1395" spc="5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A2A / gRPC</a:t>
            </a:r>
          </a:p>
        </p:txBody>
      </p:sp>
      <p:sp>
        <p:nvSpPr>
          <p:cNvPr id="47" name="AutoShape 47">
            <a:extLst xmlns:a="http://schemas.openxmlformats.org/drawingml/2006/main">
              <a:ext uri="{FF2B5EF4-FFF2-40B4-BE49-F238E27FC236}">
                <a16:creationId xmlns:a16="http://schemas.microsoft.com/office/drawing/2014/main" id="{7947807F-61E8-45B3-82A1-305A51AC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77100">
            <a:off x="2157298" y="5344478"/>
            <a:ext cx="293989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859A6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9" name="Freeform 49">
            <a:extLst xmlns:a="http://schemas.openxmlformats.org/drawingml/2006/main">
              <a:ext uri="{FF2B5EF4-FFF2-40B4-BE49-F238E27FC236}">
                <a16:creationId xmlns:a16="http://schemas.microsoft.com/office/drawing/2014/main" id="{325B25A0-1440-44C0-A987-E219DCD0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0340" y="5534596"/>
            <a:ext cx="2194179" cy="1014603"/>
          </a:xfrm>
          <a:custGeom xmlns:a="http://schemas.openxmlformats.org/drawingml/2006/main">
            <a:rect l="l" t="t" r="r" b="b"/>
            <a:pathLst>
              <a:path w="2925572" h="1352804">
                <a:moveTo>
                  <a:pt x="0" y="148209"/>
                </a:moveTo>
                <a:cubicBezTo>
                  <a:pt x="0" y="66421"/>
                  <a:pt x="66421" y="0"/>
                  <a:pt x="148209" y="0"/>
                </a:cubicBezTo>
                <a:lnTo>
                  <a:pt x="2777363" y="0"/>
                </a:lnTo>
                <a:cubicBezTo>
                  <a:pt x="2859278" y="0"/>
                  <a:pt x="2925572" y="66421"/>
                  <a:pt x="2925572" y="148209"/>
                </a:cubicBezTo>
                <a:lnTo>
                  <a:pt x="2925572" y="1204595"/>
                </a:lnTo>
                <a:cubicBezTo>
                  <a:pt x="2925572" y="1286510"/>
                  <a:pt x="2859151" y="1352804"/>
                  <a:pt x="2777363" y="1352804"/>
                </a:cubicBezTo>
                <a:lnTo>
                  <a:pt x="148209" y="1352804"/>
                </a:lnTo>
                <a:cubicBezTo>
                  <a:pt x="66421" y="1352804"/>
                  <a:pt x="0" y="1286383"/>
                  <a:pt x="0" y="120459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DE3E9"/>
            </a:solidFill>
            <a:prstDash val="solid"/>
          </a:ln>
        </p:spPr>
      </p:sp>
      <p:sp>
        <p:nvSpPr>
          <p:cNvPr id="51" name="Freeform 51">
            <a:extLst xmlns:a="http://schemas.openxmlformats.org/drawingml/2006/main">
              <a:ext uri="{FF2B5EF4-FFF2-40B4-BE49-F238E27FC236}">
                <a16:creationId xmlns:a16="http://schemas.microsoft.com/office/drawing/2014/main" id="{A80885A7-1057-4B32-B032-7BEB8E5C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6736" y="5664708"/>
            <a:ext cx="1961388" cy="370332"/>
          </a:xfrm>
          <a:custGeom xmlns:a="http://schemas.openxmlformats.org/drawingml/2006/main">
            <a:rect l="l" t="t" r="r" b="b"/>
            <a:pathLst>
              <a:path w="2615184" h="493776">
                <a:moveTo>
                  <a:pt x="0" y="0"/>
                </a:moveTo>
                <a:lnTo>
                  <a:pt x="2615184" y="0"/>
                </a:lnTo>
                <a:lnTo>
                  <a:pt x="2615184" y="493776"/>
                </a:lnTo>
                <a:lnTo>
                  <a:pt x="0" y="49377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952c83d69844d6">
              <a:alphaModFix amt="0"/>
            </a:blip>
            <a:stretch>
              <a:fillRect l="0" t="-53198" r="0" b="-53198"/>
            </a:stretch>
          </a:blipFill>
        </p:spPr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0CB15E8B-5E6B-46E4-9D54-81C64F98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6736" y="5643277"/>
            <a:ext cx="1961388" cy="391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507"/>
              </a:lnSpc>
              <a:buNone/>
            </a:pPr>
            <a:r>
              <a:rPr sz="1935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Quick</a:t>
            </a:r>
          </a:p>
        </p:txBody>
      </p:sp>
      <p:sp>
        <p:nvSpPr>
          <p:cNvPr id="54" name="Freeform 54">
            <a:extLst xmlns:a="http://schemas.openxmlformats.org/drawingml/2006/main">
              <a:ext uri="{FF2B5EF4-FFF2-40B4-BE49-F238E27FC236}">
                <a16:creationId xmlns:a16="http://schemas.microsoft.com/office/drawing/2014/main" id="{45BD9378-E21F-4695-924B-5EE36D6A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3020" y="6089904"/>
            <a:ext cx="1988820" cy="274320"/>
          </a:xfrm>
          <a:custGeom xmlns:a="http://schemas.openxmlformats.org/drawingml/2006/main">
            <a:rect l="l" t="t" r="r" b="b"/>
            <a:pathLst>
              <a:path w="2651760" h="365760">
                <a:moveTo>
                  <a:pt x="0" y="0"/>
                </a:moveTo>
                <a:lnTo>
                  <a:pt x="2651760" y="0"/>
                </a:lnTo>
                <a:lnTo>
                  <a:pt x="2651760" y="365760"/>
                </a:lnTo>
                <a:lnTo>
                  <a:pt x="0" y="3657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952c83d69844d6">
              <a:alphaModFix amt="0"/>
            </a:blip>
            <a:stretch>
              <a:fillRect l="0" t="-91266" r="0" b="-91266"/>
            </a:stretch>
          </a:blipFill>
        </p:spPr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3EC6F01A-1F3B-4035-8E1A-0BC64830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3020" y="6075617"/>
            <a:ext cx="1988820" cy="2886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021"/>
              </a:lnSpc>
              <a:buNone/>
            </a:pPr>
            <a:r>
              <a:rPr sz="1560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패턴 검사</a:t>
            </a:r>
          </a:p>
        </p:txBody>
      </p:sp>
      <p:sp>
        <p:nvSpPr>
          <p:cNvPr id="56" name="AutoShape 56">
            <a:extLst xmlns:a="http://schemas.openxmlformats.org/drawingml/2006/main">
              <a:ext uri="{FF2B5EF4-FFF2-40B4-BE49-F238E27FC236}">
                <a16:creationId xmlns:a16="http://schemas.microsoft.com/office/drawing/2014/main" id="{C0D928A3-92AE-4CF0-A0CA-F313520A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98040">
            <a:off x="2158308" y="6688646"/>
            <a:ext cx="29197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66728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7" name="AutoShape 57">
            <a:extLst xmlns:a="http://schemas.openxmlformats.org/drawingml/2006/main">
              <a:ext uri="{FF2B5EF4-FFF2-40B4-BE49-F238E27FC236}">
                <a16:creationId xmlns:a16="http://schemas.microsoft.com/office/drawing/2014/main" id="{B9B3801F-1C92-4C37-BB14-C3E9AFAD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77100">
            <a:off x="4612462" y="5344478"/>
            <a:ext cx="293989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859A6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59" name="Freeform 59">
            <a:extLst xmlns:a="http://schemas.openxmlformats.org/drawingml/2006/main">
              <a:ext uri="{FF2B5EF4-FFF2-40B4-BE49-F238E27FC236}">
                <a16:creationId xmlns:a16="http://schemas.microsoft.com/office/drawing/2014/main" id="{C3019E48-AFC5-4BFE-BC9E-E67C4B71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55504" y="5534596"/>
            <a:ext cx="2194179" cy="1014603"/>
          </a:xfrm>
          <a:custGeom xmlns:a="http://schemas.openxmlformats.org/drawingml/2006/main">
            <a:rect l="l" t="t" r="r" b="b"/>
            <a:pathLst>
              <a:path w="2925572" h="1352804">
                <a:moveTo>
                  <a:pt x="0" y="148209"/>
                </a:moveTo>
                <a:cubicBezTo>
                  <a:pt x="0" y="66421"/>
                  <a:pt x="66421" y="0"/>
                  <a:pt x="148209" y="0"/>
                </a:cubicBezTo>
                <a:lnTo>
                  <a:pt x="2777363" y="0"/>
                </a:lnTo>
                <a:cubicBezTo>
                  <a:pt x="2859278" y="0"/>
                  <a:pt x="2925572" y="66421"/>
                  <a:pt x="2925572" y="148209"/>
                </a:cubicBezTo>
                <a:lnTo>
                  <a:pt x="2925572" y="1204595"/>
                </a:lnTo>
                <a:cubicBezTo>
                  <a:pt x="2925572" y="1286510"/>
                  <a:pt x="2859151" y="1352804"/>
                  <a:pt x="2777363" y="1352804"/>
                </a:cubicBezTo>
                <a:lnTo>
                  <a:pt x="148209" y="1352804"/>
                </a:lnTo>
                <a:cubicBezTo>
                  <a:pt x="66421" y="1352804"/>
                  <a:pt x="0" y="1286383"/>
                  <a:pt x="0" y="120459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DE3E9"/>
            </a:solidFill>
            <a:prstDash val="solid"/>
          </a:ln>
        </p:spPr>
      </p:sp>
      <p:sp>
        <p:nvSpPr>
          <p:cNvPr id="61" name="Freeform 61">
            <a:extLst xmlns:a="http://schemas.openxmlformats.org/drawingml/2006/main">
              <a:ext uri="{FF2B5EF4-FFF2-40B4-BE49-F238E27FC236}">
                <a16:creationId xmlns:a16="http://schemas.microsoft.com/office/drawing/2014/main" id="{7AB9A402-24EB-4469-A65E-FB6B2094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71900" y="5664708"/>
            <a:ext cx="1961388" cy="370332"/>
          </a:xfrm>
          <a:custGeom xmlns:a="http://schemas.openxmlformats.org/drawingml/2006/main">
            <a:rect l="l" t="t" r="r" b="b"/>
            <a:pathLst>
              <a:path w="2615184" h="493776">
                <a:moveTo>
                  <a:pt x="0" y="0"/>
                </a:moveTo>
                <a:lnTo>
                  <a:pt x="2615184" y="0"/>
                </a:lnTo>
                <a:lnTo>
                  <a:pt x="2615184" y="493776"/>
                </a:lnTo>
                <a:lnTo>
                  <a:pt x="0" y="49377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952c83d69844d6">
              <a:alphaModFix amt="0"/>
            </a:blip>
            <a:stretch>
              <a:fillRect l="0" t="-53198" r="0" b="-53198"/>
            </a:stretch>
          </a:blipFill>
        </p:spPr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A4619C30-31DC-470D-ABEC-8841BC4E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71900" y="5643277"/>
            <a:ext cx="1961388" cy="391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507"/>
              </a:lnSpc>
              <a:buNone/>
            </a:pPr>
            <a:r>
              <a:rPr sz="1935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Secrets</a:t>
            </a:r>
          </a:p>
        </p:txBody>
      </p:sp>
      <p:sp>
        <p:nvSpPr>
          <p:cNvPr id="64" name="Freeform 64">
            <a:extLst xmlns:a="http://schemas.openxmlformats.org/drawingml/2006/main">
              <a:ext uri="{FF2B5EF4-FFF2-40B4-BE49-F238E27FC236}">
                <a16:creationId xmlns:a16="http://schemas.microsoft.com/office/drawing/2014/main" id="{8F92099E-2861-49AE-A4CD-2D7A1E43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58184" y="6089904"/>
            <a:ext cx="1988820" cy="274320"/>
          </a:xfrm>
          <a:custGeom xmlns:a="http://schemas.openxmlformats.org/drawingml/2006/main">
            <a:rect l="l" t="t" r="r" b="b"/>
            <a:pathLst>
              <a:path w="2651760" h="365760">
                <a:moveTo>
                  <a:pt x="0" y="0"/>
                </a:moveTo>
                <a:lnTo>
                  <a:pt x="2651760" y="0"/>
                </a:lnTo>
                <a:lnTo>
                  <a:pt x="2651760" y="365760"/>
                </a:lnTo>
                <a:lnTo>
                  <a:pt x="0" y="3657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952c83d69844d6">
              <a:alphaModFix amt="0"/>
            </a:blip>
            <a:stretch>
              <a:fillRect l="0" t="-91266" r="0" b="-91266"/>
            </a:stretch>
          </a:blipFill>
        </p:spPr>
      </p:sp>
      <p:sp>
        <p:nvSpPr>
          <p:cNvPr id="65" name="TextBox 65">
            <a:extLst xmlns:a="http://schemas.openxmlformats.org/drawingml/2006/main">
              <a:ext uri="{FF2B5EF4-FFF2-40B4-BE49-F238E27FC236}">
                <a16:creationId xmlns:a16="http://schemas.microsoft.com/office/drawing/2014/main" id="{ECE6AB3E-ED24-439B-BCA3-CA3FD144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58184" y="6075617"/>
            <a:ext cx="1988820" cy="2886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021"/>
              </a:lnSpc>
              <a:buNone/>
            </a:pPr>
            <a:r>
              <a:rPr sz="1560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시크릿 탐지</a:t>
            </a:r>
          </a:p>
        </p:txBody>
      </p:sp>
      <p:sp>
        <p:nvSpPr>
          <p:cNvPr id="66" name="AutoShape 66">
            <a:extLst xmlns:a="http://schemas.openxmlformats.org/drawingml/2006/main">
              <a:ext uri="{FF2B5EF4-FFF2-40B4-BE49-F238E27FC236}">
                <a16:creationId xmlns:a16="http://schemas.microsoft.com/office/drawing/2014/main" id="{B767A435-AFAF-4CDF-AE80-14E7319A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98040">
            <a:off x="4613472" y="6688646"/>
            <a:ext cx="29197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66728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7" name="AutoShape 67">
            <a:extLst xmlns:a="http://schemas.openxmlformats.org/drawingml/2006/main">
              <a:ext uri="{FF2B5EF4-FFF2-40B4-BE49-F238E27FC236}">
                <a16:creationId xmlns:a16="http://schemas.microsoft.com/office/drawing/2014/main" id="{D8619C2E-4EFD-4C49-BD5F-A42F001F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77100">
            <a:off x="7067626" y="5344478"/>
            <a:ext cx="293989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859A6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69" name="Freeform 69">
            <a:extLst xmlns:a="http://schemas.openxmlformats.org/drawingml/2006/main">
              <a:ext uri="{FF2B5EF4-FFF2-40B4-BE49-F238E27FC236}">
                <a16:creationId xmlns:a16="http://schemas.microsoft.com/office/drawing/2014/main" id="{C1180F81-B145-4C1C-B796-60685AE8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10668" y="5534596"/>
            <a:ext cx="2194179" cy="1014603"/>
          </a:xfrm>
          <a:custGeom xmlns:a="http://schemas.openxmlformats.org/drawingml/2006/main">
            <a:rect l="l" t="t" r="r" b="b"/>
            <a:pathLst>
              <a:path w="2925572" h="1352804">
                <a:moveTo>
                  <a:pt x="0" y="148209"/>
                </a:moveTo>
                <a:cubicBezTo>
                  <a:pt x="0" y="66421"/>
                  <a:pt x="66421" y="0"/>
                  <a:pt x="148209" y="0"/>
                </a:cubicBezTo>
                <a:lnTo>
                  <a:pt x="2777363" y="0"/>
                </a:lnTo>
                <a:cubicBezTo>
                  <a:pt x="2859278" y="0"/>
                  <a:pt x="2925572" y="66421"/>
                  <a:pt x="2925572" y="148209"/>
                </a:cubicBezTo>
                <a:lnTo>
                  <a:pt x="2925572" y="1204595"/>
                </a:lnTo>
                <a:cubicBezTo>
                  <a:pt x="2925572" y="1286510"/>
                  <a:pt x="2859151" y="1352804"/>
                  <a:pt x="2777363" y="1352804"/>
                </a:cubicBezTo>
                <a:lnTo>
                  <a:pt x="148209" y="1352804"/>
                </a:lnTo>
                <a:cubicBezTo>
                  <a:pt x="66421" y="1352804"/>
                  <a:pt x="0" y="1286383"/>
                  <a:pt x="0" y="120459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DE3E9"/>
            </a:solidFill>
            <a:prstDash val="solid"/>
          </a:ln>
        </p:spPr>
      </p:sp>
      <p:sp>
        <p:nvSpPr>
          <p:cNvPr id="71" name="Freeform 71">
            <a:extLst xmlns:a="http://schemas.openxmlformats.org/drawingml/2006/main">
              <a:ext uri="{FF2B5EF4-FFF2-40B4-BE49-F238E27FC236}">
                <a16:creationId xmlns:a16="http://schemas.microsoft.com/office/drawing/2014/main" id="{C574ED12-C024-4BBE-8F3E-20CF6D94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27064" y="5664708"/>
            <a:ext cx="1961388" cy="370332"/>
          </a:xfrm>
          <a:custGeom xmlns:a="http://schemas.openxmlformats.org/drawingml/2006/main">
            <a:rect l="l" t="t" r="r" b="b"/>
            <a:pathLst>
              <a:path w="2615184" h="493776">
                <a:moveTo>
                  <a:pt x="0" y="0"/>
                </a:moveTo>
                <a:lnTo>
                  <a:pt x="2615184" y="0"/>
                </a:lnTo>
                <a:lnTo>
                  <a:pt x="2615184" y="493776"/>
                </a:lnTo>
                <a:lnTo>
                  <a:pt x="0" y="49377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952c83d69844d6">
              <a:alphaModFix amt="0"/>
            </a:blip>
            <a:stretch>
              <a:fillRect l="0" t="-53198" r="0" b="-53198"/>
            </a:stretch>
          </a:blipFill>
        </p:spPr>
      </p:sp>
      <p:sp>
        <p:nvSpPr>
          <p:cNvPr id="72" name="TextBox 72">
            <a:extLst xmlns:a="http://schemas.openxmlformats.org/drawingml/2006/main">
              <a:ext uri="{FF2B5EF4-FFF2-40B4-BE49-F238E27FC236}">
                <a16:creationId xmlns:a16="http://schemas.microsoft.com/office/drawing/2014/main" id="{C757A975-B6BB-4708-B47A-7D3E1A45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27064" y="5643277"/>
            <a:ext cx="1961388" cy="391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507"/>
              </a:lnSpc>
              <a:buNone/>
            </a:pPr>
            <a:r>
              <a:rPr sz="1935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Static</a:t>
            </a:r>
          </a:p>
        </p:txBody>
      </p:sp>
      <p:sp>
        <p:nvSpPr>
          <p:cNvPr id="74" name="Freeform 74">
            <a:extLst xmlns:a="http://schemas.openxmlformats.org/drawingml/2006/main">
              <a:ext uri="{FF2B5EF4-FFF2-40B4-BE49-F238E27FC236}">
                <a16:creationId xmlns:a16="http://schemas.microsoft.com/office/drawing/2014/main" id="{5897A523-9A89-430A-BB86-2BD7574C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3348" y="6089904"/>
            <a:ext cx="1988820" cy="274320"/>
          </a:xfrm>
          <a:custGeom xmlns:a="http://schemas.openxmlformats.org/drawingml/2006/main">
            <a:rect l="l" t="t" r="r" b="b"/>
            <a:pathLst>
              <a:path w="2651760" h="365760">
                <a:moveTo>
                  <a:pt x="0" y="0"/>
                </a:moveTo>
                <a:lnTo>
                  <a:pt x="2651760" y="0"/>
                </a:lnTo>
                <a:lnTo>
                  <a:pt x="2651760" y="365760"/>
                </a:lnTo>
                <a:lnTo>
                  <a:pt x="0" y="3657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952c83d69844d6">
              <a:alphaModFix amt="0"/>
            </a:blip>
            <a:stretch>
              <a:fillRect l="0" t="-91266" r="0" b="-91266"/>
            </a:stretch>
          </a:blipFill>
        </p:spPr>
      </p:sp>
      <p:sp>
        <p:nvSpPr>
          <p:cNvPr id="75" name="TextBox 75">
            <a:extLst xmlns:a="http://schemas.openxmlformats.org/drawingml/2006/main">
              <a:ext uri="{FF2B5EF4-FFF2-40B4-BE49-F238E27FC236}">
                <a16:creationId xmlns:a16="http://schemas.microsoft.com/office/drawing/2014/main" id="{A62D8FAD-483E-4B90-A072-7F60EFDA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3348" y="6075617"/>
            <a:ext cx="1988820" cy="2886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021"/>
              </a:lnSpc>
              <a:buNone/>
            </a:pPr>
            <a:r>
              <a:rPr sz="1560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정적 분석</a:t>
            </a:r>
          </a:p>
        </p:txBody>
      </p:sp>
      <p:sp>
        <p:nvSpPr>
          <p:cNvPr id="76" name="AutoShape 76">
            <a:extLst xmlns:a="http://schemas.openxmlformats.org/drawingml/2006/main">
              <a:ext uri="{FF2B5EF4-FFF2-40B4-BE49-F238E27FC236}">
                <a16:creationId xmlns:a16="http://schemas.microsoft.com/office/drawing/2014/main" id="{A760EF7A-C752-4804-90C5-99D3A68C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98040">
            <a:off x="7068636" y="6688646"/>
            <a:ext cx="29197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66728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7" name="AutoShape 77">
            <a:extLst xmlns:a="http://schemas.openxmlformats.org/drawingml/2006/main">
              <a:ext uri="{FF2B5EF4-FFF2-40B4-BE49-F238E27FC236}">
                <a16:creationId xmlns:a16="http://schemas.microsoft.com/office/drawing/2014/main" id="{224B7345-A4A0-4246-BE17-508816B1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77100">
            <a:off x="9522790" y="5344478"/>
            <a:ext cx="293989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859A6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79" name="Freeform 79">
            <a:extLst xmlns:a="http://schemas.openxmlformats.org/drawingml/2006/main">
              <a:ext uri="{FF2B5EF4-FFF2-40B4-BE49-F238E27FC236}">
                <a16:creationId xmlns:a16="http://schemas.microsoft.com/office/drawing/2014/main" id="{F823C940-19C8-4A59-8F3D-CF5C1419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65832" y="5534596"/>
            <a:ext cx="2194179" cy="1014603"/>
          </a:xfrm>
          <a:custGeom xmlns:a="http://schemas.openxmlformats.org/drawingml/2006/main">
            <a:rect l="l" t="t" r="r" b="b"/>
            <a:pathLst>
              <a:path w="2925572" h="1352804">
                <a:moveTo>
                  <a:pt x="0" y="148209"/>
                </a:moveTo>
                <a:cubicBezTo>
                  <a:pt x="0" y="66421"/>
                  <a:pt x="66421" y="0"/>
                  <a:pt x="148209" y="0"/>
                </a:cubicBezTo>
                <a:lnTo>
                  <a:pt x="2777363" y="0"/>
                </a:lnTo>
                <a:cubicBezTo>
                  <a:pt x="2859278" y="0"/>
                  <a:pt x="2925572" y="66421"/>
                  <a:pt x="2925572" y="148209"/>
                </a:cubicBezTo>
                <a:lnTo>
                  <a:pt x="2925572" y="1204595"/>
                </a:lnTo>
                <a:cubicBezTo>
                  <a:pt x="2925572" y="1286510"/>
                  <a:pt x="2859151" y="1352804"/>
                  <a:pt x="2777363" y="1352804"/>
                </a:cubicBezTo>
                <a:lnTo>
                  <a:pt x="148209" y="1352804"/>
                </a:lnTo>
                <a:cubicBezTo>
                  <a:pt x="66421" y="1352804"/>
                  <a:pt x="0" y="1286383"/>
                  <a:pt x="0" y="120459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DE3E9"/>
            </a:solidFill>
            <a:prstDash val="solid"/>
          </a:ln>
        </p:spPr>
      </p:sp>
      <p:sp>
        <p:nvSpPr>
          <p:cNvPr id="81" name="Freeform 81">
            <a:extLst xmlns:a="http://schemas.openxmlformats.org/drawingml/2006/main">
              <a:ext uri="{FF2B5EF4-FFF2-40B4-BE49-F238E27FC236}">
                <a16:creationId xmlns:a16="http://schemas.microsoft.com/office/drawing/2014/main" id="{A92DD8C8-5A26-4A7F-9C49-CC7E9600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82228" y="5664708"/>
            <a:ext cx="1961388" cy="370332"/>
          </a:xfrm>
          <a:custGeom xmlns:a="http://schemas.openxmlformats.org/drawingml/2006/main">
            <a:rect l="l" t="t" r="r" b="b"/>
            <a:pathLst>
              <a:path w="2615184" h="493776">
                <a:moveTo>
                  <a:pt x="0" y="0"/>
                </a:moveTo>
                <a:lnTo>
                  <a:pt x="2615184" y="0"/>
                </a:lnTo>
                <a:lnTo>
                  <a:pt x="2615184" y="493776"/>
                </a:lnTo>
                <a:lnTo>
                  <a:pt x="0" y="49377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952c83d69844d6">
              <a:alphaModFix amt="0"/>
            </a:blip>
            <a:stretch>
              <a:fillRect l="0" t="-53198" r="0" b="-53198"/>
            </a:stretch>
          </a:blipFill>
        </p:spPr>
      </p:sp>
      <p:sp>
        <p:nvSpPr>
          <p:cNvPr id="82" name="TextBox 82">
            <a:extLst xmlns:a="http://schemas.openxmlformats.org/drawingml/2006/main">
              <a:ext uri="{FF2B5EF4-FFF2-40B4-BE49-F238E27FC236}">
                <a16:creationId xmlns:a16="http://schemas.microsoft.com/office/drawing/2014/main" id="{3DB6B76E-328D-4CD5-90D6-70EE8E61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82228" y="5643277"/>
            <a:ext cx="1961388" cy="391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507"/>
              </a:lnSpc>
              <a:buNone/>
            </a:pPr>
            <a:r>
              <a:rPr sz="1935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Criteria</a:t>
            </a:r>
          </a:p>
        </p:txBody>
      </p:sp>
      <p:sp>
        <p:nvSpPr>
          <p:cNvPr id="84" name="Freeform 84">
            <a:extLst xmlns:a="http://schemas.openxmlformats.org/drawingml/2006/main">
              <a:ext uri="{FF2B5EF4-FFF2-40B4-BE49-F238E27FC236}">
                <a16:creationId xmlns:a16="http://schemas.microsoft.com/office/drawing/2014/main" id="{736D9660-866F-45EA-81BC-4E141D72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68512" y="6089904"/>
            <a:ext cx="1988820" cy="274320"/>
          </a:xfrm>
          <a:custGeom xmlns:a="http://schemas.openxmlformats.org/drawingml/2006/main">
            <a:rect l="l" t="t" r="r" b="b"/>
            <a:pathLst>
              <a:path w="2651760" h="365760">
                <a:moveTo>
                  <a:pt x="0" y="0"/>
                </a:moveTo>
                <a:lnTo>
                  <a:pt x="2651760" y="0"/>
                </a:lnTo>
                <a:lnTo>
                  <a:pt x="2651760" y="365760"/>
                </a:lnTo>
                <a:lnTo>
                  <a:pt x="0" y="3657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952c83d69844d6">
              <a:alphaModFix amt="0"/>
            </a:blip>
            <a:stretch>
              <a:fillRect l="0" t="-91266" r="0" b="-91266"/>
            </a:stretch>
          </a:blipFill>
        </p:spPr>
      </p:sp>
      <p:sp>
        <p:nvSpPr>
          <p:cNvPr id="85" name="TextBox 85">
            <a:extLst xmlns:a="http://schemas.openxmlformats.org/drawingml/2006/main">
              <a:ext uri="{FF2B5EF4-FFF2-40B4-BE49-F238E27FC236}">
                <a16:creationId xmlns:a16="http://schemas.microsoft.com/office/drawing/2014/main" id="{EBD118FA-906E-4B85-9230-2BD646FD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68512" y="6075617"/>
            <a:ext cx="1988820" cy="2886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021"/>
              </a:lnSpc>
              <a:buNone/>
            </a:pPr>
            <a:r>
              <a:rPr sz="1560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PDF 기준 추출</a:t>
            </a:r>
          </a:p>
        </p:txBody>
      </p:sp>
      <p:sp>
        <p:nvSpPr>
          <p:cNvPr id="86" name="AutoShape 86">
            <a:extLst xmlns:a="http://schemas.openxmlformats.org/drawingml/2006/main">
              <a:ext uri="{FF2B5EF4-FFF2-40B4-BE49-F238E27FC236}">
                <a16:creationId xmlns:a16="http://schemas.microsoft.com/office/drawing/2014/main" id="{979022D7-C122-44B3-A641-6570EF26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98040">
            <a:off x="9523800" y="6688646"/>
            <a:ext cx="29197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66728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7" name="AutoShape 87">
            <a:extLst xmlns:a="http://schemas.openxmlformats.org/drawingml/2006/main">
              <a:ext uri="{FF2B5EF4-FFF2-40B4-BE49-F238E27FC236}">
                <a16:creationId xmlns:a16="http://schemas.microsoft.com/office/drawing/2014/main" id="{31700563-536B-4747-8240-AA6FC6AF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980">
            <a:off x="2295706" y="6825806"/>
            <a:ext cx="7382656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66728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8" name="AutoShape 88">
            <a:extLst xmlns:a="http://schemas.openxmlformats.org/drawingml/2006/main">
              <a:ext uri="{FF2B5EF4-FFF2-40B4-BE49-F238E27FC236}">
                <a16:creationId xmlns:a16="http://schemas.microsoft.com/office/drawing/2014/main" id="{D4E476B5-FE7B-4733-9B92-16D1C689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67200">
            <a:off x="2478624" y="6969824"/>
            <a:ext cx="30970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859A6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90" name="Freeform 90">
            <a:extLst xmlns:a="http://schemas.openxmlformats.org/drawingml/2006/main">
              <a:ext uri="{FF2B5EF4-FFF2-40B4-BE49-F238E27FC236}">
                <a16:creationId xmlns:a16="http://schemas.microsoft.com/office/drawing/2014/main" id="{762955B8-E4C6-48E0-BA73-A973E58A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0340" y="7194232"/>
            <a:ext cx="2907411" cy="1069562"/>
          </a:xfrm>
          <a:custGeom xmlns:a="http://schemas.openxmlformats.org/drawingml/2006/main">
            <a:rect l="l" t="t" r="r" b="b"/>
            <a:pathLst>
              <a:path w="3876548" h="1426083">
                <a:moveTo>
                  <a:pt x="0" y="148209"/>
                </a:moveTo>
                <a:cubicBezTo>
                  <a:pt x="0" y="66294"/>
                  <a:pt x="66294" y="0"/>
                  <a:pt x="148209" y="0"/>
                </a:cubicBezTo>
                <a:lnTo>
                  <a:pt x="3728339" y="0"/>
                </a:lnTo>
                <a:cubicBezTo>
                  <a:pt x="3810127" y="0"/>
                  <a:pt x="3876548" y="66294"/>
                  <a:pt x="3876548" y="148209"/>
                </a:cubicBezTo>
                <a:lnTo>
                  <a:pt x="3876548" y="1277874"/>
                </a:lnTo>
                <a:cubicBezTo>
                  <a:pt x="3876548" y="1359662"/>
                  <a:pt x="3810254" y="1426083"/>
                  <a:pt x="3728339" y="1426083"/>
                </a:cubicBezTo>
                <a:lnTo>
                  <a:pt x="148209" y="1426083"/>
                </a:lnTo>
                <a:cubicBezTo>
                  <a:pt x="66294" y="1425956"/>
                  <a:pt x="0" y="1359662"/>
                  <a:pt x="0" y="1277747"/>
                </a:cubicBezTo>
                <a:close/>
              </a:path>
            </a:pathLst>
          </a:custGeom>
          <a:solidFill xmlns:a="http://schemas.openxmlformats.org/drawingml/2006/main">
            <a:srgbClr val="EDF3FA"/>
          </a:solidFill>
          <a:ln xmlns:a="http://schemas.openxmlformats.org/drawingml/2006/main" w="13335">
            <a:solidFill>
              <a:srgbClr val="DDE3E9"/>
            </a:solidFill>
            <a:prstDash val="solid"/>
          </a:ln>
        </p:spPr>
      </p:sp>
      <p:sp>
        <p:nvSpPr>
          <p:cNvPr id="92" name="Freeform 92">
            <a:extLst xmlns:a="http://schemas.openxmlformats.org/drawingml/2006/main">
              <a:ext uri="{FF2B5EF4-FFF2-40B4-BE49-F238E27FC236}">
                <a16:creationId xmlns:a16="http://schemas.microsoft.com/office/drawing/2014/main" id="{14658C86-24EB-42A2-8CBA-BBF2E653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6736" y="7324344"/>
            <a:ext cx="2674620" cy="370332"/>
          </a:xfrm>
          <a:custGeom xmlns:a="http://schemas.openxmlformats.org/drawingml/2006/main">
            <a:rect l="l" t="t" r="r" b="b"/>
            <a:pathLst>
              <a:path w="3566160" h="493776">
                <a:moveTo>
                  <a:pt x="0" y="0"/>
                </a:moveTo>
                <a:lnTo>
                  <a:pt x="3566160" y="0"/>
                </a:lnTo>
                <a:lnTo>
                  <a:pt x="3566160" y="493776"/>
                </a:lnTo>
                <a:lnTo>
                  <a:pt x="0" y="49377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952c83d69844d6">
              <a:alphaModFix amt="0"/>
            </a:blip>
            <a:stretch>
              <a:fillRect l="0" t="-90725" r="0" b="-90725"/>
            </a:stretch>
          </a:blipFill>
        </p:spPr>
      </p:sp>
      <p:sp>
        <p:nvSpPr>
          <p:cNvPr id="93" name="TextBox 93">
            <a:extLst xmlns:a="http://schemas.openxmlformats.org/drawingml/2006/main">
              <a:ext uri="{FF2B5EF4-FFF2-40B4-BE49-F238E27FC236}">
                <a16:creationId xmlns:a16="http://schemas.microsoft.com/office/drawing/2014/main" id="{05F2C89A-2D1D-41D3-91A9-83033C5C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6736" y="7302913"/>
            <a:ext cx="2674620" cy="391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507"/>
              </a:lnSpc>
              <a:buNone/>
            </a:pPr>
            <a:r>
              <a:rPr sz="1935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로컬 LLM</a:t>
            </a:r>
          </a:p>
        </p:txBody>
      </p:sp>
      <p:sp>
        <p:nvSpPr>
          <p:cNvPr id="95" name="Freeform 95">
            <a:extLst xmlns:a="http://schemas.openxmlformats.org/drawingml/2006/main">
              <a:ext uri="{FF2B5EF4-FFF2-40B4-BE49-F238E27FC236}">
                <a16:creationId xmlns:a16="http://schemas.microsoft.com/office/drawing/2014/main" id="{66FB02BE-4C90-4DE1-9509-D685233F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3020" y="7749540"/>
            <a:ext cx="2702052" cy="274320"/>
          </a:xfrm>
          <a:custGeom xmlns:a="http://schemas.openxmlformats.org/drawingml/2006/main">
            <a:rect l="l" t="t" r="r" b="b"/>
            <a:pathLst>
              <a:path w="3602736" h="365760">
                <a:moveTo>
                  <a:pt x="0" y="0"/>
                </a:moveTo>
                <a:lnTo>
                  <a:pt x="3602736" y="0"/>
                </a:lnTo>
                <a:lnTo>
                  <a:pt x="3602736" y="365760"/>
                </a:lnTo>
                <a:lnTo>
                  <a:pt x="0" y="3657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952c83d69844d6">
              <a:alphaModFix amt="0"/>
            </a:blip>
            <a:stretch>
              <a:fillRect l="0" t="-141927" r="0" b="-141927"/>
            </a:stretch>
          </a:blipFill>
        </p:spPr>
      </p:sp>
      <p:sp>
        <p:nvSpPr>
          <p:cNvPr id="96" name="TextBox 96">
            <a:extLst xmlns:a="http://schemas.openxmlformats.org/drawingml/2006/main">
              <a:ext uri="{FF2B5EF4-FFF2-40B4-BE49-F238E27FC236}">
                <a16:creationId xmlns:a16="http://schemas.microsoft.com/office/drawing/2014/main" id="{1773F4DC-0E3C-4517-A8FF-010856BA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3020" y="7735253"/>
            <a:ext cx="2702052" cy="2886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021"/>
              </a:lnSpc>
              <a:buNone/>
            </a:pPr>
            <a:r>
              <a:rPr sz="1560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종합 분석 · 수정</a:t>
            </a:r>
          </a:p>
        </p:txBody>
      </p:sp>
      <p:sp>
        <p:nvSpPr>
          <p:cNvPr id="98" name="Freeform 98">
            <a:extLst xmlns:a="http://schemas.openxmlformats.org/drawingml/2006/main">
              <a:ext uri="{FF2B5EF4-FFF2-40B4-BE49-F238E27FC236}">
                <a16:creationId xmlns:a16="http://schemas.microsoft.com/office/drawing/2014/main" id="{773F2C8E-AAA5-4143-9AA5-BB8D63EF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56772" y="7194232"/>
            <a:ext cx="2907411" cy="1069562"/>
          </a:xfrm>
          <a:custGeom xmlns:a="http://schemas.openxmlformats.org/drawingml/2006/main">
            <a:rect l="l" t="t" r="r" b="b"/>
            <a:pathLst>
              <a:path w="3876548" h="1426083">
                <a:moveTo>
                  <a:pt x="0" y="148209"/>
                </a:moveTo>
                <a:cubicBezTo>
                  <a:pt x="0" y="66294"/>
                  <a:pt x="66294" y="0"/>
                  <a:pt x="148209" y="0"/>
                </a:cubicBezTo>
                <a:lnTo>
                  <a:pt x="3728339" y="0"/>
                </a:lnTo>
                <a:cubicBezTo>
                  <a:pt x="3810127" y="0"/>
                  <a:pt x="3876548" y="66294"/>
                  <a:pt x="3876548" y="148209"/>
                </a:cubicBezTo>
                <a:lnTo>
                  <a:pt x="3876548" y="1277874"/>
                </a:lnTo>
                <a:cubicBezTo>
                  <a:pt x="3876548" y="1359662"/>
                  <a:pt x="3810254" y="1426083"/>
                  <a:pt x="3728339" y="1426083"/>
                </a:cubicBezTo>
                <a:lnTo>
                  <a:pt x="148209" y="1426083"/>
                </a:lnTo>
                <a:cubicBezTo>
                  <a:pt x="66294" y="1425956"/>
                  <a:pt x="0" y="1359662"/>
                  <a:pt x="0" y="1277747"/>
                </a:cubicBezTo>
                <a:close/>
              </a:path>
            </a:pathLst>
          </a:custGeom>
          <a:solidFill xmlns:a="http://schemas.openxmlformats.org/drawingml/2006/main">
            <a:srgbClr val="EDF3FA"/>
          </a:solidFill>
          <a:ln xmlns:a="http://schemas.openxmlformats.org/drawingml/2006/main" w="13335">
            <a:solidFill>
              <a:srgbClr val="DDE3E9"/>
            </a:solidFill>
            <a:prstDash val="solid"/>
          </a:ln>
        </p:spPr>
      </p:sp>
      <p:sp>
        <p:nvSpPr>
          <p:cNvPr id="100" name="Freeform 100">
            <a:extLst xmlns:a="http://schemas.openxmlformats.org/drawingml/2006/main">
              <a:ext uri="{FF2B5EF4-FFF2-40B4-BE49-F238E27FC236}">
                <a16:creationId xmlns:a16="http://schemas.microsoft.com/office/drawing/2014/main" id="{B938D79A-9F58-4894-B826-4DED796F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3168" y="7324344"/>
            <a:ext cx="2674620" cy="370332"/>
          </a:xfrm>
          <a:custGeom xmlns:a="http://schemas.openxmlformats.org/drawingml/2006/main">
            <a:rect l="l" t="t" r="r" b="b"/>
            <a:pathLst>
              <a:path w="3566160" h="493776">
                <a:moveTo>
                  <a:pt x="0" y="0"/>
                </a:moveTo>
                <a:lnTo>
                  <a:pt x="3566160" y="0"/>
                </a:lnTo>
                <a:lnTo>
                  <a:pt x="3566160" y="493776"/>
                </a:lnTo>
                <a:lnTo>
                  <a:pt x="0" y="49377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952c83d69844d6">
              <a:alphaModFix amt="0"/>
            </a:blip>
            <a:stretch>
              <a:fillRect l="0" t="-90725" r="0" b="-90725"/>
            </a:stretch>
          </a:blipFill>
        </p:spPr>
      </p:sp>
      <p:sp>
        <p:nvSpPr>
          <p:cNvPr id="101" name="TextBox 101">
            <a:extLst xmlns:a="http://schemas.openxmlformats.org/drawingml/2006/main">
              <a:ext uri="{FF2B5EF4-FFF2-40B4-BE49-F238E27FC236}">
                <a16:creationId xmlns:a16="http://schemas.microsoft.com/office/drawing/2014/main" id="{8BA0F337-A077-401A-9FA1-69BBB3A4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3168" y="7302913"/>
            <a:ext cx="2674620" cy="391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507"/>
              </a:lnSpc>
              <a:buNone/>
            </a:pPr>
            <a:r>
              <a:rPr sz="1935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Summary Agent</a:t>
            </a:r>
          </a:p>
        </p:txBody>
      </p:sp>
      <p:sp>
        <p:nvSpPr>
          <p:cNvPr id="103" name="Freeform 103">
            <a:extLst xmlns:a="http://schemas.openxmlformats.org/drawingml/2006/main">
              <a:ext uri="{FF2B5EF4-FFF2-40B4-BE49-F238E27FC236}">
                <a16:creationId xmlns:a16="http://schemas.microsoft.com/office/drawing/2014/main" id="{D1FFD698-9AB3-4CD0-AE5F-647FA576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9452" y="7749540"/>
            <a:ext cx="2702052" cy="274320"/>
          </a:xfrm>
          <a:custGeom xmlns:a="http://schemas.openxmlformats.org/drawingml/2006/main">
            <a:rect l="l" t="t" r="r" b="b"/>
            <a:pathLst>
              <a:path w="3602736" h="365760">
                <a:moveTo>
                  <a:pt x="0" y="0"/>
                </a:moveTo>
                <a:lnTo>
                  <a:pt x="3602736" y="0"/>
                </a:lnTo>
                <a:lnTo>
                  <a:pt x="3602736" y="365760"/>
                </a:lnTo>
                <a:lnTo>
                  <a:pt x="0" y="3657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952c83d69844d6">
              <a:alphaModFix amt="0"/>
            </a:blip>
            <a:stretch>
              <a:fillRect l="0" t="-141927" r="0" b="-141927"/>
            </a:stretch>
          </a:blipFill>
        </p:spPr>
      </p:sp>
      <p:sp>
        <p:nvSpPr>
          <p:cNvPr id="104" name="TextBox 104">
            <a:extLst xmlns:a="http://schemas.openxmlformats.org/drawingml/2006/main">
              <a:ext uri="{FF2B5EF4-FFF2-40B4-BE49-F238E27FC236}">
                <a16:creationId xmlns:a16="http://schemas.microsoft.com/office/drawing/2014/main" id="{0A4B5D2C-D44D-47D4-BBD9-3DD94BE1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9452" y="7735253"/>
            <a:ext cx="2702052" cy="2886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021"/>
              </a:lnSpc>
              <a:buNone/>
            </a:pPr>
            <a:r>
              <a:rPr sz="1560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리포트 생성</a:t>
            </a:r>
          </a:p>
        </p:txBody>
      </p:sp>
      <p:sp>
        <p:nvSpPr>
          <p:cNvPr id="106" name="Freeform 106">
            <a:extLst xmlns:a="http://schemas.openxmlformats.org/drawingml/2006/main">
              <a:ext uri="{FF2B5EF4-FFF2-40B4-BE49-F238E27FC236}">
                <a16:creationId xmlns:a16="http://schemas.microsoft.com/office/drawing/2014/main" id="{80AE1C6D-8CA9-488C-B886-260CE9A5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99488" y="7194232"/>
            <a:ext cx="2633091" cy="1069562"/>
          </a:xfrm>
          <a:custGeom xmlns:a="http://schemas.openxmlformats.org/drawingml/2006/main">
            <a:rect l="l" t="t" r="r" b="b"/>
            <a:pathLst>
              <a:path w="3510788" h="1426083">
                <a:moveTo>
                  <a:pt x="0" y="148209"/>
                </a:moveTo>
                <a:cubicBezTo>
                  <a:pt x="0" y="66294"/>
                  <a:pt x="66294" y="0"/>
                  <a:pt x="148209" y="0"/>
                </a:cubicBezTo>
                <a:lnTo>
                  <a:pt x="3362579" y="0"/>
                </a:lnTo>
                <a:cubicBezTo>
                  <a:pt x="3444367" y="0"/>
                  <a:pt x="3510788" y="66294"/>
                  <a:pt x="3510788" y="148209"/>
                </a:cubicBezTo>
                <a:lnTo>
                  <a:pt x="3510788" y="1277874"/>
                </a:lnTo>
                <a:cubicBezTo>
                  <a:pt x="3510788" y="1359662"/>
                  <a:pt x="3444494" y="1426083"/>
                  <a:pt x="3362579" y="1426083"/>
                </a:cubicBezTo>
                <a:lnTo>
                  <a:pt x="148209" y="1426083"/>
                </a:lnTo>
                <a:cubicBezTo>
                  <a:pt x="66294" y="1425956"/>
                  <a:pt x="0" y="1359662"/>
                  <a:pt x="0" y="1277747"/>
                </a:cubicBezTo>
                <a:close/>
              </a:path>
            </a:pathLst>
          </a:custGeom>
          <a:solidFill xmlns:a="http://schemas.openxmlformats.org/drawingml/2006/main">
            <a:srgbClr val="EDF3FA"/>
          </a:solidFill>
          <a:ln xmlns:a="http://schemas.openxmlformats.org/drawingml/2006/main" w="13335">
            <a:solidFill>
              <a:srgbClr val="DDE3E9"/>
            </a:solidFill>
            <a:prstDash val="solid"/>
          </a:ln>
        </p:spPr>
      </p:sp>
      <p:sp>
        <p:nvSpPr>
          <p:cNvPr id="108" name="Freeform 108">
            <a:extLst xmlns:a="http://schemas.openxmlformats.org/drawingml/2006/main">
              <a:ext uri="{FF2B5EF4-FFF2-40B4-BE49-F238E27FC236}">
                <a16:creationId xmlns:a16="http://schemas.microsoft.com/office/drawing/2014/main" id="{FD5CA822-F2C4-4319-8A10-A25D2B16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15884" y="7324344"/>
            <a:ext cx="2400300" cy="370332"/>
          </a:xfrm>
          <a:custGeom xmlns:a="http://schemas.openxmlformats.org/drawingml/2006/main">
            <a:rect l="l" t="t" r="r" b="b"/>
            <a:pathLst>
              <a:path w="3200400" h="493776">
                <a:moveTo>
                  <a:pt x="0" y="0"/>
                </a:moveTo>
                <a:lnTo>
                  <a:pt x="3200400" y="0"/>
                </a:lnTo>
                <a:lnTo>
                  <a:pt x="3200400" y="493776"/>
                </a:lnTo>
                <a:lnTo>
                  <a:pt x="0" y="49377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952c83d69844d6">
              <a:alphaModFix amt="0"/>
            </a:blip>
            <a:stretch>
              <a:fillRect l="0" t="-76291" r="0" b="-76291"/>
            </a:stretch>
          </a:blipFill>
        </p:spPr>
      </p:sp>
      <p:sp>
        <p:nvSpPr>
          <p:cNvPr id="109" name="TextBox 109">
            <a:extLst xmlns:a="http://schemas.openxmlformats.org/drawingml/2006/main">
              <a:ext uri="{FF2B5EF4-FFF2-40B4-BE49-F238E27FC236}">
                <a16:creationId xmlns:a16="http://schemas.microsoft.com/office/drawing/2014/main" id="{639B0A5F-0134-4D12-9C96-6FA5C845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15884" y="7302913"/>
            <a:ext cx="2400300" cy="391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507"/>
              </a:lnSpc>
              <a:buNone/>
            </a:pPr>
            <a:r>
              <a:rPr sz="1935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결과 반환</a:t>
            </a:r>
          </a:p>
        </p:txBody>
      </p:sp>
      <p:sp>
        <p:nvSpPr>
          <p:cNvPr id="111" name="Freeform 111">
            <a:extLst xmlns:a="http://schemas.openxmlformats.org/drawingml/2006/main">
              <a:ext uri="{FF2B5EF4-FFF2-40B4-BE49-F238E27FC236}">
                <a16:creationId xmlns:a16="http://schemas.microsoft.com/office/drawing/2014/main" id="{0EB0540D-983E-463E-BD84-4F200500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2168" y="7749540"/>
            <a:ext cx="2427732" cy="274320"/>
          </a:xfrm>
          <a:custGeom xmlns:a="http://schemas.openxmlformats.org/drawingml/2006/main">
            <a:rect l="l" t="t" r="r" b="b"/>
            <a:pathLst>
              <a:path w="3236976" h="365760">
                <a:moveTo>
                  <a:pt x="0" y="0"/>
                </a:moveTo>
                <a:lnTo>
                  <a:pt x="3236976" y="0"/>
                </a:lnTo>
                <a:lnTo>
                  <a:pt x="3236976" y="365760"/>
                </a:lnTo>
                <a:lnTo>
                  <a:pt x="0" y="3657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952c83d69844d6">
              <a:alphaModFix amt="0"/>
            </a:blip>
            <a:stretch>
              <a:fillRect l="0" t="-122442" r="0" b="-122442"/>
            </a:stretch>
          </a:blipFill>
        </p:spPr>
      </p:sp>
      <p:sp>
        <p:nvSpPr>
          <p:cNvPr id="112" name="TextBox 112">
            <a:extLst xmlns:a="http://schemas.openxmlformats.org/drawingml/2006/main">
              <a:ext uri="{FF2B5EF4-FFF2-40B4-BE49-F238E27FC236}">
                <a16:creationId xmlns:a16="http://schemas.microsoft.com/office/drawing/2014/main" id="{8F0FEE10-4DFB-442B-AA11-1A5842ED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2168" y="7735253"/>
            <a:ext cx="2427732" cy="2886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021"/>
              </a:lnSpc>
              <a:buNone/>
            </a:pPr>
            <a:r>
              <a:rPr sz="1560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요약 · 코드 · 경로</a:t>
            </a:r>
          </a:p>
        </p:txBody>
      </p:sp>
      <p:sp>
        <p:nvSpPr>
          <p:cNvPr id="113" name="AutoShape 113">
            <a:extLst xmlns:a="http://schemas.openxmlformats.org/drawingml/2006/main">
              <a:ext uri="{FF2B5EF4-FFF2-40B4-BE49-F238E27FC236}">
                <a16:creationId xmlns:a16="http://schemas.microsoft.com/office/drawing/2014/main" id="{6E943A88-0D6B-4895-B8BB-BBF8F028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1240">
            <a:off x="4129488" y="7717346"/>
            <a:ext cx="423253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859A6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14" name="AutoShape 114">
            <a:extLst xmlns:a="http://schemas.openxmlformats.org/drawingml/2006/main">
              <a:ext uri="{FF2B5EF4-FFF2-40B4-BE49-F238E27FC236}">
                <a16:creationId xmlns:a16="http://schemas.microsoft.com/office/drawing/2014/main" id="{CBB1268D-240E-42D3-92AA-E610961C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1240">
            <a:off x="7585920" y="7717346"/>
            <a:ext cx="423253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859A6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16" name="Freeform 116">
            <a:extLst xmlns:a="http://schemas.openxmlformats.org/drawingml/2006/main">
              <a:ext uri="{FF2B5EF4-FFF2-40B4-BE49-F238E27FC236}">
                <a16:creationId xmlns:a16="http://schemas.microsoft.com/office/drawing/2014/main" id="{40439F3B-4767-4FC8-8909-887A1035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7008" y="8737092"/>
            <a:ext cx="9532620" cy="301752"/>
          </a:xfrm>
          <a:custGeom xmlns:a="http://schemas.openxmlformats.org/drawingml/2006/main">
            <a:rect l="l" t="t" r="r" b="b"/>
            <a:pathLst>
              <a:path w="12710160" h="402336">
                <a:moveTo>
                  <a:pt x="0" y="0"/>
                </a:moveTo>
                <a:lnTo>
                  <a:pt x="12710160" y="0"/>
                </a:lnTo>
                <a:lnTo>
                  <a:pt x="12710160" y="402336"/>
                </a:lnTo>
                <a:lnTo>
                  <a:pt x="0" y="40233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952c83d69844d6">
              <a:alphaModFix amt="0"/>
            </a:blip>
            <a:stretch>
              <a:fillRect l="0" t="-565550" r="0" b="-565550"/>
            </a:stretch>
          </a:blipFill>
        </p:spPr>
      </p:sp>
      <p:sp>
        <p:nvSpPr>
          <p:cNvPr id="117" name="TextBox 117">
            <a:extLst xmlns:a="http://schemas.openxmlformats.org/drawingml/2006/main">
              <a:ext uri="{FF2B5EF4-FFF2-40B4-BE49-F238E27FC236}">
                <a16:creationId xmlns:a16="http://schemas.microsoft.com/office/drawing/2014/main" id="{69EFBFA1-CEF5-4084-B233-AE51295A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7008" y="8729949"/>
            <a:ext cx="9532620" cy="308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944"/>
              </a:lnSpc>
              <a:buNone/>
            </a:pPr>
            <a:r>
              <a:rPr sz="1500" spc="5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구조 참고: A2A-MCP / </a:t>
            </a:r>
            <a:r>
              <a:rPr sz="1500" u="sng" spc="5">
                <a:solidFill>
                  <a:srgbClr val="0563C1"/>
                </a:solidFill>
                <a:latin typeface="Mandali"/>
                <a:ea typeface="Mandali"/>
                <a:cs typeface="Mandali"/>
                <a:hlinkClick xmlns:r="http://schemas.openxmlformats.org/officeDocument/2006/relationships" r:id="R2252f0fa1b214ecf"/>
              </a:rPr>
              <a:t>Code_Vulnerability</a:t>
            </a:r>
          </a:p>
        </p:txBody>
      </p:sp>
      <p:sp>
        <p:nvSpPr>
          <p:cNvPr id="119" name="Freeform 119">
            <a:extLst xmlns:a="http://schemas.openxmlformats.org/drawingml/2006/main">
              <a:ext uri="{FF2B5EF4-FFF2-40B4-BE49-F238E27FC236}">
                <a16:creationId xmlns:a16="http://schemas.microsoft.com/office/drawing/2014/main" id="{43CC0ED8-3BA1-4734-8F8D-481DB33F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13464" y="2880360"/>
            <a:ext cx="5719572" cy="466344"/>
          </a:xfrm>
          <a:custGeom xmlns:a="http://schemas.openxmlformats.org/drawingml/2006/main">
            <a:rect l="l" t="t" r="r" b="b"/>
            <a:pathLst>
              <a:path w="7626096" h="621792">
                <a:moveTo>
                  <a:pt x="0" y="0"/>
                </a:moveTo>
                <a:lnTo>
                  <a:pt x="7626096" y="0"/>
                </a:lnTo>
                <a:lnTo>
                  <a:pt x="7626096" y="621792"/>
                </a:lnTo>
                <a:lnTo>
                  <a:pt x="0" y="62179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952c83d69844d6">
              <a:alphaModFix amt="0"/>
            </a:blip>
            <a:stretch>
              <a:fillRect l="0" t="-188978" r="0" b="-188978"/>
            </a:stretch>
          </a:blipFill>
        </p:spPr>
      </p:sp>
      <p:sp>
        <p:nvSpPr>
          <p:cNvPr id="120" name="TextBox 120">
            <a:extLst xmlns:a="http://schemas.openxmlformats.org/drawingml/2006/main">
              <a:ext uri="{FF2B5EF4-FFF2-40B4-BE49-F238E27FC236}">
                <a16:creationId xmlns:a16="http://schemas.microsoft.com/office/drawing/2014/main" id="{683557C2-9E90-4C0E-8E25-423FA831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13464" y="2858929"/>
            <a:ext cx="5719572" cy="487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227"/>
              </a:lnSpc>
              <a:buNone/>
            </a:pPr>
            <a:r>
              <a:rPr sz="2490" spc="9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프로토타입 시험</a:t>
            </a:r>
          </a:p>
        </p:txBody>
      </p:sp>
      <p:sp>
        <p:nvSpPr>
          <p:cNvPr id="122" name="Freeform 122">
            <a:extLst xmlns:a="http://schemas.openxmlformats.org/drawingml/2006/main">
              <a:ext uri="{FF2B5EF4-FFF2-40B4-BE49-F238E27FC236}">
                <a16:creationId xmlns:a16="http://schemas.microsoft.com/office/drawing/2014/main" id="{87815AF2-0841-4BE3-A79F-EEFA6B50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90223" y="3721227"/>
            <a:ext cx="1788414" cy="1555242"/>
          </a:xfrm>
          <a:custGeom xmlns:a="http://schemas.openxmlformats.org/drawingml/2006/main">
            <a:rect l="l" t="t" r="r" b="b"/>
            <a:pathLst>
              <a:path w="2384552" h="2073656">
                <a:moveTo>
                  <a:pt x="0" y="0"/>
                </a:moveTo>
                <a:lnTo>
                  <a:pt x="2384552" y="0"/>
                </a:lnTo>
                <a:lnTo>
                  <a:pt x="2384552" y="2073656"/>
                </a:lnTo>
                <a:lnTo>
                  <a:pt x="0" y="2073656"/>
                </a:lnTo>
                <a:close/>
              </a:path>
            </a:pathLst>
          </a:custGeom>
          <a:solidFill xmlns:a="http://schemas.openxmlformats.org/drawingml/2006/main">
            <a:srgbClr val="EDF3FA"/>
          </a:solidFill>
        </p:spPr>
      </p:sp>
      <p:sp>
        <p:nvSpPr>
          <p:cNvPr id="124" name="Freeform 124">
            <a:extLst xmlns:a="http://schemas.openxmlformats.org/drawingml/2006/main">
              <a:ext uri="{FF2B5EF4-FFF2-40B4-BE49-F238E27FC236}">
                <a16:creationId xmlns:a16="http://schemas.microsoft.com/office/drawing/2014/main" id="{4348868B-53AA-4D07-BF92-4043BB0B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09476" y="3977640"/>
            <a:ext cx="1549908" cy="603504"/>
          </a:xfrm>
          <a:custGeom xmlns:a="http://schemas.openxmlformats.org/drawingml/2006/main">
            <a:rect l="l" t="t" r="r" b="b"/>
            <a:pathLst>
              <a:path w="2066544" h="804672">
                <a:moveTo>
                  <a:pt x="0" y="0"/>
                </a:moveTo>
                <a:lnTo>
                  <a:pt x="2066544" y="0"/>
                </a:lnTo>
                <a:lnTo>
                  <a:pt x="2066544" y="804672"/>
                </a:lnTo>
                <a:lnTo>
                  <a:pt x="0" y="80467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952c83d69844d6">
              <a:alphaModFix amt="0"/>
            </a:blip>
            <a:stretch>
              <a:fillRect l="0" t="-41" r="0" b="-41"/>
            </a:stretch>
          </a:blipFill>
        </p:spPr>
      </p:sp>
      <p:sp>
        <p:nvSpPr>
          <p:cNvPr id="125" name="TextBox 125">
            <a:extLst xmlns:a="http://schemas.openxmlformats.org/drawingml/2006/main">
              <a:ext uri="{FF2B5EF4-FFF2-40B4-BE49-F238E27FC236}">
                <a16:creationId xmlns:a16="http://schemas.microsoft.com/office/drawing/2014/main" id="{25087CA6-6247-4278-B3CC-24AC465F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09476" y="3956209"/>
            <a:ext cx="1549908" cy="6249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4665"/>
              </a:lnSpc>
              <a:buNone/>
            </a:pPr>
            <a:r>
              <a:rPr sz="3600" spc="13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23/23</a:t>
            </a:r>
          </a:p>
        </p:txBody>
      </p:sp>
      <p:sp>
        <p:nvSpPr>
          <p:cNvPr id="127" name="Freeform 127">
            <a:extLst xmlns:a="http://schemas.openxmlformats.org/drawingml/2006/main">
              <a:ext uri="{FF2B5EF4-FFF2-40B4-BE49-F238E27FC236}">
                <a16:creationId xmlns:a16="http://schemas.microsoft.com/office/drawing/2014/main" id="{F7DC9C82-DBA3-43AE-A0EE-7DC27B1D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54612" y="4800600"/>
            <a:ext cx="1659636" cy="246888"/>
          </a:xfrm>
          <a:custGeom xmlns:a="http://schemas.openxmlformats.org/drawingml/2006/main">
            <a:rect l="l" t="t" r="r" b="b"/>
            <a:pathLst>
              <a:path w="2212848" h="329184">
                <a:moveTo>
                  <a:pt x="0" y="0"/>
                </a:moveTo>
                <a:lnTo>
                  <a:pt x="2212848" y="0"/>
                </a:lnTo>
                <a:lnTo>
                  <a:pt x="2212848" y="329184"/>
                </a:lnTo>
                <a:lnTo>
                  <a:pt x="0" y="32918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952c83d69844d6">
              <a:alphaModFix amt="0"/>
            </a:blip>
            <a:stretch>
              <a:fillRect l="0" t="-80982" r="0" b="-80982"/>
            </a:stretch>
          </a:blipFill>
        </p:spPr>
      </p:sp>
      <p:sp>
        <p:nvSpPr>
          <p:cNvPr id="128" name="TextBox 128">
            <a:extLst xmlns:a="http://schemas.openxmlformats.org/drawingml/2006/main">
              <a:ext uri="{FF2B5EF4-FFF2-40B4-BE49-F238E27FC236}">
                <a16:creationId xmlns:a16="http://schemas.microsoft.com/office/drawing/2014/main" id="{17421427-C19A-4C28-A874-A29DA4F8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54612" y="4786313"/>
            <a:ext cx="1659636" cy="261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041"/>
              </a:lnSpc>
              <a:buNone/>
            </a:pPr>
            <a:r>
              <a:rPr sz="1575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분석 파일</a:t>
            </a:r>
          </a:p>
        </p:txBody>
      </p:sp>
      <p:sp>
        <p:nvSpPr>
          <p:cNvPr id="130" name="Freeform 130">
            <a:extLst xmlns:a="http://schemas.openxmlformats.org/drawingml/2006/main">
              <a:ext uri="{FF2B5EF4-FFF2-40B4-BE49-F238E27FC236}">
                <a16:creationId xmlns:a16="http://schemas.microsoft.com/office/drawing/2014/main" id="{99935757-C7FA-4F1F-8C69-8AD65263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679043" y="3721227"/>
            <a:ext cx="1788414" cy="1555242"/>
          </a:xfrm>
          <a:custGeom xmlns:a="http://schemas.openxmlformats.org/drawingml/2006/main">
            <a:rect l="l" t="t" r="r" b="b"/>
            <a:pathLst>
              <a:path w="2384552" h="2073656">
                <a:moveTo>
                  <a:pt x="0" y="0"/>
                </a:moveTo>
                <a:lnTo>
                  <a:pt x="2384552" y="0"/>
                </a:lnTo>
                <a:lnTo>
                  <a:pt x="2384552" y="2073656"/>
                </a:lnTo>
                <a:lnTo>
                  <a:pt x="0" y="2073656"/>
                </a:lnTo>
                <a:close/>
              </a:path>
            </a:pathLst>
          </a:custGeom>
          <a:solidFill xmlns:a="http://schemas.openxmlformats.org/drawingml/2006/main">
            <a:srgbClr val="EDF3FA"/>
          </a:solidFill>
        </p:spPr>
      </p:sp>
      <p:sp>
        <p:nvSpPr>
          <p:cNvPr id="132" name="Freeform 132">
            <a:extLst xmlns:a="http://schemas.openxmlformats.org/drawingml/2006/main">
              <a:ext uri="{FF2B5EF4-FFF2-40B4-BE49-F238E27FC236}">
                <a16:creationId xmlns:a16="http://schemas.microsoft.com/office/drawing/2014/main" id="{7442984E-2360-4C98-8417-B1CBFAE9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98296" y="3977640"/>
            <a:ext cx="1549908" cy="603504"/>
          </a:xfrm>
          <a:custGeom xmlns:a="http://schemas.openxmlformats.org/drawingml/2006/main">
            <a:rect l="l" t="t" r="r" b="b"/>
            <a:pathLst>
              <a:path w="2066544" h="804672">
                <a:moveTo>
                  <a:pt x="0" y="0"/>
                </a:moveTo>
                <a:lnTo>
                  <a:pt x="2066544" y="0"/>
                </a:lnTo>
                <a:lnTo>
                  <a:pt x="2066544" y="804672"/>
                </a:lnTo>
                <a:lnTo>
                  <a:pt x="0" y="80467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952c83d69844d6">
              <a:alphaModFix amt="0"/>
            </a:blip>
            <a:stretch>
              <a:fillRect l="0" t="-41" r="0" b="-41"/>
            </a:stretch>
          </a:blipFill>
        </p:spPr>
      </p:sp>
      <p:sp>
        <p:nvSpPr>
          <p:cNvPr id="133" name="TextBox 133">
            <a:extLst xmlns:a="http://schemas.openxmlformats.org/drawingml/2006/main">
              <a:ext uri="{FF2B5EF4-FFF2-40B4-BE49-F238E27FC236}">
                <a16:creationId xmlns:a16="http://schemas.microsoft.com/office/drawing/2014/main" id="{D960B381-96F9-412B-9D43-D68BDB08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98296" y="3956209"/>
            <a:ext cx="1549908" cy="6249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4665"/>
              </a:lnSpc>
              <a:buNone/>
            </a:pPr>
            <a:r>
              <a:rPr sz="3600" spc="13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3,524</a:t>
            </a:r>
          </a:p>
        </p:txBody>
      </p:sp>
      <p:sp>
        <p:nvSpPr>
          <p:cNvPr id="135" name="Freeform 135">
            <a:extLst xmlns:a="http://schemas.openxmlformats.org/drawingml/2006/main">
              <a:ext uri="{FF2B5EF4-FFF2-40B4-BE49-F238E27FC236}">
                <a16:creationId xmlns:a16="http://schemas.microsoft.com/office/drawing/2014/main" id="{DA48EF3F-9BE9-4710-87C8-DF7FC5E2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43432" y="4800600"/>
            <a:ext cx="1659636" cy="246888"/>
          </a:xfrm>
          <a:custGeom xmlns:a="http://schemas.openxmlformats.org/drawingml/2006/main">
            <a:rect l="l" t="t" r="r" b="b"/>
            <a:pathLst>
              <a:path w="2212848" h="329184">
                <a:moveTo>
                  <a:pt x="0" y="0"/>
                </a:moveTo>
                <a:lnTo>
                  <a:pt x="2212848" y="0"/>
                </a:lnTo>
                <a:lnTo>
                  <a:pt x="2212848" y="329184"/>
                </a:lnTo>
                <a:lnTo>
                  <a:pt x="0" y="32918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952c83d69844d6">
              <a:alphaModFix amt="0"/>
            </a:blip>
            <a:stretch>
              <a:fillRect l="0" t="-80982" r="0" b="-80982"/>
            </a:stretch>
          </a:blipFill>
        </p:spPr>
      </p:sp>
      <p:sp>
        <p:nvSpPr>
          <p:cNvPr id="136" name="TextBox 136">
            <a:extLst xmlns:a="http://schemas.openxmlformats.org/drawingml/2006/main">
              <a:ext uri="{FF2B5EF4-FFF2-40B4-BE49-F238E27FC236}">
                <a16:creationId xmlns:a16="http://schemas.microsoft.com/office/drawing/2014/main" id="{340510F2-D2DC-4A4D-86E1-385BE092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43432" y="4786313"/>
            <a:ext cx="1659636" cy="261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041"/>
              </a:lnSpc>
              <a:buNone/>
            </a:pPr>
            <a:r>
              <a:rPr sz="1575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코드 줄 수</a:t>
            </a:r>
          </a:p>
        </p:txBody>
      </p:sp>
      <p:sp>
        <p:nvSpPr>
          <p:cNvPr id="138" name="Freeform 138">
            <a:extLst xmlns:a="http://schemas.openxmlformats.org/drawingml/2006/main">
              <a:ext uri="{FF2B5EF4-FFF2-40B4-BE49-F238E27FC236}">
                <a16:creationId xmlns:a16="http://schemas.microsoft.com/office/drawing/2014/main" id="{34B55A48-5634-47DF-AE75-FAC866F5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67863" y="3721227"/>
            <a:ext cx="1788414" cy="1555242"/>
          </a:xfrm>
          <a:custGeom xmlns:a="http://schemas.openxmlformats.org/drawingml/2006/main">
            <a:rect l="l" t="t" r="r" b="b"/>
            <a:pathLst>
              <a:path w="2384552" h="2073656">
                <a:moveTo>
                  <a:pt x="0" y="0"/>
                </a:moveTo>
                <a:lnTo>
                  <a:pt x="2384552" y="0"/>
                </a:lnTo>
                <a:lnTo>
                  <a:pt x="2384552" y="2073656"/>
                </a:lnTo>
                <a:lnTo>
                  <a:pt x="0" y="2073656"/>
                </a:lnTo>
                <a:close/>
              </a:path>
            </a:pathLst>
          </a:custGeom>
          <a:solidFill xmlns:a="http://schemas.openxmlformats.org/drawingml/2006/main">
            <a:srgbClr val="EDF3FA"/>
          </a:solidFill>
        </p:spPr>
      </p:sp>
      <p:sp>
        <p:nvSpPr>
          <p:cNvPr id="140" name="Freeform 140">
            <a:extLst xmlns:a="http://schemas.openxmlformats.org/drawingml/2006/main">
              <a:ext uri="{FF2B5EF4-FFF2-40B4-BE49-F238E27FC236}">
                <a16:creationId xmlns:a16="http://schemas.microsoft.com/office/drawing/2014/main" id="{8650CEE1-39D5-47D6-BB34-5E1E0A58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787116" y="3977640"/>
            <a:ext cx="1549908" cy="603504"/>
          </a:xfrm>
          <a:custGeom xmlns:a="http://schemas.openxmlformats.org/drawingml/2006/main">
            <a:rect l="l" t="t" r="r" b="b"/>
            <a:pathLst>
              <a:path w="2066544" h="804672">
                <a:moveTo>
                  <a:pt x="0" y="0"/>
                </a:moveTo>
                <a:lnTo>
                  <a:pt x="2066544" y="0"/>
                </a:lnTo>
                <a:lnTo>
                  <a:pt x="2066544" y="804672"/>
                </a:lnTo>
                <a:lnTo>
                  <a:pt x="0" y="80467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952c83d69844d6">
              <a:alphaModFix amt="0"/>
            </a:blip>
            <a:stretch>
              <a:fillRect l="0" t="-41" r="0" b="-41"/>
            </a:stretch>
          </a:blipFill>
        </p:spPr>
      </p:sp>
      <p:sp>
        <p:nvSpPr>
          <p:cNvPr id="141" name="TextBox 141">
            <a:extLst xmlns:a="http://schemas.openxmlformats.org/drawingml/2006/main">
              <a:ext uri="{FF2B5EF4-FFF2-40B4-BE49-F238E27FC236}">
                <a16:creationId xmlns:a16="http://schemas.microsoft.com/office/drawing/2014/main" id="{661A41E0-F901-4CD6-BA4D-1213FD5D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787116" y="3956209"/>
            <a:ext cx="1549908" cy="6249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4665"/>
              </a:lnSpc>
              <a:buNone/>
            </a:pPr>
            <a:r>
              <a:rPr sz="3600" spc="13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18</a:t>
            </a:r>
          </a:p>
        </p:txBody>
      </p:sp>
      <p:sp>
        <p:nvSpPr>
          <p:cNvPr id="143" name="Freeform 143">
            <a:extLst xmlns:a="http://schemas.openxmlformats.org/drawingml/2006/main">
              <a:ext uri="{FF2B5EF4-FFF2-40B4-BE49-F238E27FC236}">
                <a16:creationId xmlns:a16="http://schemas.microsoft.com/office/drawing/2014/main" id="{25252129-55AD-4C16-8CD3-47E250F7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732252" y="4800600"/>
            <a:ext cx="1659636" cy="246888"/>
          </a:xfrm>
          <a:custGeom xmlns:a="http://schemas.openxmlformats.org/drawingml/2006/main">
            <a:rect l="l" t="t" r="r" b="b"/>
            <a:pathLst>
              <a:path w="2212848" h="329184">
                <a:moveTo>
                  <a:pt x="0" y="0"/>
                </a:moveTo>
                <a:lnTo>
                  <a:pt x="2212848" y="0"/>
                </a:lnTo>
                <a:lnTo>
                  <a:pt x="2212848" y="329184"/>
                </a:lnTo>
                <a:lnTo>
                  <a:pt x="0" y="32918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952c83d69844d6">
              <a:alphaModFix amt="0"/>
            </a:blip>
            <a:stretch>
              <a:fillRect l="0" t="-80982" r="0" b="-80982"/>
            </a:stretch>
          </a:blipFill>
        </p:spPr>
      </p:sp>
      <p:sp>
        <p:nvSpPr>
          <p:cNvPr id="144" name="TextBox 144">
            <a:extLst xmlns:a="http://schemas.openxmlformats.org/drawingml/2006/main">
              <a:ext uri="{FF2B5EF4-FFF2-40B4-BE49-F238E27FC236}">
                <a16:creationId xmlns:a16="http://schemas.microsoft.com/office/drawing/2014/main" id="{FE34D4E8-DC17-4F1A-8A93-0FBBF576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732252" y="4786313"/>
            <a:ext cx="1659636" cy="261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041"/>
              </a:lnSpc>
              <a:buNone/>
            </a:pPr>
            <a:r>
              <a:rPr sz="1575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정적 분석 신호</a:t>
            </a:r>
          </a:p>
        </p:txBody>
      </p:sp>
      <p:sp>
        <p:nvSpPr>
          <p:cNvPr id="146" name="Freeform 146">
            <a:extLst xmlns:a="http://schemas.openxmlformats.org/drawingml/2006/main">
              <a:ext uri="{FF2B5EF4-FFF2-40B4-BE49-F238E27FC236}">
                <a16:creationId xmlns:a16="http://schemas.microsoft.com/office/drawing/2014/main" id="{4FC856E7-7742-4223-9921-C0A4ACD4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13464" y="5623560"/>
            <a:ext cx="5719572" cy="384048"/>
          </a:xfrm>
          <a:custGeom xmlns:a="http://schemas.openxmlformats.org/drawingml/2006/main">
            <a:rect l="l" t="t" r="r" b="b"/>
            <a:pathLst>
              <a:path w="7626096" h="512064">
                <a:moveTo>
                  <a:pt x="0" y="0"/>
                </a:moveTo>
                <a:lnTo>
                  <a:pt x="7626096" y="0"/>
                </a:lnTo>
                <a:lnTo>
                  <a:pt x="7626096" y="512064"/>
                </a:lnTo>
                <a:lnTo>
                  <a:pt x="0" y="5120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952c83d69844d6">
              <a:alphaModFix amt="0"/>
            </a:blip>
            <a:stretch>
              <a:fillRect l="0" t="-240187" r="0" b="-240187"/>
            </a:stretch>
          </a:blipFill>
        </p:spPr>
      </p:sp>
      <p:sp>
        <p:nvSpPr>
          <p:cNvPr id="147" name="TextBox 147">
            <a:extLst xmlns:a="http://schemas.openxmlformats.org/drawingml/2006/main">
              <a:ext uri="{FF2B5EF4-FFF2-40B4-BE49-F238E27FC236}">
                <a16:creationId xmlns:a16="http://schemas.microsoft.com/office/drawing/2014/main" id="{7AFB2CED-3C13-46FF-9EA5-C6398305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13464" y="5609273"/>
            <a:ext cx="5719572" cy="3983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604"/>
              </a:lnSpc>
              <a:buNone/>
            </a:pPr>
            <a:r>
              <a:rPr sz="2010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위험 호출 8건 · Secret 후보 10건</a:t>
            </a:r>
          </a:p>
        </p:txBody>
      </p:sp>
      <p:sp>
        <p:nvSpPr>
          <p:cNvPr id="148" name="AutoShape 148">
            <a:extLst xmlns:a="http://schemas.openxmlformats.org/drawingml/2006/main">
              <a:ext uri="{FF2B5EF4-FFF2-40B4-BE49-F238E27FC236}">
                <a16:creationId xmlns:a16="http://schemas.microsoft.com/office/drawing/2014/main" id="{CBEFF4CE-9E0F-470B-8F29-0BF2E9AD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040">
            <a:off x="11706787" y="6290882"/>
            <a:ext cx="571921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0" name="Freeform 150">
            <a:extLst xmlns:a="http://schemas.openxmlformats.org/drawingml/2006/main">
              <a:ext uri="{FF2B5EF4-FFF2-40B4-BE49-F238E27FC236}">
                <a16:creationId xmlns:a16="http://schemas.microsoft.com/office/drawing/2014/main" id="{BB03C19C-C0AD-4B43-8C86-6AB4205B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13464" y="6665976"/>
            <a:ext cx="5719572" cy="466344"/>
          </a:xfrm>
          <a:custGeom xmlns:a="http://schemas.openxmlformats.org/drawingml/2006/main">
            <a:rect l="l" t="t" r="r" b="b"/>
            <a:pathLst>
              <a:path w="7626096" h="621792">
                <a:moveTo>
                  <a:pt x="0" y="0"/>
                </a:moveTo>
                <a:lnTo>
                  <a:pt x="7626096" y="0"/>
                </a:lnTo>
                <a:lnTo>
                  <a:pt x="7626096" y="621792"/>
                </a:lnTo>
                <a:lnTo>
                  <a:pt x="0" y="62179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952c83d69844d6">
              <a:alphaModFix amt="0"/>
            </a:blip>
            <a:stretch>
              <a:fillRect l="0" t="-188978" r="0" b="-188978"/>
            </a:stretch>
          </a:blipFill>
        </p:spPr>
      </p:sp>
      <p:sp>
        <p:nvSpPr>
          <p:cNvPr id="151" name="TextBox 151">
            <a:extLst xmlns:a="http://schemas.openxmlformats.org/drawingml/2006/main">
              <a:ext uri="{FF2B5EF4-FFF2-40B4-BE49-F238E27FC236}">
                <a16:creationId xmlns:a16="http://schemas.microsoft.com/office/drawing/2014/main" id="{CE4F5873-F91E-42D6-BB16-B7C6EAED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13464" y="6651689"/>
            <a:ext cx="5719572" cy="480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304"/>
              </a:lnSpc>
              <a:buNone/>
            </a:pPr>
            <a:r>
              <a:rPr sz="2550" spc="9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로컬 LLM 리뷰 18개 생성</a:t>
            </a:r>
          </a:p>
        </p:txBody>
      </p:sp>
      <p:sp>
        <p:nvSpPr>
          <p:cNvPr id="153" name="Freeform 153">
            <a:extLst xmlns:a="http://schemas.openxmlformats.org/drawingml/2006/main">
              <a:ext uri="{FF2B5EF4-FFF2-40B4-BE49-F238E27FC236}">
                <a16:creationId xmlns:a16="http://schemas.microsoft.com/office/drawing/2014/main" id="{4CF61BC2-801F-4055-99AD-077E847C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13464" y="7351776"/>
            <a:ext cx="5719572" cy="726948"/>
          </a:xfrm>
          <a:custGeom xmlns:a="http://schemas.openxmlformats.org/drawingml/2006/main">
            <a:rect l="l" t="t" r="r" b="b"/>
            <a:pathLst>
              <a:path w="7626096" h="969264">
                <a:moveTo>
                  <a:pt x="0" y="0"/>
                </a:moveTo>
                <a:lnTo>
                  <a:pt x="7626096" y="0"/>
                </a:lnTo>
                <a:lnTo>
                  <a:pt x="7626096" y="969264"/>
                </a:lnTo>
                <a:lnTo>
                  <a:pt x="0" y="9692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952c83d69844d6">
              <a:alphaModFix amt="0"/>
            </a:blip>
            <a:stretch>
              <a:fillRect l="0" t="-103306" r="0" b="-103306"/>
            </a:stretch>
          </a:blipFill>
        </p:spPr>
      </p:sp>
      <p:sp>
        <p:nvSpPr>
          <p:cNvPr id="154" name="TextBox 154">
            <a:extLst xmlns:a="http://schemas.openxmlformats.org/drawingml/2006/main">
              <a:ext uri="{FF2B5EF4-FFF2-40B4-BE49-F238E27FC236}">
                <a16:creationId xmlns:a16="http://schemas.microsoft.com/office/drawing/2014/main" id="{29A69059-81BD-402D-AD64-25FC66E9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13464" y="7330345"/>
            <a:ext cx="5719572" cy="7483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25"/>
              </a:lnSpc>
              <a:buNone/>
            </a:pPr>
            <a:r>
              <a:rPr sz="1829" spc="7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LLM 리뷰에서 이 코드가 치명적인 이유, 권고사항까지는 Rule + LLM 추론을 통하여 도출 가능.</a:t>
            </a:r>
          </a:p>
          <a:p xmlns:a="http://schemas.openxmlformats.org/drawingml/2006/main">
            <a:pPr algn="l">
              <a:lnSpc>
                <a:spcPts val="2525"/>
              </a:lnSpc>
              <a:buNone/>
            </a:pPr>
            <a:r>
              <a:rPr sz="1829" spc="7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그러나 이 코드는 임의의 테스트 코드라는 점을 명시. </a:t>
            </a:r>
          </a:p>
        </p:txBody>
      </p:sp>
      <p:sp>
        <p:nvSpPr>
          <p:cNvPr id="156" name="Freeform 156">
            <a:extLst xmlns:a="http://schemas.openxmlformats.org/drawingml/2006/main">
              <a:ext uri="{FF2B5EF4-FFF2-40B4-BE49-F238E27FC236}">
                <a16:creationId xmlns:a16="http://schemas.microsoft.com/office/drawing/2014/main" id="{E343A73A-44C6-4D5F-A721-F00D3E82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90223" y="8384667"/>
            <a:ext cx="5766054" cy="979170"/>
          </a:xfrm>
          <a:custGeom xmlns:a="http://schemas.openxmlformats.org/drawingml/2006/main">
            <a:rect l="l" t="t" r="r" b="b"/>
            <a:pathLst>
              <a:path w="7688072" h="1305560">
                <a:moveTo>
                  <a:pt x="0" y="0"/>
                </a:moveTo>
                <a:lnTo>
                  <a:pt x="7688072" y="0"/>
                </a:lnTo>
                <a:lnTo>
                  <a:pt x="7688072" y="1305560"/>
                </a:lnTo>
                <a:lnTo>
                  <a:pt x="0" y="1305560"/>
                </a:lnTo>
                <a:close/>
              </a:path>
            </a:pathLst>
          </a:custGeom>
          <a:solidFill xmlns:a="http://schemas.openxmlformats.org/drawingml/2006/main">
            <a:srgbClr val="F8F1E7"/>
          </a:solidFill>
        </p:spPr>
      </p:sp>
      <p:sp>
        <p:nvSpPr>
          <p:cNvPr id="158" name="Freeform 158">
            <a:extLst xmlns:a="http://schemas.openxmlformats.org/drawingml/2006/main">
              <a:ext uri="{FF2B5EF4-FFF2-40B4-BE49-F238E27FC236}">
                <a16:creationId xmlns:a16="http://schemas.microsoft.com/office/drawing/2014/main" id="{E3957191-CD86-4719-8AEA-5D1A4C78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46636" y="8558784"/>
            <a:ext cx="5239512" cy="274320"/>
          </a:xfrm>
          <a:custGeom xmlns:a="http://schemas.openxmlformats.org/drawingml/2006/main">
            <a:rect l="l" t="t" r="r" b="b"/>
            <a:pathLst>
              <a:path w="6986016" h="365760">
                <a:moveTo>
                  <a:pt x="0" y="0"/>
                </a:moveTo>
                <a:lnTo>
                  <a:pt x="6986016" y="0"/>
                </a:lnTo>
                <a:lnTo>
                  <a:pt x="6986016" y="365760"/>
                </a:lnTo>
                <a:lnTo>
                  <a:pt x="0" y="3657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952c83d69844d6">
              <a:alphaModFix amt="0"/>
            </a:blip>
            <a:stretch>
              <a:fillRect l="0" t="-322164" r="0" b="-322164"/>
            </a:stretch>
          </a:blipFill>
        </p:spPr>
      </p:sp>
      <p:sp>
        <p:nvSpPr>
          <p:cNvPr id="159" name="TextBox 159">
            <a:extLst xmlns:a="http://schemas.openxmlformats.org/drawingml/2006/main">
              <a:ext uri="{FF2B5EF4-FFF2-40B4-BE49-F238E27FC236}">
                <a16:creationId xmlns:a16="http://schemas.microsoft.com/office/drawing/2014/main" id="{7036F4E4-EF82-4F11-B16C-B39577EF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46636" y="8551641"/>
            <a:ext cx="5239512" cy="2814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99"/>
              </a:lnSpc>
              <a:buNone/>
            </a:pPr>
            <a:r>
              <a:rPr sz="1620" spc="6">
                <a:solidFill>
                  <a:srgbClr val="8A5A24"/>
                </a:solidFill>
                <a:latin typeface="Mandali"/>
                <a:ea typeface="Mandali"/>
                <a:cs typeface="Mandali"/>
              </a:rPr>
              <a:t>별도 검증 과제</a:t>
            </a:r>
          </a:p>
        </p:txBody>
      </p:sp>
      <p:sp>
        <p:nvSpPr>
          <p:cNvPr id="161" name="Freeform 161">
            <a:extLst xmlns:a="http://schemas.openxmlformats.org/drawingml/2006/main">
              <a:ext uri="{FF2B5EF4-FFF2-40B4-BE49-F238E27FC236}">
                <a16:creationId xmlns:a16="http://schemas.microsoft.com/office/drawing/2014/main" id="{1CCE1A2C-76E9-4648-AE03-350BEE89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46636" y="8956548"/>
            <a:ext cx="5239512" cy="260604"/>
          </a:xfrm>
          <a:custGeom xmlns:a="http://schemas.openxmlformats.org/drawingml/2006/main">
            <a:rect l="l" t="t" r="r" b="b"/>
            <a:pathLst>
              <a:path w="6986016" h="347472">
                <a:moveTo>
                  <a:pt x="0" y="0"/>
                </a:moveTo>
                <a:lnTo>
                  <a:pt x="6986016" y="0"/>
                </a:lnTo>
                <a:lnTo>
                  <a:pt x="6986016" y="347472"/>
                </a:lnTo>
                <a:lnTo>
                  <a:pt x="0" y="34747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952c83d69844d6">
              <a:alphaModFix amt="0"/>
            </a:blip>
            <a:stretch>
              <a:fillRect l="0" t="-341751" r="0" b="-341751"/>
            </a:stretch>
          </a:blipFill>
        </p:spPr>
      </p:sp>
      <p:sp>
        <p:nvSpPr>
          <p:cNvPr id="162" name="TextBox 162">
            <a:extLst xmlns:a="http://schemas.openxmlformats.org/drawingml/2006/main">
              <a:ext uri="{FF2B5EF4-FFF2-40B4-BE49-F238E27FC236}">
                <a16:creationId xmlns:a16="http://schemas.microsoft.com/office/drawing/2014/main" id="{15D02CFB-87B7-44FB-B6BB-642D0041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46636" y="8949405"/>
            <a:ext cx="5239512" cy="2677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74"/>
              </a:lnSpc>
              <a:buNone/>
            </a:pPr>
            <a:r>
              <a:rPr sz="1754" spc="6">
                <a:solidFill>
                  <a:srgbClr val="8A5A24"/>
                </a:solidFill>
                <a:latin typeface="Mandali"/>
                <a:ea typeface="Mandali"/>
                <a:cs typeface="Mandali"/>
              </a:rPr>
              <a:t>설명 근거의 타당성 · 권고사항의 적절성</a:t>
            </a:r>
          </a:p>
        </p:txBody>
      </p:sp>
      <p:sp>
        <p:nvSpPr>
          <p:cNvPr id="163" name="AutoShape 163">
            <a:extLst xmlns:a="http://schemas.openxmlformats.org/drawingml/2006/main">
              <a:ext uri="{FF2B5EF4-FFF2-40B4-BE49-F238E27FC236}">
                <a16:creationId xmlns:a16="http://schemas.microsoft.com/office/drawing/2014/main" id="{EDD27937-5756-4B8F-A694-2C50B2BA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60">
            <a:off x="816293" y="9706166"/>
            <a:ext cx="16650853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689927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299E599-E5F3-4D65-A4D7-8F50E017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960" y="493776"/>
            <a:ext cx="16596360" cy="301752"/>
          </a:xfrm>
          <a:custGeom xmlns:a="http://schemas.openxmlformats.org/drawingml/2006/main">
            <a:rect l="l" t="t" r="r" b="b"/>
            <a:pathLst>
              <a:path w="22128480" h="402336">
                <a:moveTo>
                  <a:pt x="0" y="0"/>
                </a:moveTo>
                <a:lnTo>
                  <a:pt x="22128480" y="0"/>
                </a:lnTo>
                <a:lnTo>
                  <a:pt x="22128480" y="402336"/>
                </a:lnTo>
                <a:lnTo>
                  <a:pt x="0" y="40233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8e225c4ac2493b">
              <a:alphaModFix amt="0"/>
            </a:blip>
            <a:stretch>
              <a:fillRect l="0" t="-1021677" r="0" b="-1021677"/>
            </a:stretch>
          </a:blip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EBDB5BDD-532E-4DD1-A135-B0767E2F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960" y="486633"/>
            <a:ext cx="16596360" cy="308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99"/>
              </a:lnSpc>
              <a:buNone/>
            </a:pPr>
            <a:r>
              <a:rPr sz="1620" spc="126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04  /  MODEL EXPERIMENTS</a:t>
            </a: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FEB015C1-27FF-41EE-8B56-774B8945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960" y="1124712"/>
            <a:ext cx="16596360" cy="685800"/>
          </a:xfrm>
          <a:custGeom xmlns:a="http://schemas.openxmlformats.org/drawingml/2006/main">
            <a:rect l="l" t="t" r="r" b="b"/>
            <a:pathLst>
              <a:path w="22128480" h="914400">
                <a:moveTo>
                  <a:pt x="0" y="0"/>
                </a:moveTo>
                <a:lnTo>
                  <a:pt x="22128480" y="0"/>
                </a:lnTo>
                <a:lnTo>
                  <a:pt x="22128480" y="914400"/>
                </a:lnTo>
                <a:lnTo>
                  <a:pt x="0" y="9144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8e225c4ac2493b">
              <a:alphaModFix amt="0"/>
            </a:blip>
            <a:stretch>
              <a:fillRect l="0" t="-421537" r="0" b="-421537"/>
            </a:stretch>
          </a:blip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1BD216A3-79A5-4B70-98B8-F665C5CD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960" y="1096137"/>
            <a:ext cx="1659636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5248"/>
              </a:lnSpc>
              <a:buNone/>
            </a:pPr>
            <a:r>
              <a:rPr sz="4050" spc="15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LLM 파인튜닝: 평가 결과에서 데이터 설계로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8FD092FC-113E-4C84-9A33-88F9658E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0392" y="1920240"/>
            <a:ext cx="16459200" cy="411480"/>
          </a:xfrm>
          <a:custGeom xmlns:a="http://schemas.openxmlformats.org/drawingml/2006/main">
            <a:rect l="l" t="t" r="r" b="b"/>
            <a:pathLst>
              <a:path w="21945600" h="548640">
                <a:moveTo>
                  <a:pt x="0" y="0"/>
                </a:moveTo>
                <a:lnTo>
                  <a:pt x="21945600" y="0"/>
                </a:lnTo>
                <a:lnTo>
                  <a:pt x="2194560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8e225c4ac2493b">
              <a:alphaModFix amt="0"/>
            </a:blip>
            <a:stretch>
              <a:fillRect l="0" t="-729401" r="0" b="-729401"/>
            </a:stretch>
          </a:blip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2B381E88-4E90-412D-AFB4-F3A7D658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0392" y="1913097"/>
            <a:ext cx="16459200" cy="4186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88"/>
              </a:lnSpc>
              <a:buNone/>
            </a:pPr>
            <a:r>
              <a:rPr sz="1920" spc="7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1차 실험 데이터셋 : DiverseVul, BigVul, Cybersecurity QA v2, 2차 실험 데이터셋 : NIST SARD/Juliet C/C++ 1.3 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28697ACA-A560-430A-9E60-F329506C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91660">
            <a:off x="5437622" y="6002846"/>
            <a:ext cx="626975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DE98D73-5B2B-4777-9F5B-F014EDD0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7824" y="2852928"/>
            <a:ext cx="7228332" cy="466344"/>
          </a:xfrm>
          <a:custGeom xmlns:a="http://schemas.openxmlformats.org/drawingml/2006/main">
            <a:rect l="l" t="t" r="r" b="b"/>
            <a:pathLst>
              <a:path w="9637776" h="621792">
                <a:moveTo>
                  <a:pt x="0" y="0"/>
                </a:moveTo>
                <a:lnTo>
                  <a:pt x="9637776" y="0"/>
                </a:lnTo>
                <a:lnTo>
                  <a:pt x="9637776" y="621792"/>
                </a:lnTo>
                <a:lnTo>
                  <a:pt x="0" y="62179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8e225c4ac2493b">
              <a:alphaModFix amt="0"/>
            </a:blip>
            <a:stretch>
              <a:fillRect l="0" t="-252018" r="0" b="-252018"/>
            </a:stretch>
          </a:blip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27E56E3E-D06D-49DD-B1D2-ADA8727E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7824" y="2831497"/>
            <a:ext cx="7228332" cy="487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615"/>
              </a:lnSpc>
              <a:buNone/>
            </a:pPr>
            <a:r>
              <a:rPr sz="2790" spc="10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1차 실험  /  한계 확인</a:t>
            </a: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CC253B19-31A3-46B0-B850-2B113521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1540" y="3538728"/>
            <a:ext cx="7159752" cy="315468"/>
          </a:xfrm>
          <a:custGeom xmlns:a="http://schemas.openxmlformats.org/drawingml/2006/main">
            <a:rect l="l" t="t" r="r" b="b"/>
            <a:pathLst>
              <a:path w="9546336" h="420624">
                <a:moveTo>
                  <a:pt x="0" y="0"/>
                </a:moveTo>
                <a:lnTo>
                  <a:pt x="9546336" y="0"/>
                </a:lnTo>
                <a:lnTo>
                  <a:pt x="9546336" y="420624"/>
                </a:lnTo>
                <a:lnTo>
                  <a:pt x="0" y="42062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8e225c4ac2493b">
              <a:alphaModFix amt="0"/>
            </a:blip>
            <a:stretch>
              <a:fillRect l="0" t="-392225" r="0" b="-392225"/>
            </a:stretch>
          </a:blip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FF09D06A-6A50-43FC-AA9F-54CD26B0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1540" y="3524441"/>
            <a:ext cx="7159752" cy="3297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35"/>
              </a:lnSpc>
              <a:buNone/>
            </a:pPr>
            <a:r>
              <a:rPr sz="1725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DiverseVul 기반 · 취약 250 / 정상 250</a:t>
            </a: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129A5334-E0DC-4216-88ED-055F4968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8299" y="4118991"/>
            <a:ext cx="7178802" cy="663702"/>
          </a:xfrm>
          <a:custGeom xmlns:a="http://schemas.openxmlformats.org/drawingml/2006/main">
            <a:rect l="l" t="t" r="r" b="b"/>
            <a:pathLst>
              <a:path w="9571736" h="884936">
                <a:moveTo>
                  <a:pt x="0" y="0"/>
                </a:moveTo>
                <a:lnTo>
                  <a:pt x="9571736" y="0"/>
                </a:lnTo>
                <a:lnTo>
                  <a:pt x="9571736" y="884936"/>
                </a:lnTo>
                <a:lnTo>
                  <a:pt x="0" y="884936"/>
                </a:lnTo>
                <a:close/>
              </a:path>
            </a:pathLst>
          </a:custGeom>
          <a:solidFill xmlns:a="http://schemas.openxmlformats.org/drawingml/2006/main">
            <a:srgbClr val="F0F3F6"/>
          </a:solidFill>
        </p:spPr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B85C51DF-17A7-4338-87B7-B21A6482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4712" y="4306824"/>
            <a:ext cx="6665976" cy="260604"/>
          </a:xfrm>
          <a:custGeom xmlns:a="http://schemas.openxmlformats.org/drawingml/2006/main">
            <a:rect l="l" t="t" r="r" b="b"/>
            <a:pathLst>
              <a:path w="8887968" h="347472">
                <a:moveTo>
                  <a:pt x="0" y="0"/>
                </a:moveTo>
                <a:lnTo>
                  <a:pt x="8887968" y="0"/>
                </a:lnTo>
                <a:lnTo>
                  <a:pt x="8887968" y="347472"/>
                </a:lnTo>
                <a:lnTo>
                  <a:pt x="0" y="34747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8e225c4ac2493b">
              <a:alphaModFix amt="0"/>
            </a:blip>
            <a:stretch>
              <a:fillRect l="0" t="-448406" r="0" b="-448406"/>
            </a:stretch>
          </a:blip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E67BFBAF-B8EF-4675-B4B2-DBCF7E51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4712" y="4299681"/>
            <a:ext cx="6665976" cy="2677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91"/>
              </a:lnSpc>
              <a:buNone/>
            </a:pPr>
            <a:r>
              <a:rPr sz="1845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학습 332,807개 · 10,401 step · B200 × 2</a:t>
            </a: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EF67D9BD-235C-4929-8AF9-794462DA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4712" y="5225796"/>
            <a:ext cx="4128516" cy="356616"/>
          </a:xfrm>
          <a:custGeom xmlns:a="http://schemas.openxmlformats.org/drawingml/2006/main">
            <a:rect l="l" t="t" r="r" b="b"/>
            <a:pathLst>
              <a:path w="5504688" h="475488">
                <a:moveTo>
                  <a:pt x="0" y="0"/>
                </a:moveTo>
                <a:lnTo>
                  <a:pt x="5504688" y="0"/>
                </a:lnTo>
                <a:lnTo>
                  <a:pt x="5504688" y="475488"/>
                </a:lnTo>
                <a:lnTo>
                  <a:pt x="0" y="47548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8e225c4ac2493b">
              <a:alphaModFix amt="0"/>
            </a:blip>
            <a:stretch>
              <a:fillRect l="0" t="-175576" r="0" b="-175576"/>
            </a:stretch>
          </a:blipFill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06B742F8-BBE0-4E35-BD50-4542C7E1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4712" y="5211509"/>
            <a:ext cx="4128516" cy="370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818"/>
              </a:lnSpc>
              <a:buNone/>
            </a:pPr>
            <a:r>
              <a:rPr sz="2175" spc="8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Precision</a:t>
            </a:r>
          </a:p>
        </p:txBody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A1D5D90E-9FA3-46F8-B42A-2101F01C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80660" y="5225796"/>
            <a:ext cx="2496312" cy="356616"/>
          </a:xfrm>
          <a:custGeom xmlns:a="http://schemas.openxmlformats.org/drawingml/2006/main">
            <a:rect l="l" t="t" r="r" b="b"/>
            <a:pathLst>
              <a:path w="3328416" h="475488">
                <a:moveTo>
                  <a:pt x="0" y="0"/>
                </a:moveTo>
                <a:lnTo>
                  <a:pt x="3328416" y="0"/>
                </a:lnTo>
                <a:lnTo>
                  <a:pt x="3328416" y="475488"/>
                </a:lnTo>
                <a:lnTo>
                  <a:pt x="0" y="47548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8e225c4ac2493b">
              <a:alphaModFix amt="0"/>
            </a:blip>
            <a:stretch>
              <a:fillRect l="0" t="-86395" r="0" b="-86395"/>
            </a:stretch>
          </a:blipFill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C791E7A5-563E-4DB8-BA9A-85105443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80660" y="5211509"/>
            <a:ext cx="2496312" cy="370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3324"/>
              </a:lnSpc>
              <a:buNone/>
            </a:pPr>
            <a:r>
              <a:rPr sz="2565" spc="9">
                <a:solidFill>
                  <a:srgbClr val="8A5A24"/>
                </a:solidFill>
                <a:latin typeface="Mandali"/>
                <a:ea typeface="Mandali"/>
                <a:cs typeface="Mandali"/>
              </a:rPr>
              <a:t>42.00%</a:t>
            </a:r>
          </a:p>
        </p:txBody>
      </p:sp>
      <p:sp>
        <p:nvSpPr>
          <p:cNvPr id="29" name="AutoShape 29">
            <a:extLst xmlns:a="http://schemas.openxmlformats.org/drawingml/2006/main">
              <a:ext uri="{FF2B5EF4-FFF2-40B4-BE49-F238E27FC236}">
                <a16:creationId xmlns:a16="http://schemas.microsoft.com/office/drawing/2014/main" id="{5ABE01A7-B2F8-4B21-85B7-1B37A24D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840">
            <a:off x="1104319" y="5728525"/>
            <a:ext cx="6679321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F5992D2F-DD99-438C-9F1D-D246A02B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4712" y="5897880"/>
            <a:ext cx="4128516" cy="356616"/>
          </a:xfrm>
          <a:custGeom xmlns:a="http://schemas.openxmlformats.org/drawingml/2006/main">
            <a:rect l="l" t="t" r="r" b="b"/>
            <a:pathLst>
              <a:path w="5504688" h="475488">
                <a:moveTo>
                  <a:pt x="0" y="0"/>
                </a:moveTo>
                <a:lnTo>
                  <a:pt x="5504688" y="0"/>
                </a:lnTo>
                <a:lnTo>
                  <a:pt x="5504688" y="475488"/>
                </a:lnTo>
                <a:lnTo>
                  <a:pt x="0" y="47548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8e225c4ac2493b">
              <a:alphaModFix amt="0"/>
            </a:blip>
            <a:stretch>
              <a:fillRect l="0" t="-175576" r="0" b="-175576"/>
            </a:stretch>
          </a:blipFill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C7E09999-AFEC-40DE-A92E-390DFA95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4712" y="5883593"/>
            <a:ext cx="4128516" cy="370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818"/>
              </a:lnSpc>
              <a:buNone/>
            </a:pPr>
            <a:r>
              <a:rPr sz="2175" spc="8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Recall</a:t>
            </a:r>
          </a:p>
        </p:txBody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245E60B5-60DC-48C2-80F2-A5226A2A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80660" y="5897880"/>
            <a:ext cx="2496312" cy="356616"/>
          </a:xfrm>
          <a:custGeom xmlns:a="http://schemas.openxmlformats.org/drawingml/2006/main">
            <a:rect l="l" t="t" r="r" b="b"/>
            <a:pathLst>
              <a:path w="3328416" h="475488">
                <a:moveTo>
                  <a:pt x="0" y="0"/>
                </a:moveTo>
                <a:lnTo>
                  <a:pt x="3328416" y="0"/>
                </a:lnTo>
                <a:lnTo>
                  <a:pt x="3328416" y="475488"/>
                </a:lnTo>
                <a:lnTo>
                  <a:pt x="0" y="47548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8e225c4ac2493b">
              <a:alphaModFix amt="0"/>
            </a:blip>
            <a:stretch>
              <a:fillRect l="0" t="-86395" r="0" b="-86395"/>
            </a:stretch>
          </a:blipFill>
        </p:spPr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481A2284-25B8-4107-A46E-673A2554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80660" y="5883593"/>
            <a:ext cx="2496312" cy="370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3324"/>
              </a:lnSpc>
              <a:buNone/>
            </a:pPr>
            <a:r>
              <a:rPr sz="2565" spc="9">
                <a:solidFill>
                  <a:srgbClr val="8A5A24"/>
                </a:solidFill>
                <a:latin typeface="Mandali"/>
                <a:ea typeface="Mandali"/>
                <a:cs typeface="Mandali"/>
              </a:rPr>
              <a:t>33.60%</a:t>
            </a:r>
          </a:p>
        </p:txBody>
      </p:sp>
      <p:sp>
        <p:nvSpPr>
          <p:cNvPr id="36" name="AutoShape 36">
            <a:extLst xmlns:a="http://schemas.openxmlformats.org/drawingml/2006/main">
              <a:ext uri="{FF2B5EF4-FFF2-40B4-BE49-F238E27FC236}">
                <a16:creationId xmlns:a16="http://schemas.microsoft.com/office/drawing/2014/main" id="{1A4F1FEA-AE96-4950-8A10-B81ADB17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840">
            <a:off x="1104319" y="6400610"/>
            <a:ext cx="6679321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D0ACEB0F-B7C1-4421-8798-5BE61EB1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4712" y="6569964"/>
            <a:ext cx="4128516" cy="356616"/>
          </a:xfrm>
          <a:custGeom xmlns:a="http://schemas.openxmlformats.org/drawingml/2006/main">
            <a:rect l="l" t="t" r="r" b="b"/>
            <a:pathLst>
              <a:path w="5504688" h="475488">
                <a:moveTo>
                  <a:pt x="0" y="0"/>
                </a:moveTo>
                <a:lnTo>
                  <a:pt x="5504688" y="0"/>
                </a:lnTo>
                <a:lnTo>
                  <a:pt x="5504688" y="475488"/>
                </a:lnTo>
                <a:lnTo>
                  <a:pt x="0" y="47548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8e225c4ac2493b">
              <a:alphaModFix amt="0"/>
            </a:blip>
            <a:stretch>
              <a:fillRect l="0" t="-175576" r="0" b="-175576"/>
            </a:stretch>
          </a:blip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E6E5E791-8392-45A0-A04A-900B33A1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4712" y="6555677"/>
            <a:ext cx="4128516" cy="370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818"/>
              </a:lnSpc>
              <a:buNone/>
            </a:pPr>
            <a:r>
              <a:rPr sz="2175" spc="8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JSON 파싱 실패</a:t>
            </a:r>
          </a:p>
        </p:txBody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81ACAAB6-EB08-4592-A39A-1CFE318F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80660" y="6569964"/>
            <a:ext cx="2496312" cy="356616"/>
          </a:xfrm>
          <a:custGeom xmlns:a="http://schemas.openxmlformats.org/drawingml/2006/main">
            <a:rect l="l" t="t" r="r" b="b"/>
            <a:pathLst>
              <a:path w="3328416" h="475488">
                <a:moveTo>
                  <a:pt x="0" y="0"/>
                </a:moveTo>
                <a:lnTo>
                  <a:pt x="3328416" y="0"/>
                </a:lnTo>
                <a:lnTo>
                  <a:pt x="3328416" y="475488"/>
                </a:lnTo>
                <a:lnTo>
                  <a:pt x="0" y="47548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8e225c4ac2493b">
              <a:alphaModFix amt="0"/>
            </a:blip>
            <a:stretch>
              <a:fillRect l="0" t="-86395" r="0" b="-86395"/>
            </a:stretch>
          </a:blipFill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70ADB05-4045-4452-9B66-96BD92A0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80660" y="6555677"/>
            <a:ext cx="2496312" cy="370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3324"/>
              </a:lnSpc>
              <a:buNone/>
            </a:pPr>
            <a:r>
              <a:rPr sz="2565" spc="9">
                <a:solidFill>
                  <a:srgbClr val="8A5A24"/>
                </a:solidFill>
                <a:latin typeface="Mandali"/>
                <a:ea typeface="Mandali"/>
                <a:cs typeface="Mandali"/>
              </a:rPr>
              <a:t>222 / 500</a:t>
            </a:r>
          </a:p>
        </p:txBody>
      </p:sp>
      <p:sp>
        <p:nvSpPr>
          <p:cNvPr id="43" name="AutoShape 43">
            <a:extLst xmlns:a="http://schemas.openxmlformats.org/drawingml/2006/main">
              <a:ext uri="{FF2B5EF4-FFF2-40B4-BE49-F238E27FC236}">
                <a16:creationId xmlns:a16="http://schemas.microsoft.com/office/drawing/2014/main" id="{068FE8C3-9B1F-4188-AC6B-AEF8A839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840">
            <a:off x="1104319" y="7072694"/>
            <a:ext cx="6679321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C40A98E5-F4C6-481D-AB37-6133FAE4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0996" y="7612380"/>
            <a:ext cx="6858000" cy="891540"/>
          </a:xfrm>
          <a:custGeom xmlns:a="http://schemas.openxmlformats.org/drawingml/2006/main">
            <a:rect l="l" t="t" r="r" b="b"/>
            <a:pathLst>
              <a:path w="9144000" h="1188720">
                <a:moveTo>
                  <a:pt x="0" y="0"/>
                </a:moveTo>
                <a:lnTo>
                  <a:pt x="9144000" y="0"/>
                </a:lnTo>
                <a:lnTo>
                  <a:pt x="9144000" y="1188720"/>
                </a:lnTo>
                <a:lnTo>
                  <a:pt x="0" y="11887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8e225c4ac2493b">
              <a:alphaModFix amt="0"/>
            </a:blip>
            <a:stretch>
              <a:fillRect l="0" t="-99884" r="0" b="-99884"/>
            </a:stretch>
          </a:blipFill>
        </p:spPr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8EB6C968-0CAA-4272-AD67-62828E14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0996" y="7590949"/>
            <a:ext cx="6858000" cy="9129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286"/>
              </a:lnSpc>
              <a:buNone/>
            </a:pPr>
            <a:r>
              <a:rPr sz="2445" spc="9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과적합 가능성 의심</a:t>
            </a:r>
          </a:p>
          <a:p xmlns:a="http://schemas.openxmlformats.org/drawingml/2006/main">
            <a:pPr algn="l">
              <a:lnSpc>
                <a:spcPts val="3286"/>
              </a:lnSpc>
              <a:buNone/>
            </a:pPr>
            <a:r>
              <a:rPr sz="2445" spc="9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응답 형식 실패를 함께 확인</a:t>
            </a:r>
          </a:p>
        </p:txBody>
      </p:sp>
      <p:sp>
        <p:nvSpPr>
          <p:cNvPr id="48" name="Freeform 48">
            <a:extLst xmlns:a="http://schemas.openxmlformats.org/drawingml/2006/main">
              <a:ext uri="{FF2B5EF4-FFF2-40B4-BE49-F238E27FC236}">
                <a16:creationId xmlns:a16="http://schemas.microsoft.com/office/drawing/2014/main" id="{0F04B43E-F593-4E96-B6CD-15169D3A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0996" y="8682228"/>
            <a:ext cx="6885432" cy="589788"/>
          </a:xfrm>
          <a:custGeom xmlns:a="http://schemas.openxmlformats.org/drawingml/2006/main">
            <a:rect l="l" t="t" r="r" b="b"/>
            <a:pathLst>
              <a:path w="9180576" h="786384">
                <a:moveTo>
                  <a:pt x="0" y="0"/>
                </a:moveTo>
                <a:lnTo>
                  <a:pt x="9180576" y="0"/>
                </a:lnTo>
                <a:lnTo>
                  <a:pt x="9180576" y="786384"/>
                </a:lnTo>
                <a:lnTo>
                  <a:pt x="0" y="78638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8e225c4ac2493b">
              <a:alphaModFix amt="0"/>
            </a:blip>
            <a:stretch>
              <a:fillRect l="0" t="-177476" r="0" b="-177476"/>
            </a:stretch>
          </a:blipFill>
        </p:spPr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DD4DDA94-1BFA-48E9-BC17-3EEE085E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0996" y="8667941"/>
            <a:ext cx="6885432" cy="604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36"/>
              </a:lnSpc>
              <a:buNone/>
            </a:pPr>
            <a:r>
              <a:rPr sz="1770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낮은 학습 loss만으로 품질을 판단하지 않고</a:t>
            </a:r>
          </a:p>
          <a:p xmlns:a="http://schemas.openxmlformats.org/drawingml/2006/main">
            <a:pPr algn="l">
              <a:lnSpc>
                <a:spcPts val="2336"/>
              </a:lnSpc>
              <a:buNone/>
            </a:pPr>
            <a:r>
              <a:rPr sz="1770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데이터 구성과 출력 형식을 재검토</a:t>
            </a:r>
          </a:p>
        </p:txBody>
      </p:sp>
      <p:sp>
        <p:nvSpPr>
          <p:cNvPr id="51" name="Freeform 51">
            <a:extLst xmlns:a="http://schemas.openxmlformats.org/drawingml/2006/main">
              <a:ext uri="{FF2B5EF4-FFF2-40B4-BE49-F238E27FC236}">
                <a16:creationId xmlns:a16="http://schemas.microsoft.com/office/drawing/2014/main" id="{E4726A3D-6658-41E3-B3FA-B48EA8F3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07424" y="2852928"/>
            <a:ext cx="8339328" cy="466344"/>
          </a:xfrm>
          <a:custGeom xmlns:a="http://schemas.openxmlformats.org/drawingml/2006/main">
            <a:rect l="l" t="t" r="r" b="b"/>
            <a:pathLst>
              <a:path w="11119104" h="621792">
                <a:moveTo>
                  <a:pt x="0" y="0"/>
                </a:moveTo>
                <a:lnTo>
                  <a:pt x="11119104" y="0"/>
                </a:lnTo>
                <a:lnTo>
                  <a:pt x="11119104" y="621792"/>
                </a:lnTo>
                <a:lnTo>
                  <a:pt x="0" y="62179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8e225c4ac2493b">
              <a:alphaModFix amt="0"/>
            </a:blip>
            <a:stretch>
              <a:fillRect l="0" t="-298438" r="0" b="-298438"/>
            </a:stretch>
          </a:blipFill>
        </p:spPr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A771082B-4E70-41DB-BB2A-FA055027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07424" y="2831497"/>
            <a:ext cx="8339328" cy="487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615"/>
              </a:lnSpc>
              <a:buNone/>
            </a:pPr>
            <a:r>
              <a:rPr sz="2790" spc="10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재설계  /  데이터·학습 목표</a:t>
            </a:r>
          </a:p>
        </p:txBody>
      </p:sp>
      <p:sp>
        <p:nvSpPr>
          <p:cNvPr id="54" name="Freeform 54">
            <a:extLst xmlns:a="http://schemas.openxmlformats.org/drawingml/2006/main">
              <a:ext uri="{FF2B5EF4-FFF2-40B4-BE49-F238E27FC236}">
                <a16:creationId xmlns:a16="http://schemas.microsoft.com/office/drawing/2014/main" id="{96914F94-081B-4CC8-BFDD-DD37BED1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21140" y="3511296"/>
            <a:ext cx="8311896" cy="891540"/>
          </a:xfrm>
          <a:custGeom xmlns:a="http://schemas.openxmlformats.org/drawingml/2006/main">
            <a:rect l="l" t="t" r="r" b="b"/>
            <a:pathLst>
              <a:path w="11082528" h="1188720">
                <a:moveTo>
                  <a:pt x="0" y="0"/>
                </a:moveTo>
                <a:lnTo>
                  <a:pt x="11082528" y="0"/>
                </a:lnTo>
                <a:lnTo>
                  <a:pt x="11082528" y="1188720"/>
                </a:lnTo>
                <a:lnTo>
                  <a:pt x="0" y="11887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8e225c4ac2493b">
              <a:alphaModFix amt="0"/>
            </a:blip>
            <a:stretch>
              <a:fillRect l="0" t="-131660" r="0" b="-131660"/>
            </a:stretch>
          </a:blipFill>
        </p:spPr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D1B15BD1-3745-4B94-A4C5-2238A1AC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21140" y="3497009"/>
            <a:ext cx="8311896" cy="9058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57"/>
              </a:lnSpc>
              <a:buNone/>
            </a:pPr>
            <a:r>
              <a:rPr sz="1679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Qwen3-Coder-Next 80B · B200 × 2</a:t>
            </a:r>
          </a:p>
          <a:p xmlns:a="http://schemas.openxmlformats.org/drawingml/2006/main">
            <a:pPr algn="l">
              <a:lnSpc>
                <a:spcPts val="2257"/>
              </a:lnSpc>
              <a:buNone/>
            </a:pPr>
            <a:r>
              <a:rPr sz="1679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학습/검증 구성 10,000 / 1,000개</a:t>
            </a:r>
          </a:p>
          <a:p xmlns:a="http://schemas.openxmlformats.org/drawingml/2006/main">
            <a:pPr algn="l">
              <a:lnSpc>
                <a:spcPts val="2257"/>
              </a:lnSpc>
              <a:buNone/>
            </a:pPr>
            <a:r>
              <a:rPr sz="1679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정제 후 학습 사용 9,975 / 996개</a:t>
            </a:r>
          </a:p>
        </p:txBody>
      </p:sp>
      <p:sp>
        <p:nvSpPr>
          <p:cNvPr id="57" name="Freeform 57">
            <a:extLst xmlns:a="http://schemas.openxmlformats.org/drawingml/2006/main">
              <a:ext uri="{FF2B5EF4-FFF2-40B4-BE49-F238E27FC236}">
                <a16:creationId xmlns:a16="http://schemas.microsoft.com/office/drawing/2014/main" id="{CCB7B1A2-E1DA-4624-AA01-F700A8DD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1904" y="4601908"/>
            <a:ext cx="2537079" cy="671703"/>
          </a:xfrm>
          <a:custGeom xmlns:a="http://schemas.openxmlformats.org/drawingml/2006/main">
            <a:rect l="l" t="t" r="r" b="b"/>
            <a:pathLst>
              <a:path w="3382772" h="895604">
                <a:moveTo>
                  <a:pt x="0" y="149225"/>
                </a:moveTo>
                <a:cubicBezTo>
                  <a:pt x="0" y="66802"/>
                  <a:pt x="66802" y="0"/>
                  <a:pt x="149225" y="0"/>
                </a:cubicBezTo>
                <a:lnTo>
                  <a:pt x="3233547" y="0"/>
                </a:lnTo>
                <a:cubicBezTo>
                  <a:pt x="3315970" y="0"/>
                  <a:pt x="3382772" y="66802"/>
                  <a:pt x="3382772" y="149225"/>
                </a:cubicBezTo>
                <a:lnTo>
                  <a:pt x="3382772" y="746379"/>
                </a:lnTo>
                <a:cubicBezTo>
                  <a:pt x="3382772" y="828802"/>
                  <a:pt x="3315970" y="895604"/>
                  <a:pt x="3233547" y="895604"/>
                </a:cubicBezTo>
                <a:lnTo>
                  <a:pt x="149225" y="895604"/>
                </a:lnTo>
                <a:cubicBezTo>
                  <a:pt x="66802" y="895604"/>
                  <a:pt x="0" y="828802"/>
                  <a:pt x="0" y="746379"/>
                </a:cubicBezTo>
                <a:close/>
              </a:path>
            </a:pathLst>
          </a:custGeom>
          <a:solidFill xmlns:a="http://schemas.openxmlformats.org/drawingml/2006/main">
            <a:srgbClr val="EDF3FA"/>
          </a:solidFill>
          <a:ln xmlns:a="http://schemas.openxmlformats.org/drawingml/2006/main" w="13335">
            <a:solidFill>
              <a:srgbClr val="DDE3E9"/>
            </a:solidFill>
            <a:prstDash val="solid"/>
          </a:ln>
        </p:spPr>
      </p:sp>
      <p:sp>
        <p:nvSpPr>
          <p:cNvPr id="59" name="Freeform 59">
            <a:extLst xmlns:a="http://schemas.openxmlformats.org/drawingml/2006/main">
              <a:ext uri="{FF2B5EF4-FFF2-40B4-BE49-F238E27FC236}">
                <a16:creationId xmlns:a16="http://schemas.microsoft.com/office/drawing/2014/main" id="{A88E1C64-DB7A-44BA-B868-29EE5D4E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30868" y="4786884"/>
            <a:ext cx="2359152" cy="274320"/>
          </a:xfrm>
          <a:custGeom xmlns:a="http://schemas.openxmlformats.org/drawingml/2006/main">
            <a:rect l="l" t="t" r="r" b="b"/>
            <a:pathLst>
              <a:path w="3145536" h="365760">
                <a:moveTo>
                  <a:pt x="0" y="0"/>
                </a:moveTo>
                <a:lnTo>
                  <a:pt x="3145536" y="0"/>
                </a:lnTo>
                <a:lnTo>
                  <a:pt x="3145536" y="365760"/>
                </a:lnTo>
                <a:lnTo>
                  <a:pt x="0" y="3657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8e225c4ac2493b">
              <a:alphaModFix amt="0"/>
            </a:blip>
            <a:stretch>
              <a:fillRect l="0" t="-117571" r="0" b="-117571"/>
            </a:stretch>
          </a:blipFill>
        </p:spPr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43B58A21-2D2A-4822-B6EB-886D8969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30868" y="4779741"/>
            <a:ext cx="2359152" cy="2814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371"/>
              </a:lnSpc>
              <a:buNone/>
            </a:pPr>
            <a:r>
              <a:rPr sz="1829" spc="7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취약점 판단</a:t>
            </a:r>
          </a:p>
        </p:txBody>
      </p:sp>
      <p:sp>
        <p:nvSpPr>
          <p:cNvPr id="61" name="AutoShape 61">
            <a:extLst xmlns:a="http://schemas.openxmlformats.org/drawingml/2006/main">
              <a:ext uri="{FF2B5EF4-FFF2-40B4-BE49-F238E27FC236}">
                <a16:creationId xmlns:a16="http://schemas.microsoft.com/office/drawing/2014/main" id="{3CAE999F-BFA8-4C30-BFB8-679A6E63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16860">
            <a:off x="11716217" y="4919282"/>
            <a:ext cx="227657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859A6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63" name="Freeform 63">
            <a:extLst xmlns:a="http://schemas.openxmlformats.org/drawingml/2006/main">
              <a:ext uri="{FF2B5EF4-FFF2-40B4-BE49-F238E27FC236}">
                <a16:creationId xmlns:a16="http://schemas.microsoft.com/office/drawing/2014/main" id="{D671BFC0-4EAD-45F2-A715-B271090B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08548" y="4601908"/>
            <a:ext cx="2537079" cy="671703"/>
          </a:xfrm>
          <a:custGeom xmlns:a="http://schemas.openxmlformats.org/drawingml/2006/main">
            <a:rect l="l" t="t" r="r" b="b"/>
            <a:pathLst>
              <a:path w="3382772" h="895604">
                <a:moveTo>
                  <a:pt x="0" y="149225"/>
                </a:moveTo>
                <a:cubicBezTo>
                  <a:pt x="0" y="66802"/>
                  <a:pt x="66802" y="0"/>
                  <a:pt x="149225" y="0"/>
                </a:cubicBezTo>
                <a:lnTo>
                  <a:pt x="3233547" y="0"/>
                </a:lnTo>
                <a:cubicBezTo>
                  <a:pt x="3315970" y="0"/>
                  <a:pt x="3382772" y="66802"/>
                  <a:pt x="3382772" y="149225"/>
                </a:cubicBezTo>
                <a:lnTo>
                  <a:pt x="3382772" y="746379"/>
                </a:lnTo>
                <a:cubicBezTo>
                  <a:pt x="3382772" y="828802"/>
                  <a:pt x="3315970" y="895604"/>
                  <a:pt x="3233547" y="895604"/>
                </a:cubicBezTo>
                <a:lnTo>
                  <a:pt x="149225" y="895604"/>
                </a:lnTo>
                <a:cubicBezTo>
                  <a:pt x="66802" y="895604"/>
                  <a:pt x="0" y="828802"/>
                  <a:pt x="0" y="746379"/>
                </a:cubicBezTo>
                <a:close/>
              </a:path>
            </a:pathLst>
          </a:custGeom>
          <a:solidFill xmlns:a="http://schemas.openxmlformats.org/drawingml/2006/main">
            <a:srgbClr val="EDF3FA"/>
          </a:solidFill>
          <a:ln xmlns:a="http://schemas.openxmlformats.org/drawingml/2006/main" w="13335">
            <a:solidFill>
              <a:srgbClr val="DDE3E9"/>
            </a:solidFill>
            <a:prstDash val="solid"/>
          </a:ln>
        </p:spPr>
      </p:sp>
      <p:sp>
        <p:nvSpPr>
          <p:cNvPr id="65" name="Freeform 65">
            <a:extLst xmlns:a="http://schemas.openxmlformats.org/drawingml/2006/main">
              <a:ext uri="{FF2B5EF4-FFF2-40B4-BE49-F238E27FC236}">
                <a16:creationId xmlns:a16="http://schemas.microsoft.com/office/drawing/2014/main" id="{6DF31902-1C46-4C6C-9503-C18FE84A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97512" y="4786884"/>
            <a:ext cx="2359152" cy="274320"/>
          </a:xfrm>
          <a:custGeom xmlns:a="http://schemas.openxmlformats.org/drawingml/2006/main">
            <a:rect l="l" t="t" r="r" b="b"/>
            <a:pathLst>
              <a:path w="3145536" h="365760">
                <a:moveTo>
                  <a:pt x="0" y="0"/>
                </a:moveTo>
                <a:lnTo>
                  <a:pt x="3145536" y="0"/>
                </a:lnTo>
                <a:lnTo>
                  <a:pt x="3145536" y="365760"/>
                </a:lnTo>
                <a:lnTo>
                  <a:pt x="0" y="3657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8e225c4ac2493b">
              <a:alphaModFix amt="0"/>
            </a:blip>
            <a:stretch>
              <a:fillRect l="0" t="-117571" r="0" b="-117571"/>
            </a:stretch>
          </a:blipFill>
        </p:spPr>
      </p:sp>
      <p:sp>
        <p:nvSpPr>
          <p:cNvPr id="66" name="TextBox 66">
            <a:extLst xmlns:a="http://schemas.openxmlformats.org/drawingml/2006/main">
              <a:ext uri="{FF2B5EF4-FFF2-40B4-BE49-F238E27FC236}">
                <a16:creationId xmlns:a16="http://schemas.microsoft.com/office/drawing/2014/main" id="{BF13B80D-D628-47B3-9EFE-DA3E7EF2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97512" y="4779741"/>
            <a:ext cx="2359152" cy="2814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371"/>
              </a:lnSpc>
              <a:buNone/>
            </a:pPr>
            <a:r>
              <a:rPr sz="1829" spc="7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근거 line 선택</a:t>
            </a:r>
          </a:p>
        </p:txBody>
      </p:sp>
      <p:sp>
        <p:nvSpPr>
          <p:cNvPr id="67" name="AutoShape 67">
            <a:extLst xmlns:a="http://schemas.openxmlformats.org/drawingml/2006/main">
              <a:ext uri="{FF2B5EF4-FFF2-40B4-BE49-F238E27FC236}">
                <a16:creationId xmlns:a16="http://schemas.microsoft.com/office/drawing/2014/main" id="{607FB209-44B7-4A8B-B7B5-1ED7E42A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16860">
            <a:off x="14582861" y="4919282"/>
            <a:ext cx="227657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859A6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69" name="Freeform 69">
            <a:extLst xmlns:a="http://schemas.openxmlformats.org/drawingml/2006/main">
              <a:ext uri="{FF2B5EF4-FFF2-40B4-BE49-F238E27FC236}">
                <a16:creationId xmlns:a16="http://schemas.microsoft.com/office/drawing/2014/main" id="{30DC9F53-9F5D-4DB7-83C6-22878BAE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875193" y="4601908"/>
            <a:ext cx="2537079" cy="671703"/>
          </a:xfrm>
          <a:custGeom xmlns:a="http://schemas.openxmlformats.org/drawingml/2006/main">
            <a:rect l="l" t="t" r="r" b="b"/>
            <a:pathLst>
              <a:path w="3382772" h="895604">
                <a:moveTo>
                  <a:pt x="0" y="149225"/>
                </a:moveTo>
                <a:cubicBezTo>
                  <a:pt x="0" y="66802"/>
                  <a:pt x="66802" y="0"/>
                  <a:pt x="149225" y="0"/>
                </a:cubicBezTo>
                <a:lnTo>
                  <a:pt x="3233547" y="0"/>
                </a:lnTo>
                <a:cubicBezTo>
                  <a:pt x="3315970" y="0"/>
                  <a:pt x="3382772" y="66802"/>
                  <a:pt x="3382772" y="149225"/>
                </a:cubicBezTo>
                <a:lnTo>
                  <a:pt x="3382772" y="746379"/>
                </a:lnTo>
                <a:cubicBezTo>
                  <a:pt x="3382772" y="828802"/>
                  <a:pt x="3315970" y="895604"/>
                  <a:pt x="3233547" y="895604"/>
                </a:cubicBezTo>
                <a:lnTo>
                  <a:pt x="149225" y="895604"/>
                </a:lnTo>
                <a:cubicBezTo>
                  <a:pt x="66802" y="895604"/>
                  <a:pt x="0" y="828802"/>
                  <a:pt x="0" y="746379"/>
                </a:cubicBezTo>
                <a:close/>
              </a:path>
            </a:pathLst>
          </a:custGeom>
          <a:solidFill xmlns:a="http://schemas.openxmlformats.org/drawingml/2006/main">
            <a:srgbClr val="EDF3FA"/>
          </a:solidFill>
          <a:ln xmlns:a="http://schemas.openxmlformats.org/drawingml/2006/main" w="13335">
            <a:solidFill>
              <a:srgbClr val="DDE3E9"/>
            </a:solidFill>
            <a:prstDash val="solid"/>
          </a:ln>
        </p:spPr>
      </p:sp>
      <p:sp>
        <p:nvSpPr>
          <p:cNvPr id="71" name="Freeform 71">
            <a:extLst xmlns:a="http://schemas.openxmlformats.org/drawingml/2006/main">
              <a:ext uri="{FF2B5EF4-FFF2-40B4-BE49-F238E27FC236}">
                <a16:creationId xmlns:a16="http://schemas.microsoft.com/office/drawing/2014/main" id="{3A7F1E05-982A-479B-87A0-F09351C1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964156" y="4786884"/>
            <a:ext cx="2359152" cy="274320"/>
          </a:xfrm>
          <a:custGeom xmlns:a="http://schemas.openxmlformats.org/drawingml/2006/main">
            <a:rect l="l" t="t" r="r" b="b"/>
            <a:pathLst>
              <a:path w="3145536" h="365760">
                <a:moveTo>
                  <a:pt x="0" y="0"/>
                </a:moveTo>
                <a:lnTo>
                  <a:pt x="3145536" y="0"/>
                </a:lnTo>
                <a:lnTo>
                  <a:pt x="3145536" y="365760"/>
                </a:lnTo>
                <a:lnTo>
                  <a:pt x="0" y="3657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8e225c4ac2493b">
              <a:alphaModFix amt="0"/>
            </a:blip>
            <a:stretch>
              <a:fillRect l="0" t="-117571" r="0" b="-117571"/>
            </a:stretch>
          </a:blipFill>
        </p:spPr>
      </p:sp>
      <p:sp>
        <p:nvSpPr>
          <p:cNvPr id="72" name="TextBox 72">
            <a:extLst xmlns:a="http://schemas.openxmlformats.org/drawingml/2006/main">
              <a:ext uri="{FF2B5EF4-FFF2-40B4-BE49-F238E27FC236}">
                <a16:creationId xmlns:a16="http://schemas.microsoft.com/office/drawing/2014/main" id="{EEB0C773-DC04-4028-8C68-FF61DFA1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964156" y="4779741"/>
            <a:ext cx="2359152" cy="2814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371"/>
              </a:lnSpc>
              <a:buNone/>
            </a:pPr>
            <a:r>
              <a:rPr sz="1829" spc="7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원문 span 추출</a:t>
            </a:r>
          </a:p>
        </p:txBody>
      </p:sp>
      <p:sp>
        <p:nvSpPr>
          <p:cNvPr id="74" name="Freeform 74">
            <a:extLst xmlns:a="http://schemas.openxmlformats.org/drawingml/2006/main">
              <a:ext uri="{FF2B5EF4-FFF2-40B4-BE49-F238E27FC236}">
                <a16:creationId xmlns:a16="http://schemas.microsoft.com/office/drawing/2014/main" id="{B41AEE5A-219E-4097-B9D2-3337E88E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8572" y="5513832"/>
            <a:ext cx="8257032" cy="301752"/>
          </a:xfrm>
          <a:custGeom xmlns:a="http://schemas.openxmlformats.org/drawingml/2006/main">
            <a:rect l="l" t="t" r="r" b="b"/>
            <a:pathLst>
              <a:path w="11009376" h="402336">
                <a:moveTo>
                  <a:pt x="0" y="0"/>
                </a:moveTo>
                <a:lnTo>
                  <a:pt x="11009376" y="0"/>
                </a:lnTo>
                <a:lnTo>
                  <a:pt x="11009376" y="402336"/>
                </a:lnTo>
                <a:lnTo>
                  <a:pt x="0" y="40233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8e225c4ac2493b">
              <a:alphaModFix amt="0"/>
            </a:blip>
            <a:stretch>
              <a:fillRect l="0" t="-483181" r="0" b="-483181"/>
            </a:stretch>
          </a:blipFill>
        </p:spPr>
      </p:sp>
      <p:sp>
        <p:nvSpPr>
          <p:cNvPr id="75" name="TextBox 75">
            <a:extLst xmlns:a="http://schemas.openxmlformats.org/drawingml/2006/main">
              <a:ext uri="{FF2B5EF4-FFF2-40B4-BE49-F238E27FC236}">
                <a16:creationId xmlns:a16="http://schemas.microsoft.com/office/drawing/2014/main" id="{CAAF34BE-3FC3-4BB3-AB28-7B4FE9EF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8572" y="5499545"/>
            <a:ext cx="8257032" cy="3160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35"/>
              </a:lnSpc>
              <a:buNone/>
            </a:pPr>
            <a:r>
              <a:rPr sz="1725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판단과 근거 추출의 학습 목표 분리</a:t>
            </a:r>
          </a:p>
        </p:txBody>
      </p:sp>
      <p:sp>
        <p:nvSpPr>
          <p:cNvPr id="77" name="Freeform 77">
            <a:extLst xmlns:a="http://schemas.openxmlformats.org/drawingml/2006/main">
              <a:ext uri="{FF2B5EF4-FFF2-40B4-BE49-F238E27FC236}">
                <a16:creationId xmlns:a16="http://schemas.microsoft.com/office/drawing/2014/main" id="{802C1D35-B2A3-4FD6-9180-0682DE51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1615" y="6094095"/>
            <a:ext cx="8317230" cy="2337054"/>
          </a:xfrm>
          <a:custGeom xmlns:a="http://schemas.openxmlformats.org/drawingml/2006/main">
            <a:rect l="l" t="t" r="r" b="b"/>
            <a:pathLst>
              <a:path w="11089640" h="3116072">
                <a:moveTo>
                  <a:pt x="0" y="0"/>
                </a:moveTo>
                <a:lnTo>
                  <a:pt x="11089640" y="0"/>
                </a:lnTo>
                <a:lnTo>
                  <a:pt x="11089640" y="3116072"/>
                </a:lnTo>
                <a:lnTo>
                  <a:pt x="0" y="3116072"/>
                </a:lnTo>
                <a:close/>
              </a:path>
            </a:pathLst>
          </a:custGeom>
          <a:solidFill xmlns:a="http://schemas.openxmlformats.org/drawingml/2006/main">
            <a:srgbClr val="EDF3FA"/>
          </a:solidFill>
        </p:spPr>
      </p:sp>
      <p:sp>
        <p:nvSpPr>
          <p:cNvPr id="79" name="Freeform 79">
            <a:extLst xmlns:a="http://schemas.openxmlformats.org/drawingml/2006/main">
              <a:ext uri="{FF2B5EF4-FFF2-40B4-BE49-F238E27FC236}">
                <a16:creationId xmlns:a16="http://schemas.microsoft.com/office/drawing/2014/main" id="{8449EC11-04E5-4422-9627-AF5C2AAD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09176" y="6350508"/>
            <a:ext cx="7694676" cy="342900"/>
          </a:xfrm>
          <a:custGeom xmlns:a="http://schemas.openxmlformats.org/drawingml/2006/main">
            <a:rect l="l" t="t" r="r" b="b"/>
            <a:pathLst>
              <a:path w="10259568" h="457200">
                <a:moveTo>
                  <a:pt x="0" y="0"/>
                </a:moveTo>
                <a:lnTo>
                  <a:pt x="10259568" y="0"/>
                </a:lnTo>
                <a:lnTo>
                  <a:pt x="10259568" y="457200"/>
                </a:lnTo>
                <a:lnTo>
                  <a:pt x="0" y="4572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8e225c4ac2493b">
              <a:alphaModFix amt="0"/>
            </a:blip>
            <a:stretch>
              <a:fillRect l="0" t="-387244" r="0" b="-387244"/>
            </a:stretch>
          </a:blipFill>
        </p:spPr>
      </p:sp>
      <p:sp>
        <p:nvSpPr>
          <p:cNvPr id="80" name="TextBox 80">
            <a:extLst xmlns:a="http://schemas.openxmlformats.org/drawingml/2006/main">
              <a:ext uri="{FF2B5EF4-FFF2-40B4-BE49-F238E27FC236}">
                <a16:creationId xmlns:a16="http://schemas.microsoft.com/office/drawing/2014/main" id="{098DA4A4-67AD-40FD-A49B-12D74F5D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09176" y="6329077"/>
            <a:ext cx="7694676" cy="3643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27"/>
              </a:lnSpc>
              <a:buNone/>
            </a:pPr>
            <a:r>
              <a:rPr sz="1950" spc="7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2차 평가 기록</a:t>
            </a:r>
          </a:p>
        </p:txBody>
      </p:sp>
      <p:sp>
        <p:nvSpPr>
          <p:cNvPr id="82" name="Freeform 82">
            <a:extLst xmlns:a="http://schemas.openxmlformats.org/drawingml/2006/main">
              <a:ext uri="{FF2B5EF4-FFF2-40B4-BE49-F238E27FC236}">
                <a16:creationId xmlns:a16="http://schemas.microsoft.com/office/drawing/2014/main" id="{EFD40F5A-C999-41D8-A147-B9A6B7F1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09176" y="6830568"/>
            <a:ext cx="7694676" cy="274320"/>
          </a:xfrm>
          <a:custGeom xmlns:a="http://schemas.openxmlformats.org/drawingml/2006/main">
            <a:rect l="l" t="t" r="r" b="b"/>
            <a:pathLst>
              <a:path w="10259568" h="365760">
                <a:moveTo>
                  <a:pt x="0" y="0"/>
                </a:moveTo>
                <a:lnTo>
                  <a:pt x="10259568" y="0"/>
                </a:lnTo>
                <a:lnTo>
                  <a:pt x="10259568" y="365760"/>
                </a:lnTo>
                <a:lnTo>
                  <a:pt x="0" y="3657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8e225c4ac2493b">
              <a:alphaModFix amt="0"/>
            </a:blip>
            <a:stretch>
              <a:fillRect l="0" t="-496555" r="0" b="-496555"/>
            </a:stretch>
          </a:blipFill>
        </p:spPr>
      </p:sp>
      <p:sp>
        <p:nvSpPr>
          <p:cNvPr id="83" name="TextBox 83">
            <a:extLst xmlns:a="http://schemas.openxmlformats.org/drawingml/2006/main">
              <a:ext uri="{FF2B5EF4-FFF2-40B4-BE49-F238E27FC236}">
                <a16:creationId xmlns:a16="http://schemas.microsoft.com/office/drawing/2014/main" id="{ACB4E8A2-7925-4A04-A148-D6E8ACD8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09176" y="6823425"/>
            <a:ext cx="7694676" cy="2814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02"/>
              </a:lnSpc>
              <a:buNone/>
            </a:pPr>
            <a:r>
              <a:rPr sz="1545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NIST SARD/Juliet · C/C++ 함수 · 지정 CWE · 500건</a:t>
            </a:r>
          </a:p>
        </p:txBody>
      </p:sp>
      <p:sp>
        <p:nvSpPr>
          <p:cNvPr id="85" name="Freeform 85">
            <a:extLst xmlns:a="http://schemas.openxmlformats.org/drawingml/2006/main">
              <a:ext uri="{FF2B5EF4-FFF2-40B4-BE49-F238E27FC236}">
                <a16:creationId xmlns:a16="http://schemas.microsoft.com/office/drawing/2014/main" id="{4F9845C2-FFD8-47AF-8A5E-C096FF55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09176" y="7338060"/>
            <a:ext cx="2386584" cy="548640"/>
          </a:xfrm>
          <a:custGeom xmlns:a="http://schemas.openxmlformats.org/drawingml/2006/main">
            <a:rect l="l" t="t" r="r" b="b"/>
            <a:pathLst>
              <a:path w="3182112" h="731520">
                <a:moveTo>
                  <a:pt x="0" y="0"/>
                </a:moveTo>
                <a:lnTo>
                  <a:pt x="3182112" y="0"/>
                </a:lnTo>
                <a:lnTo>
                  <a:pt x="3182112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8e225c4ac2493b">
              <a:alphaModFix amt="0"/>
            </a:blip>
            <a:stretch>
              <a:fillRect l="0" t="-34759" r="0" b="-34759"/>
            </a:stretch>
          </a:blipFill>
        </p:spPr>
      </p:sp>
      <p:sp>
        <p:nvSpPr>
          <p:cNvPr id="86" name="TextBox 86">
            <a:extLst xmlns:a="http://schemas.openxmlformats.org/drawingml/2006/main">
              <a:ext uri="{FF2B5EF4-FFF2-40B4-BE49-F238E27FC236}">
                <a16:creationId xmlns:a16="http://schemas.microsoft.com/office/drawing/2014/main" id="{F5D155CA-CB49-44A3-8953-8987060E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09176" y="7302342"/>
            <a:ext cx="2386584" cy="5843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510"/>
              </a:lnSpc>
              <a:buNone/>
            </a:pPr>
            <a:r>
              <a:rPr sz="3479" spc="13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98.81%</a:t>
            </a:r>
          </a:p>
        </p:txBody>
      </p:sp>
      <p:sp>
        <p:nvSpPr>
          <p:cNvPr id="88" name="Freeform 88">
            <a:extLst xmlns:a="http://schemas.openxmlformats.org/drawingml/2006/main">
              <a:ext uri="{FF2B5EF4-FFF2-40B4-BE49-F238E27FC236}">
                <a16:creationId xmlns:a16="http://schemas.microsoft.com/office/drawing/2014/main" id="{786D5D4C-A222-49B8-BB58-A953B242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09176" y="8078724"/>
            <a:ext cx="2386584" cy="219456"/>
          </a:xfrm>
          <a:custGeom xmlns:a="http://schemas.openxmlformats.org/drawingml/2006/main">
            <a:rect l="l" t="t" r="r" b="b"/>
            <a:pathLst>
              <a:path w="3182112" h="292608">
                <a:moveTo>
                  <a:pt x="0" y="0"/>
                </a:moveTo>
                <a:lnTo>
                  <a:pt x="3182112" y="0"/>
                </a:lnTo>
                <a:lnTo>
                  <a:pt x="3182112" y="292608"/>
                </a:lnTo>
                <a:lnTo>
                  <a:pt x="0" y="29260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8e225c4ac2493b">
              <a:alphaModFix amt="0"/>
            </a:blip>
            <a:stretch>
              <a:fillRect l="0" t="-161899" r="0" b="-161899"/>
            </a:stretch>
          </a:blipFill>
        </p:spPr>
      </p:sp>
      <p:sp>
        <p:nvSpPr>
          <p:cNvPr id="89" name="TextBox 89">
            <a:extLst xmlns:a="http://schemas.openxmlformats.org/drawingml/2006/main">
              <a:ext uri="{FF2B5EF4-FFF2-40B4-BE49-F238E27FC236}">
                <a16:creationId xmlns:a16="http://schemas.microsoft.com/office/drawing/2014/main" id="{FF66483D-707E-4E2A-B56D-08B6E6B6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09176" y="8071581"/>
            <a:ext cx="2386584" cy="2265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944"/>
              </a:lnSpc>
              <a:buNone/>
            </a:pPr>
            <a:r>
              <a:rPr sz="1500" spc="5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Precision</a:t>
            </a:r>
          </a:p>
        </p:txBody>
      </p:sp>
      <p:sp>
        <p:nvSpPr>
          <p:cNvPr id="91" name="Freeform 91">
            <a:extLst xmlns:a="http://schemas.openxmlformats.org/drawingml/2006/main">
              <a:ext uri="{FF2B5EF4-FFF2-40B4-BE49-F238E27FC236}">
                <a16:creationId xmlns:a16="http://schemas.microsoft.com/office/drawing/2014/main" id="{ACB4192B-599F-49C1-9E61-C4DD7A66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15216" y="7338060"/>
            <a:ext cx="2386584" cy="548640"/>
          </a:xfrm>
          <a:custGeom xmlns:a="http://schemas.openxmlformats.org/drawingml/2006/main">
            <a:rect l="l" t="t" r="r" b="b"/>
            <a:pathLst>
              <a:path w="3182112" h="731520">
                <a:moveTo>
                  <a:pt x="0" y="0"/>
                </a:moveTo>
                <a:lnTo>
                  <a:pt x="3182112" y="0"/>
                </a:lnTo>
                <a:lnTo>
                  <a:pt x="3182112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8e225c4ac2493b">
              <a:alphaModFix amt="0"/>
            </a:blip>
            <a:stretch>
              <a:fillRect l="0" t="-34759" r="0" b="-34759"/>
            </a:stretch>
          </a:blipFill>
        </p:spPr>
      </p:sp>
      <p:sp>
        <p:nvSpPr>
          <p:cNvPr id="92" name="TextBox 92">
            <a:extLst xmlns:a="http://schemas.openxmlformats.org/drawingml/2006/main">
              <a:ext uri="{FF2B5EF4-FFF2-40B4-BE49-F238E27FC236}">
                <a16:creationId xmlns:a16="http://schemas.microsoft.com/office/drawing/2014/main" id="{B1FABC0C-0B7C-436B-A346-7A7B9287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15216" y="7302342"/>
            <a:ext cx="2386584" cy="5843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510"/>
              </a:lnSpc>
              <a:buNone/>
            </a:pPr>
            <a:r>
              <a:rPr sz="3479" spc="13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100%</a:t>
            </a:r>
          </a:p>
        </p:txBody>
      </p:sp>
      <p:sp>
        <p:nvSpPr>
          <p:cNvPr id="94" name="Freeform 94">
            <a:extLst xmlns:a="http://schemas.openxmlformats.org/drawingml/2006/main">
              <a:ext uri="{FF2B5EF4-FFF2-40B4-BE49-F238E27FC236}">
                <a16:creationId xmlns:a16="http://schemas.microsoft.com/office/drawing/2014/main" id="{76A552C5-F1AE-42BE-A34F-435C5AB4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15216" y="8078724"/>
            <a:ext cx="2386584" cy="219456"/>
          </a:xfrm>
          <a:custGeom xmlns:a="http://schemas.openxmlformats.org/drawingml/2006/main">
            <a:rect l="l" t="t" r="r" b="b"/>
            <a:pathLst>
              <a:path w="3182112" h="292608">
                <a:moveTo>
                  <a:pt x="0" y="0"/>
                </a:moveTo>
                <a:lnTo>
                  <a:pt x="3182112" y="0"/>
                </a:lnTo>
                <a:lnTo>
                  <a:pt x="3182112" y="292608"/>
                </a:lnTo>
                <a:lnTo>
                  <a:pt x="0" y="29260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8e225c4ac2493b">
              <a:alphaModFix amt="0"/>
            </a:blip>
            <a:stretch>
              <a:fillRect l="0" t="-161899" r="0" b="-161899"/>
            </a:stretch>
          </a:blipFill>
        </p:spPr>
      </p:sp>
      <p:sp>
        <p:nvSpPr>
          <p:cNvPr id="95" name="TextBox 95">
            <a:extLst xmlns:a="http://schemas.openxmlformats.org/drawingml/2006/main">
              <a:ext uri="{FF2B5EF4-FFF2-40B4-BE49-F238E27FC236}">
                <a16:creationId xmlns:a16="http://schemas.microsoft.com/office/drawing/2014/main" id="{6D04E2DE-5EF7-4685-8392-474821CF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15216" y="8071581"/>
            <a:ext cx="2386584" cy="2265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944"/>
              </a:lnSpc>
              <a:buNone/>
            </a:pPr>
            <a:r>
              <a:rPr sz="1500" spc="5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Recall</a:t>
            </a:r>
          </a:p>
        </p:txBody>
      </p:sp>
      <p:sp>
        <p:nvSpPr>
          <p:cNvPr id="97" name="Freeform 97">
            <a:extLst xmlns:a="http://schemas.openxmlformats.org/drawingml/2006/main">
              <a:ext uri="{FF2B5EF4-FFF2-40B4-BE49-F238E27FC236}">
                <a16:creationId xmlns:a16="http://schemas.microsoft.com/office/drawing/2014/main" id="{37CB9234-58BA-48DE-B5D0-02932A4B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21256" y="7338060"/>
            <a:ext cx="2386584" cy="548640"/>
          </a:xfrm>
          <a:custGeom xmlns:a="http://schemas.openxmlformats.org/drawingml/2006/main">
            <a:rect l="l" t="t" r="r" b="b"/>
            <a:pathLst>
              <a:path w="3182112" h="731520">
                <a:moveTo>
                  <a:pt x="0" y="0"/>
                </a:moveTo>
                <a:lnTo>
                  <a:pt x="3182112" y="0"/>
                </a:lnTo>
                <a:lnTo>
                  <a:pt x="3182112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8e225c4ac2493b">
              <a:alphaModFix amt="0"/>
            </a:blip>
            <a:stretch>
              <a:fillRect l="0" t="-34759" r="0" b="-34759"/>
            </a:stretch>
          </a:blipFill>
        </p:spPr>
      </p:sp>
      <p:sp>
        <p:nvSpPr>
          <p:cNvPr id="98" name="TextBox 98">
            <a:extLst xmlns:a="http://schemas.openxmlformats.org/drawingml/2006/main">
              <a:ext uri="{FF2B5EF4-FFF2-40B4-BE49-F238E27FC236}">
                <a16:creationId xmlns:a16="http://schemas.microsoft.com/office/drawing/2014/main" id="{BEC7A5C7-EA8B-4D4B-9BD3-5F735A4E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21256" y="7302342"/>
            <a:ext cx="2386584" cy="5843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510"/>
              </a:lnSpc>
              <a:buNone/>
            </a:pPr>
            <a:r>
              <a:rPr sz="3479" spc="13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1.20%</a:t>
            </a:r>
          </a:p>
        </p:txBody>
      </p:sp>
      <p:sp>
        <p:nvSpPr>
          <p:cNvPr id="100" name="Freeform 100">
            <a:extLst xmlns:a="http://schemas.openxmlformats.org/drawingml/2006/main">
              <a:ext uri="{FF2B5EF4-FFF2-40B4-BE49-F238E27FC236}">
                <a16:creationId xmlns:a16="http://schemas.microsoft.com/office/drawing/2014/main" id="{4606F63C-FED7-4579-8D41-6A71C342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21256" y="8078724"/>
            <a:ext cx="2386584" cy="219456"/>
          </a:xfrm>
          <a:custGeom xmlns:a="http://schemas.openxmlformats.org/drawingml/2006/main">
            <a:rect l="l" t="t" r="r" b="b"/>
            <a:pathLst>
              <a:path w="3182112" h="292608">
                <a:moveTo>
                  <a:pt x="0" y="0"/>
                </a:moveTo>
                <a:lnTo>
                  <a:pt x="3182112" y="0"/>
                </a:lnTo>
                <a:lnTo>
                  <a:pt x="3182112" y="292608"/>
                </a:lnTo>
                <a:lnTo>
                  <a:pt x="0" y="29260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8e225c4ac2493b">
              <a:alphaModFix amt="0"/>
            </a:blip>
            <a:stretch>
              <a:fillRect l="0" t="-161899" r="0" b="-161899"/>
            </a:stretch>
          </a:blipFill>
        </p:spPr>
      </p:sp>
      <p:sp>
        <p:nvSpPr>
          <p:cNvPr id="101" name="TextBox 101">
            <a:extLst xmlns:a="http://schemas.openxmlformats.org/drawingml/2006/main">
              <a:ext uri="{FF2B5EF4-FFF2-40B4-BE49-F238E27FC236}">
                <a16:creationId xmlns:a16="http://schemas.microsoft.com/office/drawing/2014/main" id="{8D71F2E0-CFE0-45B1-BF7A-04E2F241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21256" y="8071581"/>
            <a:ext cx="2386584" cy="2265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944"/>
              </a:lnSpc>
              <a:buNone/>
            </a:pPr>
            <a:r>
              <a:rPr sz="1500" spc="5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FPR</a:t>
            </a:r>
          </a:p>
        </p:txBody>
      </p:sp>
      <p:sp>
        <p:nvSpPr>
          <p:cNvPr id="103" name="Freeform 103">
            <a:extLst xmlns:a="http://schemas.openxmlformats.org/drawingml/2006/main">
              <a:ext uri="{FF2B5EF4-FFF2-40B4-BE49-F238E27FC236}">
                <a16:creationId xmlns:a16="http://schemas.microsoft.com/office/drawing/2014/main" id="{EB806684-7982-44BC-AFF4-14107DDB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34856" y="8627364"/>
            <a:ext cx="8243316" cy="288036"/>
          </a:xfrm>
          <a:custGeom xmlns:a="http://schemas.openxmlformats.org/drawingml/2006/main">
            <a:rect l="l" t="t" r="r" b="b"/>
            <a:pathLst>
              <a:path w="10991088" h="384048">
                <a:moveTo>
                  <a:pt x="0" y="0"/>
                </a:moveTo>
                <a:lnTo>
                  <a:pt x="10991088" y="0"/>
                </a:lnTo>
                <a:lnTo>
                  <a:pt x="10991088" y="384048"/>
                </a:lnTo>
                <a:lnTo>
                  <a:pt x="0" y="38404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8e225c4ac2493b">
              <a:alphaModFix amt="0"/>
            </a:blip>
            <a:stretch>
              <a:fillRect l="0" t="-507643" r="0" b="-507643"/>
            </a:stretch>
          </a:blipFill>
        </p:spPr>
      </p:sp>
      <p:sp>
        <p:nvSpPr>
          <p:cNvPr id="104" name="TextBox 104">
            <a:extLst xmlns:a="http://schemas.openxmlformats.org/drawingml/2006/main">
              <a:ext uri="{FF2B5EF4-FFF2-40B4-BE49-F238E27FC236}">
                <a16:creationId xmlns:a16="http://schemas.microsoft.com/office/drawing/2014/main" id="{AD2E9035-969E-484B-B055-511C1625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34856" y="8620221"/>
            <a:ext cx="8243316" cy="2951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02"/>
              </a:lnSpc>
              <a:buNone/>
            </a:pPr>
            <a:r>
              <a:rPr sz="1545" spc="6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모델 단독 평가 · HF 최초 blind 평가</a:t>
            </a:r>
          </a:p>
        </p:txBody>
      </p:sp>
      <p:sp>
        <p:nvSpPr>
          <p:cNvPr id="106" name="Freeform 106">
            <a:extLst xmlns:a="http://schemas.openxmlformats.org/drawingml/2006/main">
              <a:ext uri="{FF2B5EF4-FFF2-40B4-BE49-F238E27FC236}">
                <a16:creationId xmlns:a16="http://schemas.microsoft.com/office/drawing/2014/main" id="{98CE8315-97AF-4840-A51C-08AD1019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34856" y="9066276"/>
            <a:ext cx="8257032" cy="301752"/>
          </a:xfrm>
          <a:custGeom xmlns:a="http://schemas.openxmlformats.org/drawingml/2006/main">
            <a:rect l="l" t="t" r="r" b="b"/>
            <a:pathLst>
              <a:path w="11009376" h="402336">
                <a:moveTo>
                  <a:pt x="0" y="0"/>
                </a:moveTo>
                <a:lnTo>
                  <a:pt x="11009376" y="0"/>
                </a:lnTo>
                <a:lnTo>
                  <a:pt x="11009376" y="402336"/>
                </a:lnTo>
                <a:lnTo>
                  <a:pt x="0" y="40233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8e225c4ac2493b">
              <a:alphaModFix amt="0"/>
            </a:blip>
            <a:stretch>
              <a:fillRect l="0" t="-483181" r="0" b="-483181"/>
            </a:stretch>
          </a:blipFill>
        </p:spPr>
      </p:sp>
      <p:sp>
        <p:nvSpPr>
          <p:cNvPr id="107" name="TextBox 107">
            <a:extLst xmlns:a="http://schemas.openxmlformats.org/drawingml/2006/main">
              <a:ext uri="{FF2B5EF4-FFF2-40B4-BE49-F238E27FC236}">
                <a16:creationId xmlns:a16="http://schemas.microsoft.com/office/drawing/2014/main" id="{8353DCF3-6C3E-4CCF-990E-21BD4597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34856" y="9059133"/>
            <a:ext cx="8257032" cy="308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96"/>
              </a:lnSpc>
              <a:buNone/>
            </a:pPr>
            <a:r>
              <a:rPr sz="1695" spc="6">
                <a:solidFill>
                  <a:srgbClr val="8A5A24"/>
                </a:solidFill>
                <a:latin typeface="Mandali"/>
                <a:ea typeface="Mandali"/>
                <a:cs typeface="Mandali"/>
              </a:rPr>
              <a:t>진행 상태: 데이터셋 구축 · 실증 테스트 예정</a:t>
            </a:r>
          </a:p>
        </p:txBody>
      </p:sp>
      <p:sp>
        <p:nvSpPr>
          <p:cNvPr id="109" name="Freeform 109">
            <a:extLst xmlns:a="http://schemas.openxmlformats.org/drawingml/2006/main">
              <a:ext uri="{FF2B5EF4-FFF2-40B4-BE49-F238E27FC236}">
                <a16:creationId xmlns:a16="http://schemas.microsoft.com/office/drawing/2014/main" id="{60CA5E21-6B9D-4053-B268-237D04B1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1540" y="9436608"/>
            <a:ext cx="16459200" cy="233172"/>
          </a:xfrm>
          <a:custGeom xmlns:a="http://schemas.openxmlformats.org/drawingml/2006/main">
            <a:rect l="l" t="t" r="r" b="b"/>
            <a:pathLst>
              <a:path w="21945600" h="310896">
                <a:moveTo>
                  <a:pt x="0" y="0"/>
                </a:moveTo>
                <a:lnTo>
                  <a:pt x="21945600" y="0"/>
                </a:lnTo>
                <a:lnTo>
                  <a:pt x="21945600" y="310896"/>
                </a:lnTo>
                <a:lnTo>
                  <a:pt x="0" y="31089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8e225c4ac2493b">
              <a:alphaModFix amt="0"/>
            </a:blip>
            <a:stretch>
              <a:fillRect l="0" t="-1325414" r="0" b="-1325414"/>
            </a:stretch>
          </a:blipFill>
        </p:spPr>
      </p:sp>
      <p:sp>
        <p:nvSpPr>
          <p:cNvPr id="110" name="TextBox 110">
            <a:extLst xmlns:a="http://schemas.openxmlformats.org/drawingml/2006/main">
              <a:ext uri="{FF2B5EF4-FFF2-40B4-BE49-F238E27FC236}">
                <a16:creationId xmlns:a16="http://schemas.microsoft.com/office/drawing/2014/main" id="{86F15C50-B025-4318-AA8B-381DC269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1540" y="9422321"/>
            <a:ext cx="16459200" cy="2474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66"/>
              </a:lnSpc>
              <a:buNone/>
            </a:pPr>
            <a:r>
              <a:rPr sz="1439" spc="5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※ 1차를 진행하면서 정답 + 근거의 필요성을 느꼈고, 데이터셋을 재설계하면서 취약점 판단 + 근거 선택을 할 수 있도록 학습 데이터셋을 재구축함. 그 과정에서 원천 데이터셋 교체가 이루어짐.</a:t>
            </a:r>
          </a:p>
        </p:txBody>
      </p:sp>
      <p:sp>
        <p:nvSpPr>
          <p:cNvPr id="111" name="AutoShape 111">
            <a:extLst xmlns:a="http://schemas.openxmlformats.org/drawingml/2006/main">
              <a:ext uri="{FF2B5EF4-FFF2-40B4-BE49-F238E27FC236}">
                <a16:creationId xmlns:a16="http://schemas.microsoft.com/office/drawing/2014/main" id="{77B377B6-48DD-4D84-92B1-151A5569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60">
            <a:off x="816293" y="9706166"/>
            <a:ext cx="16650853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469167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64848851-A175-468E-8D41-DC2CADAE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960" y="493776"/>
            <a:ext cx="16596360" cy="438476"/>
          </a:xfrm>
          <a:custGeom xmlns:a="http://schemas.openxmlformats.org/drawingml/2006/main">
            <a:rect l="l" t="t" r="r" b="b"/>
            <a:pathLst>
              <a:path w="22128480" h="584635">
                <a:moveTo>
                  <a:pt x="0" y="0"/>
                </a:moveTo>
                <a:lnTo>
                  <a:pt x="22128480" y="0"/>
                </a:lnTo>
                <a:lnTo>
                  <a:pt x="22128480" y="584635"/>
                </a:lnTo>
                <a:lnTo>
                  <a:pt x="0" y="58463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45733e81de34a27">
              <a:alphaModFix amt="0"/>
            </a:blip>
            <a:stretch>
              <a:fillRect l="0" t="-703101" r="0" b="-671919"/>
            </a:stretch>
          </a:blip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C0A580C5-3FF5-4DBB-B4D4-A7FBA9A3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960" y="486633"/>
            <a:ext cx="16596360" cy="4456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99"/>
              </a:lnSpc>
              <a:buNone/>
            </a:pPr>
            <a:r>
              <a:rPr sz="1620" spc="126">
                <a:solidFill>
                  <a:srgbClr val="2859A6"/>
                </a:solidFill>
                <a:latin typeface="Mandali"/>
                <a:ea typeface="Mandali"/>
                <a:cs typeface="Mandali"/>
              </a:rPr>
              <a:t>05  /  FrameWork Development</a:t>
            </a: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D00C27BF-4247-422D-8185-4A89C6BD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960" y="1124712"/>
            <a:ext cx="16596360" cy="1110478"/>
          </a:xfrm>
          <a:custGeom xmlns:a="http://schemas.openxmlformats.org/drawingml/2006/main">
            <a:rect l="l" t="t" r="r" b="b"/>
            <a:pathLst>
              <a:path w="22128480" h="1480637">
                <a:moveTo>
                  <a:pt x="0" y="0"/>
                </a:moveTo>
                <a:lnTo>
                  <a:pt x="22128480" y="0"/>
                </a:lnTo>
                <a:lnTo>
                  <a:pt x="22128480" y="1480637"/>
                </a:lnTo>
                <a:lnTo>
                  <a:pt x="0" y="1480637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45733e81de34a27">
              <a:alphaModFix amt="0"/>
            </a:blip>
            <a:stretch>
              <a:fillRect l="0" t="-260329" r="0" b="-222087"/>
            </a:stretch>
          </a:blip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F0F1BF41-2129-4D29-9AB5-EF3989ED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960" y="1096137"/>
            <a:ext cx="16596360" cy="11390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5248"/>
              </a:lnSpc>
              <a:buNone/>
            </a:pPr>
            <a:r>
              <a:rPr sz="4050" spc="15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GPU-Based AutoML 오픈소스 프레임워크 개발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661A4272-D5AC-4A16-B970-2044DFA2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0392" y="1920240"/>
            <a:ext cx="16459200" cy="529201"/>
          </a:xfrm>
          <a:custGeom xmlns:a="http://schemas.openxmlformats.org/drawingml/2006/main">
            <a:rect l="l" t="t" r="r" b="b"/>
            <a:pathLst>
              <a:path w="21945600" h="705601">
                <a:moveTo>
                  <a:pt x="0" y="0"/>
                </a:moveTo>
                <a:lnTo>
                  <a:pt x="21945600" y="0"/>
                </a:lnTo>
                <a:lnTo>
                  <a:pt x="21945600" y="705601"/>
                </a:lnTo>
                <a:lnTo>
                  <a:pt x="0" y="70560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45733e81de34a27">
              <a:alphaModFix amt="0"/>
            </a:blip>
            <a:stretch>
              <a:fillRect l="0" t="-567146" r="0" b="-544901"/>
            </a:stretch>
          </a:blip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C9C6BF7D-C2DE-4345-A195-DF378179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0392" y="1913097"/>
            <a:ext cx="16459200" cy="5363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88"/>
              </a:lnSpc>
              <a:buNone/>
            </a:pPr>
            <a:r>
              <a:rPr sz="1920" spc="7">
                <a:solidFill>
                  <a:srgbClr val="667284"/>
                </a:solidFill>
                <a:latin typeface="Mandali"/>
                <a:ea typeface="Mandali"/>
                <a:cs typeface="Mandali"/>
              </a:rPr>
              <a:t>Only GPU 를 지향하는 AutoML 프레임워크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16B444B-CF33-4444-A84B-76D93943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91660">
            <a:off x="5437622" y="6002846"/>
            <a:ext cx="626975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28AB35AA-05EC-4191-9D4C-D81B2302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9992" y="2449441"/>
            <a:ext cx="8339328" cy="769441"/>
          </a:xfrm>
          <a:custGeom xmlns:a="http://schemas.openxmlformats.org/drawingml/2006/main">
            <a:rect l="l" t="t" r="r" b="b"/>
            <a:pathLst>
              <a:path w="11119104" h="1025921">
                <a:moveTo>
                  <a:pt x="0" y="0"/>
                </a:moveTo>
                <a:lnTo>
                  <a:pt x="11119104" y="0"/>
                </a:lnTo>
                <a:lnTo>
                  <a:pt x="11119104" y="1025921"/>
                </a:lnTo>
                <a:lnTo>
                  <a:pt x="0" y="102592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45733e81de34a27">
              <a:alphaModFix amt="0"/>
            </a:blip>
            <a:stretch>
              <a:fillRect l="0" t="-180877" r="0" b="-141486"/>
            </a:stretch>
          </a:blip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6FEC9C00-7007-4117-8F4B-CEC10573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9992" y="2428010"/>
            <a:ext cx="8339328" cy="7908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602361" lvl="1" indent="-301180" algn="l">
              <a:lnSpc>
                <a:spcPts val="3615"/>
              </a:lnSpc>
              <a:buAutoNum type="arabicPeriod" startAt="1"/>
            </a:pPr>
            <a:r>
              <a:rPr sz="2790" spc="10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프레임워크 개발</a:t>
            </a: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63FB700-4B9D-49C9-8CE7-AD6CA6A2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60">
            <a:off x="816293" y="9706166"/>
            <a:ext cx="16650853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516BDD2D-61B9-4A5E-A4CC-A900648C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7823" y="2376678"/>
            <a:ext cx="7228332" cy="769440"/>
          </a:xfrm>
          <a:custGeom xmlns:a="http://schemas.openxmlformats.org/drawingml/2006/main">
            <a:rect l="l" t="t" r="r" b="b"/>
            <a:pathLst>
              <a:path w="9637776" h="1025921">
                <a:moveTo>
                  <a:pt x="0" y="0"/>
                </a:moveTo>
                <a:lnTo>
                  <a:pt x="9637776" y="0"/>
                </a:lnTo>
                <a:lnTo>
                  <a:pt x="9637776" y="1025921"/>
                </a:lnTo>
                <a:lnTo>
                  <a:pt x="0" y="102592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45733e81de34a27">
              <a:alphaModFix amt="0"/>
            </a:blip>
            <a:stretch>
              <a:fillRect l="0" t="-152743" r="0" b="-113351"/>
            </a:stretch>
          </a:blipFill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67B29835-849D-45CA-8567-A231B871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7823" y="2355247"/>
            <a:ext cx="7228332" cy="790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602361" lvl="1" indent="-301180" algn="l">
              <a:lnSpc>
                <a:spcPts val="3615"/>
              </a:lnSpc>
              <a:buAutoNum type="arabicPeriod" startAt="1"/>
            </a:pPr>
            <a:r>
              <a:rPr sz="2790" spc="10">
                <a:solidFill>
                  <a:srgbClr val="172B43"/>
                </a:solidFill>
                <a:latin typeface="Mandali"/>
                <a:ea typeface="Mandali"/>
                <a:cs typeface="Mandali"/>
              </a:rPr>
              <a:t>스터디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53D58697-D92B-4CFF-965F-C380F757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7823" y="3135731"/>
            <a:ext cx="6539133" cy="1715843"/>
          </a:xfrm>
          <a:custGeom xmlns:a="http://schemas.openxmlformats.org/drawingml/2006/main">
            <a:rect l="l" t="t" r="r" b="b"/>
            <a:pathLst>
              <a:path w="8718844" h="2287791">
                <a:moveTo>
                  <a:pt x="0" y="0"/>
                </a:moveTo>
                <a:lnTo>
                  <a:pt x="8718844" y="0"/>
                </a:lnTo>
                <a:lnTo>
                  <a:pt x="8718844" y="2287791"/>
                </a:lnTo>
                <a:lnTo>
                  <a:pt x="0" y="228779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3eff41f54f34350"/>
            <a:stretch>
              <a:fillRect l="0" t="-64" r="0" b="-64"/>
            </a:stretch>
          </a:blipFill>
        </p:spPr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D012CAF3-857C-475F-8A0A-013E70AD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7823" y="4121004"/>
            <a:ext cx="6539133" cy="1839599"/>
          </a:xfrm>
          <a:custGeom xmlns:a="http://schemas.openxmlformats.org/drawingml/2006/main">
            <a:rect l="l" t="t" r="r" b="b"/>
            <a:pathLst>
              <a:path w="8718844" h="2452800">
                <a:moveTo>
                  <a:pt x="0" y="0"/>
                </a:moveTo>
                <a:lnTo>
                  <a:pt x="8718844" y="0"/>
                </a:lnTo>
                <a:lnTo>
                  <a:pt x="8718844" y="2452800"/>
                </a:lnTo>
                <a:lnTo>
                  <a:pt x="0" y="2452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1c0bc510ec94b67"/>
            <a:stretch>
              <a:fillRect l="0" t="-68" r="0" b="-68"/>
            </a:stretch>
          </a:blipFill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017A7A12-4F80-451C-9B8C-E8654243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6295" y="5155642"/>
            <a:ext cx="6600661" cy="1945802"/>
          </a:xfrm>
          <a:custGeom xmlns:a="http://schemas.openxmlformats.org/drawingml/2006/main">
            <a:rect l="l" t="t" r="r" b="b"/>
            <a:pathLst>
              <a:path w="8800882" h="2594404">
                <a:moveTo>
                  <a:pt x="0" y="0"/>
                </a:moveTo>
                <a:lnTo>
                  <a:pt x="8800882" y="0"/>
                </a:lnTo>
                <a:lnTo>
                  <a:pt x="8800882" y="2594404"/>
                </a:lnTo>
                <a:lnTo>
                  <a:pt x="0" y="259440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aa430ac1c204d48"/>
            <a:stretch>
              <a:fillRect l="0" t="-71" r="0" b="-71"/>
            </a:stretch>
          </a:blipFill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B3A37A4-9C38-49E1-85F2-E3E9DE37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7823" y="6206804"/>
            <a:ext cx="6539133" cy="1782623"/>
          </a:xfrm>
          <a:custGeom xmlns:a="http://schemas.openxmlformats.org/drawingml/2006/main">
            <a:rect l="l" t="t" r="r" b="b"/>
            <a:pathLst>
              <a:path w="8718844" h="2376831">
                <a:moveTo>
                  <a:pt x="0" y="0"/>
                </a:moveTo>
                <a:lnTo>
                  <a:pt x="8718844" y="0"/>
                </a:lnTo>
                <a:lnTo>
                  <a:pt x="8718844" y="2376832"/>
                </a:lnTo>
                <a:lnTo>
                  <a:pt x="0" y="237683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51420fa282d4a65"/>
            <a:stretch>
              <a:fillRect l="0" t="-66" r="0" b="-66"/>
            </a:stretch>
          </a:blip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741B38D2-D5D3-4930-A3DD-1A201D89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73886" y="8065628"/>
            <a:ext cx="4574679" cy="11804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759"/>
              </a:lnSpc>
              <a:buNone/>
            </a:pPr>
            <a:r>
              <a:rPr sz="3399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엔비디아 수료증 4종 취득</a:t>
            </a:r>
          </a:p>
          <a:p xmlns:a="http://schemas.openxmlformats.org/drawingml/2006/main">
            <a:pPr algn="l">
              <a:lnSpc>
                <a:spcPts val="4759"/>
              </a:lnSpc>
              <a:buNone/>
            </a:pPr>
            <a:r>
              <a:rPr sz="3399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AI / ML / DL 관련 수료증</a:t>
            </a:r>
          </a:p>
        </p:txBody>
      </p:sp>
      <p:sp>
        <p:nvSpPr>
          <p:cNvPr id="25" name="GUAM_PR213_lead">
            <a:extLst xmlns:a="http://schemas.openxmlformats.org/drawingml/2006/main">
              <a:ext uri="{FF2B5EF4-FFF2-40B4-BE49-F238E27FC236}">
                <a16:creationId xmlns:a16="http://schemas.microsoft.com/office/drawing/2014/main" id="{610EF11E-92B6-4650-A840-D7FF265A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343275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B3047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1B3047"/>
                </a:solidFill>
                <a:latin typeface="Noto Sans Kr"/>
                <a:ea typeface="Noto Sans Kr"/>
                <a:cs typeface="Noto Sans Kr"/>
              </a:rPr>
              <a:t>기술 문서 정합성 감사 및 최신화</a:t>
            </a:r>
          </a:p>
        </p:txBody>
      </p:sp>
      <p:sp>
        <p:nvSpPr>
          <p:cNvPr id="26" name="GUAM_PR213_scope">
            <a:extLst xmlns:a="http://schemas.openxmlformats.org/drawingml/2006/main">
              <a:ext uri="{FF2B5EF4-FFF2-40B4-BE49-F238E27FC236}">
                <a16:creationId xmlns:a16="http://schemas.microsoft.com/office/drawing/2014/main" id="{AA2F7988-876D-4A65-A7AB-787BD7A2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010025"/>
            <a:ext cx="790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17184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617184"/>
                </a:solidFill>
                <a:latin typeface="Noto Sans Kr"/>
                <a:ea typeface="Noto Sans Kr"/>
                <a:cs typeface="Noto Sans Kr"/>
              </a:rPr>
              <a:t>README · API 명세 · 아키텍처 · 코드 주석</a:t>
            </a:r>
          </a:p>
          <a:p xmlns:a="http://schemas.openxmlformats.org/drawingml/2006/main">
            <a:pPr>
              <a:defRPr sz="2100" b="0">
                <a:solidFill>
                  <a:srgbClr val="617184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617184"/>
                </a:solidFill>
                <a:latin typeface="Noto Sans Kr"/>
                <a:ea typeface="Noto Sans Kr"/>
                <a:cs typeface="Noto Sans Kr"/>
              </a:rPr>
              <a:t>총 31개 파일을 코드·테스트·이슈 상태와 대조해 정비</a:t>
            </a:r>
          </a:p>
        </p:txBody>
      </p:sp>
      <p:sp>
        <p:nvSpPr>
          <p:cNvPr id="27" name="GUAM_PR213_work1">
            <a:extLst xmlns:a="http://schemas.openxmlformats.org/drawingml/2006/main">
              <a:ext uri="{FF2B5EF4-FFF2-40B4-BE49-F238E27FC236}">
                <a16:creationId xmlns:a16="http://schemas.microsoft.com/office/drawing/2014/main" id="{4FC13B66-E091-4260-8ED9-F787F32B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181600"/>
            <a:ext cx="7905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B3047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B3047"/>
                </a:solidFill>
                <a:latin typeface="Noto Sans Kr"/>
                <a:ea typeface="Noto Sans Kr"/>
                <a:cs typeface="Noto Sans Kr"/>
              </a:rPr>
              <a:t>기본 OOF·블렌딩과 멀티레벨 스태킹 구분</a:t>
            </a:r>
          </a:p>
        </p:txBody>
      </p:sp>
      <p:sp>
        <p:nvSpPr>
          <p:cNvPr id="28" name="GUAM_PR213_detail1">
            <a:extLst xmlns:a="http://schemas.openxmlformats.org/drawingml/2006/main">
              <a:ext uri="{FF2B5EF4-FFF2-40B4-BE49-F238E27FC236}">
                <a16:creationId xmlns:a16="http://schemas.microsoft.com/office/drawing/2014/main" id="{4C04E9CF-AEA0-4F18-A531-FDDA9CA9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676900"/>
            <a:ext cx="790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1718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17184"/>
                </a:solidFill>
                <a:latin typeface="Noto Sans Kr"/>
                <a:ea typeface="Noto Sans Kr"/>
                <a:cs typeface="Noto Sans Kr"/>
              </a:rPr>
              <a:t>기본 프리셋의 동작과 고급 API의 조립 경로 명확화</a:t>
            </a:r>
          </a:p>
        </p:txBody>
      </p:sp>
      <p:sp>
        <p:nvSpPr>
          <p:cNvPr id="29" name="GUAM_PR213_work2">
            <a:extLst xmlns:a="http://schemas.openxmlformats.org/drawingml/2006/main">
              <a:ext uri="{FF2B5EF4-FFF2-40B4-BE49-F238E27FC236}">
                <a16:creationId xmlns:a16="http://schemas.microsoft.com/office/drawing/2014/main" id="{86EBCC43-2873-4597-867B-72A2C440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286500"/>
            <a:ext cx="7905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B3047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B3047"/>
                </a:solidFill>
                <a:latin typeface="Noto Sans Kr"/>
                <a:ea typeface="Noto Sans Kr"/>
                <a:cs typeface="Noto Sans Kr"/>
              </a:rPr>
              <a:t>구현 상태와 지원 범위 정정</a:t>
            </a:r>
          </a:p>
        </p:txBody>
      </p:sp>
      <p:sp>
        <p:nvSpPr>
          <p:cNvPr id="30" name="GUAM_PR213_detail2">
            <a:extLst xmlns:a="http://schemas.openxmlformats.org/drawingml/2006/main">
              <a:ext uri="{FF2B5EF4-FFF2-40B4-BE49-F238E27FC236}">
                <a16:creationId xmlns:a16="http://schemas.microsoft.com/office/drawing/2014/main" id="{1A7D9F4A-822B-4DC9-A86D-A3443100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781800"/>
            <a:ext cx="7905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1718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17184"/>
                </a:solidFill>
                <a:latin typeface="Noto Sans Kr"/>
                <a:ea typeface="Noto Sans Kr"/>
                <a:cs typeface="Noto Sans Kr"/>
              </a:rPr>
              <a:t>오래된 stub 표기 수정 · 분산 기능의 제약 문서화</a:t>
            </a:r>
          </a:p>
          <a:p xmlns:a="http://schemas.openxmlformats.org/drawingml/2006/main">
            <a:pPr>
              <a:defRPr sz="1950" b="0">
                <a:solidFill>
                  <a:srgbClr val="61718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17184"/>
                </a:solidFill>
                <a:latin typeface="Noto Sans Kr"/>
                <a:ea typeface="Noto Sans Kr"/>
                <a:cs typeface="Noto Sans Kr"/>
              </a:rPr>
              <a:t>Code ID·파일·Linear 연결 보완</a:t>
            </a:r>
          </a:p>
        </p:txBody>
      </p:sp>
      <p:sp>
        <p:nvSpPr>
          <p:cNvPr id="31" name="GUAM_PR213_result">
            <a:extLst xmlns:a="http://schemas.openxmlformats.org/drawingml/2006/main">
              <a:ext uri="{FF2B5EF4-FFF2-40B4-BE49-F238E27FC236}">
                <a16:creationId xmlns:a16="http://schemas.microsoft.com/office/drawing/2014/main" id="{D683B34C-1868-4448-AE26-3F8DFE2D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7924800"/>
            <a:ext cx="790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3165A9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3165A9"/>
                </a:solidFill>
                <a:latin typeface="Noto Sans Kr"/>
                <a:ea typeface="Noto Sans Kr"/>
                <a:cs typeface="Noto Sans Kr"/>
              </a:rPr>
              <a:t>PR #213 병합 완료</a:t>
            </a:r>
          </a:p>
        </p:txBody>
      </p:sp>
      <p:sp>
        <p:nvSpPr>
          <p:cNvPr id="32" name="GUAM_PR213_evidence">
            <a:extLst xmlns:a="http://schemas.openxmlformats.org/drawingml/2006/main">
              <a:ext uri="{FF2B5EF4-FFF2-40B4-BE49-F238E27FC236}">
                <a16:creationId xmlns:a16="http://schemas.microsoft.com/office/drawing/2014/main" id="{78275775-B5EF-470A-977A-E4A95E10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8486775"/>
            <a:ext cx="790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1718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617184"/>
                </a:solidFill>
                <a:latin typeface="Noto Sans Kr"/>
                <a:ea typeface="Noto Sans Kr"/>
                <a:cs typeface="Noto Sans Kr"/>
              </a:rPr>
              <a:t>2026.09.01 병합 · +380 / −143줄</a:t>
            </a:r>
          </a:p>
          <a:p xmlns:a="http://schemas.openxmlformats.org/drawingml/2006/main">
            <a:pPr>
              <a:defRPr sz="1875" b="0">
                <a:solidFill>
                  <a:srgbClr val="61718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617184"/>
                </a:solidFill>
                <a:latin typeface="Noto Sans Kr"/>
                <a:ea typeface="Noto Sans Kr"/>
                <a:cs typeface="Noto Sans Kr"/>
              </a:rPr>
              <a:t>PR 검증 기록: 비GPU 테스트 1,595개 통과</a:t>
            </a:r>
          </a:p>
        </p:txBody>
      </p:sp>
    </p:spTree>
    <p:extLst>
      <p:ext uri="{BB962C8B-B14F-4D97-AF65-F5344CB8AC3E}">
        <p14:creationId xmlns:p14="http://schemas.microsoft.com/office/powerpoint/2010/main" val="186744616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2026-09-21T07:20:30.2400000Z</dcterms:created>
  <dcterms:modified xsi:type="dcterms:W3CDTF">2026-09-21T07:20:30.2400000Z</dcterms:modified>
</coreProperties>
</file>