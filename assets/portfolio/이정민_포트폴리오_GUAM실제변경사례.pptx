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Mandali" panose="020B0600000101010101" charset="0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Noto Sans Kr" panose="020B0200000000000000" pitchFamily="50" charset="-127"/>
      <p:regular r:id="rId14"/>
      <p:bold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108" y="6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21.09.2026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구성 자료: 이정민 전공소개서 원본(표지·프로필·석사 연구·시스템 개발·모델 실험).</a:t>
            </a:r>
          </a:p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학력·연구 실적·현재 교육: 전공소개서 원본 2p. 연구실 활동·Python·PyTorch 경험: 기존 Notion 포트폴리오.</a:t>
            </a:r>
          </a:p>
          <a:p>
            <a:r>
              <a:rPr lang="en-US"/>
              <a:t>https://momentous-loaf-283.notion.site/ML-bc41a73cf20b833c85b90151bffc455d</a:t>
            </a:r>
          </a:p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자료: 전공소개서 원본 3p의 석사 연구 제목, 설명, 확산식, 세 가지 물리량의 분포 그래프. 그래프의 축·데이터점·회귀선은 원본과 동일함.</a:t>
            </a:r>
          </a:p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구조 참고: A2A-MCP / Code_Vulnerability. 수치 출처: 전공소개서 원본 4p의 프로토타입 시험 기록. 분석 23/23개 파일, 3,524줄, 정적 분석 신호 18개(위험 호출 8·Secret 후보 10), 로컬 LLM 리뷰 18개. 개발 구조 요약과 프로토타입 시험 결과는 구분하여 제시함.</a:t>
            </a:r>
          </a:p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수치 출처: 전공소개서 원본 5p의 1차·재설계·2차 실험 기록. 1차는 DiverseVul 기반 평가, 2차는 NIST SARD/Juliet 기반 C/C++ 함수 및 지정 CWE 평가. 평가 데이터셋이 달라 직접적인 향상률 비교가 아님. 재설계 화면의 모델은 Qwen3-Coder-Next 80B, B200 2장. 원본의 진행 상태 문구는 데이터셋 구축 후 실증 테스트 예정으로 기재되어 있음.</a:t>
            </a:r>
          </a:p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t>표시한 변경 전후는 docs/API-SPEC.md의 Quick Start와 RandomForestGPU 상태 항목에서 발췌했다. Markdown 서식과 줄바꿈을 조정했으며, GitHub 화면 캡처가 아닌 편집 가능한 원문 발췌이다.</a:t>
            </a:r>
          </a:p>
          <a:p>
            <a:r>
              <a:t>출처: https://github.com/ModulabsRAPIDSLAB/GUAM/pull/213</a:t>
            </a:r>
          </a:p>
          <a:p>
            <a:r>
              <a:t>[DOC-05] 2026-08-19 저장소 문서 정합성 감사 (JEY-225). 작성자 jeongminllee. 2026-09-01 병합.</a:t>
            </a:r>
          </a:p>
          <a:p>
            <a:r>
              <a:t>병합 커밋: 71402104961eaef3dea24f8f93f385f30be1143a. PR HEAD: cc3e321f1c4037c966e49183bdfc50dc79cc5670.</a:t>
            </a:r>
          </a:p>
          <a:p>
            <a:r>
              <a:t>최종 병합 diff: 31개 파일, 380줄 추가, 143줄 삭제. 코드 변경은 주석·docstring이며 기능 구현 실적으로 제시하지 않는다.</a:t>
            </a:r>
          </a:p>
          <a:p>
            <a:r>
              <a:t>비GPU 테스트 1,595개 통과는 PR 본문의 2026-08-25 검증 기록이다. 최종 병합 HEAD에 대한 이번 재실행 결과가 아니며 GPU 성능 검증을 뜻하지 않는다.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gilbutITbook/080493/tree/main/Code_Vulnerability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238863" y="-9525"/>
            <a:ext cx="6058662" cy="10306050"/>
            <a:chOff x="0" y="0"/>
            <a:chExt cx="8078216" cy="137414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078216" cy="13741400"/>
            </a:xfrm>
            <a:custGeom>
              <a:avLst/>
              <a:gdLst/>
              <a:ahLst/>
              <a:cxnLst/>
              <a:rect l="l" t="t" r="r" b="b"/>
              <a:pathLst>
                <a:path w="8078216" h="13741400">
                  <a:moveTo>
                    <a:pt x="0" y="0"/>
                  </a:moveTo>
                  <a:lnTo>
                    <a:pt x="8078216" y="0"/>
                  </a:lnTo>
                  <a:lnTo>
                    <a:pt x="8078216" y="13741400"/>
                  </a:lnTo>
                  <a:lnTo>
                    <a:pt x="0" y="13741400"/>
                  </a:lnTo>
                  <a:close/>
                </a:path>
              </a:pathLst>
            </a:custGeom>
            <a:solidFill>
              <a:srgbClr val="162B43"/>
            </a:solidFill>
          </p:spPr>
        </p:sp>
      </p:grpSp>
      <p:grpSp>
        <p:nvGrpSpPr>
          <p:cNvPr id="4" name="Group 4"/>
          <p:cNvGrpSpPr/>
          <p:nvPr/>
        </p:nvGrpSpPr>
        <p:grpSpPr>
          <a:xfrm>
            <a:off x="1028700" y="905256"/>
            <a:ext cx="10424160" cy="516318"/>
            <a:chOff x="0" y="0"/>
            <a:chExt cx="13898880" cy="68842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3898880" cy="688424"/>
            </a:xfrm>
            <a:custGeom>
              <a:avLst/>
              <a:gdLst/>
              <a:ahLst/>
              <a:cxnLst/>
              <a:rect l="l" t="t" r="r" b="b"/>
              <a:pathLst>
                <a:path w="13898880" h="688424">
                  <a:moveTo>
                    <a:pt x="0" y="0"/>
                  </a:moveTo>
                  <a:lnTo>
                    <a:pt x="13898880" y="0"/>
                  </a:lnTo>
                  <a:lnTo>
                    <a:pt x="13898880" y="688424"/>
                  </a:lnTo>
                  <a:lnTo>
                    <a:pt x="0" y="6884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0185" b="-326597"/>
              </a:stretch>
            </a:blip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13898880" cy="7074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49"/>
                </a:lnSpc>
              </a:pPr>
              <a:r>
                <a:rPr lang="en-US" sz="188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물리학|  시스템 개발  |  LLM  | AutoML </a:t>
              </a:r>
            </a:p>
          </p:txBody>
        </p:sp>
      </p:grpSp>
      <p:sp>
        <p:nvSpPr>
          <p:cNvPr id="7" name="AutoShape 7"/>
          <p:cNvSpPr/>
          <p:nvPr/>
        </p:nvSpPr>
        <p:spPr>
          <a:xfrm>
            <a:off x="1013840" y="1740791"/>
            <a:ext cx="5541741" cy="0"/>
          </a:xfrm>
          <a:prstGeom prst="line">
            <a:avLst/>
          </a:prstGeom>
          <a:ln w="28575" cap="rnd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" name="Group 8"/>
          <p:cNvGrpSpPr/>
          <p:nvPr/>
        </p:nvGrpSpPr>
        <p:grpSpPr>
          <a:xfrm>
            <a:off x="960120" y="2510028"/>
            <a:ext cx="10835640" cy="1941521"/>
            <a:chOff x="0" y="0"/>
            <a:chExt cx="14447520" cy="258869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447520" cy="2588695"/>
            </a:xfrm>
            <a:custGeom>
              <a:avLst/>
              <a:gdLst/>
              <a:ahLst/>
              <a:cxnLst/>
              <a:rect l="l" t="t" r="r" b="b"/>
              <a:pathLst>
                <a:path w="14447520" h="2588695">
                  <a:moveTo>
                    <a:pt x="0" y="0"/>
                  </a:moveTo>
                  <a:lnTo>
                    <a:pt x="14447520" y="0"/>
                  </a:lnTo>
                  <a:lnTo>
                    <a:pt x="14447520" y="2588695"/>
                  </a:lnTo>
                  <a:lnTo>
                    <a:pt x="0" y="2588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662" b="-39830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14447520" cy="26458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9136"/>
                </a:lnSpc>
              </a:pPr>
              <a:r>
                <a:rPr lang="en-US" sz="7050" spc="2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포트폴리오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56132" y="4059936"/>
            <a:ext cx="9052560" cy="644652"/>
            <a:chOff x="0" y="0"/>
            <a:chExt cx="12070080" cy="85953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70080" cy="859536"/>
            </a:xfrm>
            <a:custGeom>
              <a:avLst/>
              <a:gdLst/>
              <a:ahLst/>
              <a:cxnLst/>
              <a:rect l="l" t="t" r="r" b="b"/>
              <a:pathLst>
                <a:path w="12070080" h="859536">
                  <a:moveTo>
                    <a:pt x="0" y="0"/>
                  </a:moveTo>
                  <a:lnTo>
                    <a:pt x="12070080" y="0"/>
                  </a:lnTo>
                  <a:lnTo>
                    <a:pt x="12070080" y="859536"/>
                  </a:lnTo>
                  <a:lnTo>
                    <a:pt x="0" y="8595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23619" b="-22361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2070080" cy="89763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860"/>
                </a:lnSpc>
              </a:pPr>
              <a:r>
                <a:rPr lang="en-US" sz="3750" spc="14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이정민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69848" y="5678424"/>
            <a:ext cx="10081260" cy="1591056"/>
            <a:chOff x="0" y="0"/>
            <a:chExt cx="13441680" cy="212140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441680" cy="2121408"/>
            </a:xfrm>
            <a:custGeom>
              <a:avLst/>
              <a:gdLst/>
              <a:ahLst/>
              <a:cxnLst/>
              <a:rect l="l" t="t" r="r" b="b"/>
              <a:pathLst>
                <a:path w="13441680" h="2121408">
                  <a:moveTo>
                    <a:pt x="0" y="0"/>
                  </a:moveTo>
                  <a:lnTo>
                    <a:pt x="13441680" y="0"/>
                  </a:lnTo>
                  <a:lnTo>
                    <a:pt x="13441680" y="2121408"/>
                  </a:lnTo>
                  <a:lnTo>
                    <a:pt x="0" y="21214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3461" b="-73461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66675"/>
              <a:ext cx="13441680" cy="218808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11"/>
                </a:lnSpc>
              </a:pPr>
              <a:r>
                <a:rPr lang="en-US" sz="3600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실험 데이터 분석에서</a:t>
              </a:r>
            </a:p>
            <a:p>
              <a:pPr algn="l">
                <a:lnSpc>
                  <a:spcPts val="5011"/>
                </a:lnSpc>
              </a:pPr>
              <a:r>
                <a:rPr lang="en-US" sz="3600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 개발·검증까지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83564" y="8778240"/>
            <a:ext cx="10012680" cy="397764"/>
            <a:chOff x="0" y="0"/>
            <a:chExt cx="13350240" cy="53035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350239" cy="530352"/>
            </a:xfrm>
            <a:custGeom>
              <a:avLst/>
              <a:gdLst/>
              <a:ahLst/>
              <a:cxnLst/>
              <a:rect l="l" t="t" r="r" b="b"/>
              <a:pathLst>
                <a:path w="13350239" h="530352">
                  <a:moveTo>
                    <a:pt x="0" y="0"/>
                  </a:moveTo>
                  <a:lnTo>
                    <a:pt x="13350239" y="0"/>
                  </a:lnTo>
                  <a:lnTo>
                    <a:pt x="13350239" y="530352"/>
                  </a:lnTo>
                  <a:lnTo>
                    <a:pt x="0" y="5303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0485" b="-440485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3350240" cy="5494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99"/>
                </a:lnSpc>
              </a:pPr>
              <a:r>
                <a:rPr lang="en-US" sz="2160" spc="8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· 목재 물리학 석사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83564" y="9354312"/>
            <a:ext cx="10012680" cy="467599"/>
            <a:chOff x="0" y="0"/>
            <a:chExt cx="13350240" cy="62346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3350239" cy="623465"/>
            </a:xfrm>
            <a:custGeom>
              <a:avLst/>
              <a:gdLst/>
              <a:ahLst/>
              <a:cxnLst/>
              <a:rect l="l" t="t" r="r" b="b"/>
              <a:pathLst>
                <a:path w="13350239" h="623465">
                  <a:moveTo>
                    <a:pt x="0" y="0"/>
                  </a:moveTo>
                  <a:lnTo>
                    <a:pt x="13350239" y="0"/>
                  </a:lnTo>
                  <a:lnTo>
                    <a:pt x="13350239" y="623465"/>
                  </a:lnTo>
                  <a:lnTo>
                    <a:pt x="0" y="6234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4966" b="-34949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19050"/>
              <a:ext cx="13350240" cy="6425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연구 · 시스템 구현 · 모델 개선, 프레임워크 개발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3030200" y="946404"/>
            <a:ext cx="4457700" cy="1110996"/>
            <a:chOff x="0" y="0"/>
            <a:chExt cx="5943600" cy="148132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943600" cy="1481328"/>
            </a:xfrm>
            <a:custGeom>
              <a:avLst/>
              <a:gdLst/>
              <a:ahLst/>
              <a:cxnLst/>
              <a:rect l="l" t="t" r="r" b="b"/>
              <a:pathLst>
                <a:path w="5943600" h="1481328">
                  <a:moveTo>
                    <a:pt x="0" y="0"/>
                  </a:moveTo>
                  <a:lnTo>
                    <a:pt x="5943600" y="0"/>
                  </a:lnTo>
                  <a:lnTo>
                    <a:pt x="5943600" y="1481328"/>
                  </a:lnTo>
                  <a:lnTo>
                    <a:pt x="0" y="14813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180" b="-28180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943600" cy="150037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817"/>
                </a:lnSpc>
              </a:pPr>
              <a:r>
                <a:rPr lang="en-US" sz="3029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RESEARCH &amp;</a:t>
              </a:r>
            </a:p>
            <a:p>
              <a:pPr algn="l">
                <a:lnSpc>
                  <a:spcPts val="3817"/>
                </a:lnSpc>
              </a:pPr>
              <a:r>
                <a:rPr lang="en-US" sz="3029" spc="11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ENGINEERING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3042685" y="2166180"/>
            <a:ext cx="3977640" cy="836639"/>
            <a:chOff x="0" y="0"/>
            <a:chExt cx="5303520" cy="1115519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5303520" cy="1115519"/>
            </a:xfrm>
            <a:custGeom>
              <a:avLst/>
              <a:gdLst/>
              <a:ahLst/>
              <a:cxnLst/>
              <a:rect l="l" t="t" r="r" b="b"/>
              <a:pathLst>
                <a:path w="5303520" h="1115519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28" b="-22147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3042685" y="2778080"/>
            <a:ext cx="4457700" cy="705041"/>
            <a:chOff x="0" y="0"/>
            <a:chExt cx="5943600" cy="940055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5943600" cy="940055"/>
            </a:xfrm>
            <a:custGeom>
              <a:avLst/>
              <a:gdLst/>
              <a:ahLst/>
              <a:cxnLst/>
              <a:rect l="l" t="t" r="r" b="b"/>
              <a:pathLst>
                <a:path w="5943600" h="940055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096" b="-5529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 연구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3042685" y="3398309"/>
            <a:ext cx="4457700" cy="451918"/>
            <a:chOff x="0" y="0"/>
            <a:chExt cx="5943600" cy="602558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5943600" cy="602558"/>
            </a:xfrm>
            <a:custGeom>
              <a:avLst/>
              <a:gdLst/>
              <a:ahLst/>
              <a:cxnLst/>
              <a:rect l="l" t="t" r="r" b="b"/>
              <a:pathLst>
                <a:path w="5943600" h="602558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778" b="-128620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수분 분포 · 회귀분석</a:t>
              </a:r>
            </a:p>
          </p:txBody>
        </p:sp>
      </p:grpSp>
      <p:sp>
        <p:nvSpPr>
          <p:cNvPr id="35" name="AutoShape 35"/>
          <p:cNvSpPr/>
          <p:nvPr/>
        </p:nvSpPr>
        <p:spPr>
          <a:xfrm>
            <a:off x="13036018" y="3818936"/>
            <a:ext cx="4457318" cy="12473"/>
          </a:xfrm>
          <a:prstGeom prst="line">
            <a:avLst/>
          </a:prstGeom>
          <a:ln w="9525" cap="rnd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6" name="Group 36"/>
          <p:cNvGrpSpPr/>
          <p:nvPr/>
        </p:nvGrpSpPr>
        <p:grpSpPr>
          <a:xfrm>
            <a:off x="13042685" y="4017331"/>
            <a:ext cx="3977640" cy="836639"/>
            <a:chOff x="0" y="0"/>
            <a:chExt cx="5303520" cy="1115519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5303520" cy="1115519"/>
            </a:xfrm>
            <a:custGeom>
              <a:avLst/>
              <a:gdLst/>
              <a:ahLst/>
              <a:cxnLst/>
              <a:rect l="l" t="t" r="r" b="b"/>
              <a:pathLst>
                <a:path w="5303520" h="1115519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28" b="-22147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02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3042685" y="4681421"/>
            <a:ext cx="4457700" cy="705041"/>
            <a:chOff x="0" y="0"/>
            <a:chExt cx="5943600" cy="940055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5943600" cy="940055"/>
            </a:xfrm>
            <a:custGeom>
              <a:avLst/>
              <a:gdLst/>
              <a:ahLst/>
              <a:cxnLst/>
              <a:rect l="l" t="t" r="r" b="b"/>
              <a:pathLst>
                <a:path w="5943600" h="940055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096" b="-55295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로컬 LLM 시스템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13042685" y="5301650"/>
            <a:ext cx="4457700" cy="451918"/>
            <a:chOff x="0" y="0"/>
            <a:chExt cx="5943600" cy="60255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943600" cy="602558"/>
            </a:xfrm>
            <a:custGeom>
              <a:avLst/>
              <a:gdLst/>
              <a:ahLst/>
              <a:cxnLst/>
              <a:rect l="l" t="t" r="r" b="b"/>
              <a:pathLst>
                <a:path w="5943600" h="602558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778" b="-128620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악성 코드 분석 · 프로토타입</a:t>
              </a:r>
            </a:p>
          </p:txBody>
        </p:sp>
      </p:grpSp>
      <p:sp>
        <p:nvSpPr>
          <p:cNvPr id="45" name="AutoShape 45"/>
          <p:cNvSpPr/>
          <p:nvPr/>
        </p:nvSpPr>
        <p:spPr>
          <a:xfrm>
            <a:off x="13036018" y="5722276"/>
            <a:ext cx="4457318" cy="12473"/>
          </a:xfrm>
          <a:prstGeom prst="line">
            <a:avLst/>
          </a:prstGeom>
          <a:ln w="9525" cap="rnd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6" name="Group 46"/>
          <p:cNvGrpSpPr/>
          <p:nvPr/>
        </p:nvGrpSpPr>
        <p:grpSpPr>
          <a:xfrm>
            <a:off x="13042685" y="5920672"/>
            <a:ext cx="3977640" cy="836639"/>
            <a:chOff x="0" y="0"/>
            <a:chExt cx="5303520" cy="1115519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5303520" cy="1115519"/>
            </a:xfrm>
            <a:custGeom>
              <a:avLst/>
              <a:gdLst/>
              <a:ahLst/>
              <a:cxnLst/>
              <a:rect l="l" t="t" r="r" b="b"/>
              <a:pathLst>
                <a:path w="5303520" h="1115519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28" b="-22147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03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3042685" y="6584761"/>
            <a:ext cx="4457700" cy="705041"/>
            <a:chOff x="0" y="0"/>
            <a:chExt cx="5943600" cy="940055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5943600" cy="940055"/>
            </a:xfrm>
            <a:custGeom>
              <a:avLst/>
              <a:gdLst/>
              <a:ahLst/>
              <a:cxnLst/>
              <a:rect l="l" t="t" r="r" b="b"/>
              <a:pathLst>
                <a:path w="5943600" h="940055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096" b="-55295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보안 LLM 파인튜닝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13042685" y="7204990"/>
            <a:ext cx="4457700" cy="451918"/>
            <a:chOff x="0" y="0"/>
            <a:chExt cx="5943600" cy="602558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5943600" cy="602558"/>
            </a:xfrm>
            <a:custGeom>
              <a:avLst/>
              <a:gdLst/>
              <a:ahLst/>
              <a:cxnLst/>
              <a:rect l="l" t="t" r="r" b="b"/>
              <a:pathLst>
                <a:path w="5943600" h="602558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778" b="-128620"/>
              </a:stretch>
            </a:blipFill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실험 평가 · 데이터 재설계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>
            <a:off x="13042699" y="7817443"/>
            <a:ext cx="4457318" cy="12473"/>
          </a:xfrm>
          <a:prstGeom prst="line">
            <a:avLst/>
          </a:prstGeom>
          <a:ln w="9525" cap="rnd">
            <a:solidFill>
              <a:srgbClr val="3A4C60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6" name="Group 56"/>
          <p:cNvGrpSpPr/>
          <p:nvPr/>
        </p:nvGrpSpPr>
        <p:grpSpPr>
          <a:xfrm>
            <a:off x="13049366" y="8015839"/>
            <a:ext cx="3977640" cy="836639"/>
            <a:chOff x="0" y="0"/>
            <a:chExt cx="5303520" cy="1115519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5303520" cy="1115519"/>
            </a:xfrm>
            <a:custGeom>
              <a:avLst/>
              <a:gdLst/>
              <a:ahLst/>
              <a:cxnLst/>
              <a:rect l="l" t="t" r="r" b="b"/>
              <a:pathLst>
                <a:path w="5303520" h="1115519">
                  <a:moveTo>
                    <a:pt x="0" y="0"/>
                  </a:moveTo>
                  <a:lnTo>
                    <a:pt x="5303520" y="0"/>
                  </a:lnTo>
                  <a:lnTo>
                    <a:pt x="5303520" y="1115519"/>
                  </a:lnTo>
                  <a:lnTo>
                    <a:pt x="0" y="111551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3128" b="-22147"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0" y="-28575"/>
              <a:ext cx="5303520" cy="11440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952"/>
                </a:lnSpc>
              </a:pPr>
              <a:r>
                <a:rPr lang="en-US" sz="3050" spc="11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04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3049366" y="8679929"/>
            <a:ext cx="4457700" cy="705041"/>
            <a:chOff x="0" y="0"/>
            <a:chExt cx="5943600" cy="940055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5943600" cy="940055"/>
            </a:xfrm>
            <a:custGeom>
              <a:avLst/>
              <a:gdLst/>
              <a:ahLst/>
              <a:cxnLst/>
              <a:rect l="l" t="t" r="r" b="b"/>
              <a:pathLst>
                <a:path w="5943600" h="940055">
                  <a:moveTo>
                    <a:pt x="0" y="0"/>
                  </a:moveTo>
                  <a:lnTo>
                    <a:pt x="5943600" y="0"/>
                  </a:lnTo>
                  <a:lnTo>
                    <a:pt x="5943600" y="940055"/>
                  </a:lnTo>
                  <a:lnTo>
                    <a:pt x="0" y="94005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096" b="-55295"/>
              </a:stretch>
            </a:blipFill>
          </p:spPr>
        </p:sp>
        <p:sp>
          <p:nvSpPr>
            <p:cNvPr id="61" name="TextBox 61"/>
            <p:cNvSpPr txBox="1"/>
            <p:nvPr/>
          </p:nvSpPr>
          <p:spPr>
            <a:xfrm>
              <a:off x="0" y="-19050"/>
              <a:ext cx="5943600" cy="9591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11"/>
                </a:lnSpc>
              </a:pPr>
              <a:r>
                <a:rPr lang="en-US" sz="2555" spc="9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GUAM</a:t>
              </a: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13049366" y="9300158"/>
            <a:ext cx="4457700" cy="451918"/>
            <a:chOff x="0" y="0"/>
            <a:chExt cx="5943600" cy="60255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5943600" cy="602558"/>
            </a:xfrm>
            <a:custGeom>
              <a:avLst/>
              <a:gdLst/>
              <a:ahLst/>
              <a:cxnLst/>
              <a:rect l="l" t="t" r="r" b="b"/>
              <a:pathLst>
                <a:path w="5943600" h="602558">
                  <a:moveTo>
                    <a:pt x="0" y="0"/>
                  </a:moveTo>
                  <a:lnTo>
                    <a:pt x="5943600" y="0"/>
                  </a:lnTo>
                  <a:lnTo>
                    <a:pt x="5943600" y="602558"/>
                  </a:lnTo>
                  <a:lnTo>
                    <a:pt x="0" y="60255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5778" b="-128620"/>
              </a:stretch>
            </a:blipFill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5943600" cy="621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44"/>
                </a:lnSpc>
              </a:pPr>
              <a:r>
                <a:rPr lang="en-US" sz="165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모듈 구현, 문서 최신화, 테스트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93776"/>
            <a:ext cx="16596360" cy="301752"/>
            <a:chOff x="0" y="0"/>
            <a:chExt cx="22128480" cy="4023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02336"/>
            </a:xfrm>
            <a:custGeom>
              <a:avLst/>
              <a:gdLst/>
              <a:ahLst/>
              <a:cxnLst/>
              <a:rect l="l" t="t" r="r" b="b"/>
              <a:pathLst>
                <a:path w="22128480" h="402336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01  /  PROFILE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24712"/>
            <a:ext cx="16596360" cy="685800"/>
            <a:chOff x="0" y="0"/>
            <a:chExt cx="2212848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914400"/>
            </a:xfrm>
            <a:custGeom>
              <a:avLst/>
              <a:gdLst/>
              <a:ahLst/>
              <a:cxnLst/>
              <a:rect l="l" t="t" r="r" b="b"/>
              <a:pathLst>
                <a:path w="22128480" h="91440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537" b="-4215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 경험을 AI 시스템 개발로 연결합니다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0392" y="1920240"/>
            <a:ext cx="16459200" cy="411480"/>
            <a:chOff x="0" y="0"/>
            <a:chExt cx="219456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548640"/>
            </a:xfrm>
            <a:custGeom>
              <a:avLst/>
              <a:gdLst/>
              <a:ahLst/>
              <a:cxnLst/>
              <a:rect l="l" t="t" r="r" b="b"/>
              <a:pathLst>
                <a:path w="21945600" h="54864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실험 데이터의 해석, 분석 시스템 구현, 데이터·모델 개선으로 이어지는 경험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3435" y="2692527"/>
            <a:ext cx="5217414" cy="6698742"/>
            <a:chOff x="0" y="0"/>
            <a:chExt cx="6956552" cy="893165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956552" cy="8931656"/>
            </a:xfrm>
            <a:custGeom>
              <a:avLst/>
              <a:gdLst/>
              <a:ahLst/>
              <a:cxnLst/>
              <a:rect l="l" t="t" r="r" b="b"/>
              <a:pathLst>
                <a:path w="6956552" h="8931656">
                  <a:moveTo>
                    <a:pt x="0" y="0"/>
                  </a:moveTo>
                  <a:lnTo>
                    <a:pt x="6956552" y="0"/>
                  </a:lnTo>
                  <a:lnTo>
                    <a:pt x="6956552" y="8931656"/>
                  </a:lnTo>
                  <a:lnTo>
                    <a:pt x="0" y="8931656"/>
                  </a:lnTo>
                  <a:close/>
                </a:path>
              </a:pathLst>
            </a:custGeom>
            <a:solidFill>
              <a:srgbClr val="F0F3F6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1168327" y="3044952"/>
            <a:ext cx="1490110" cy="1988820"/>
            <a:chOff x="0" y="0"/>
            <a:chExt cx="1986813" cy="2651760"/>
          </a:xfrm>
        </p:grpSpPr>
        <p:sp>
          <p:nvSpPr>
            <p:cNvPr id="14" name="Freeform 14" descr="/mnt/data/work_major/assets/original_1.png"/>
            <p:cNvSpPr/>
            <p:nvPr/>
          </p:nvSpPr>
          <p:spPr>
            <a:xfrm>
              <a:off x="0" y="0"/>
              <a:ext cx="1986788" cy="2651760"/>
            </a:xfrm>
            <a:custGeom>
              <a:avLst/>
              <a:gdLst/>
              <a:ahLst/>
              <a:cxnLst/>
              <a:rect l="l" t="t" r="r" b="b"/>
              <a:pathLst>
                <a:path w="1986788" h="2651760">
                  <a:moveTo>
                    <a:pt x="0" y="0"/>
                  </a:moveTo>
                  <a:lnTo>
                    <a:pt x="1986788" y="0"/>
                  </a:lnTo>
                  <a:lnTo>
                    <a:pt x="1986788" y="2651760"/>
                  </a:lnTo>
                  <a:lnTo>
                    <a:pt x="0" y="2651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1"/>
              </a:stretch>
            </a:blipFill>
          </p:spPr>
        </p:sp>
      </p:grpSp>
      <p:grpSp>
        <p:nvGrpSpPr>
          <p:cNvPr id="15" name="Group 15"/>
          <p:cNvGrpSpPr/>
          <p:nvPr/>
        </p:nvGrpSpPr>
        <p:grpSpPr>
          <a:xfrm>
            <a:off x="2907792" y="3236976"/>
            <a:ext cx="2729484" cy="534924"/>
            <a:chOff x="0" y="0"/>
            <a:chExt cx="3639312" cy="7132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39312" cy="713232"/>
            </a:xfrm>
            <a:custGeom>
              <a:avLst/>
              <a:gdLst/>
              <a:ahLst/>
              <a:cxnLst/>
              <a:rect l="l" t="t" r="r" b="b"/>
              <a:pathLst>
                <a:path w="3639312" h="713232">
                  <a:moveTo>
                    <a:pt x="0" y="0"/>
                  </a:moveTo>
                  <a:lnTo>
                    <a:pt x="3639312" y="0"/>
                  </a:lnTo>
                  <a:lnTo>
                    <a:pt x="3639312" y="713232"/>
                  </a:lnTo>
                  <a:lnTo>
                    <a:pt x="0" y="713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23" b="-49423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639312" cy="7418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374"/>
                </a:lnSpc>
              </a:pPr>
              <a:r>
                <a:rPr lang="en-US" sz="3375" spc="13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이정민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921508" y="4005072"/>
            <a:ext cx="2688336" cy="795528"/>
            <a:chOff x="0" y="0"/>
            <a:chExt cx="3584448" cy="10607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584448" cy="1060704"/>
            </a:xfrm>
            <a:custGeom>
              <a:avLst/>
              <a:gdLst/>
              <a:ahLst/>
              <a:cxnLst/>
              <a:rect l="l" t="t" r="r" b="b"/>
              <a:pathLst>
                <a:path w="3584448" h="1060704">
                  <a:moveTo>
                    <a:pt x="0" y="0"/>
                  </a:moveTo>
                  <a:lnTo>
                    <a:pt x="3584448" y="0"/>
                  </a:lnTo>
                  <a:lnTo>
                    <a:pt x="3584448" y="1060704"/>
                  </a:lnTo>
                  <a:lnTo>
                    <a:pt x="0" y="10607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845" b="-1584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584448" cy="10892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60"/>
                </a:lnSpc>
              </a:pPr>
              <a:r>
                <a:rPr lang="en-US" sz="2054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석사</a:t>
              </a:r>
            </a:p>
            <a:p>
              <a:pPr algn="l">
                <a:lnSpc>
                  <a:spcPts val="2860"/>
                </a:lnSpc>
              </a:pPr>
              <a:r>
                <a:rPr lang="en-US" sz="2054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목재 물리학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rot="11760">
            <a:off x="1185662" y="5399342"/>
            <a:ext cx="4445537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193292" y="5692140"/>
            <a:ext cx="4306824" cy="329184"/>
            <a:chOff x="0" y="0"/>
            <a:chExt cx="5742432" cy="438912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5742432" cy="438912"/>
            </a:xfrm>
            <a:custGeom>
              <a:avLst/>
              <a:gdLst/>
              <a:ahLst/>
              <a:cxnLst/>
              <a:rect l="l" t="t" r="r" b="b"/>
              <a:pathLst>
                <a:path w="5742432" h="438912">
                  <a:moveTo>
                    <a:pt x="0" y="0"/>
                  </a:moveTo>
                  <a:lnTo>
                    <a:pt x="5742432" y="0"/>
                  </a:lnTo>
                  <a:lnTo>
                    <a:pt x="5742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929" b="-204929"/>
              </a:stretch>
            </a:blipFill>
          </p:spPr>
        </p:sp>
        <p:sp>
          <p:nvSpPr>
            <p:cNvPr id="24" name="TextBox 24"/>
            <p:cNvSpPr txBox="1"/>
            <p:nvPr/>
          </p:nvSpPr>
          <p:spPr>
            <a:xfrm>
              <a:off x="0" y="-19050"/>
              <a:ext cx="5742432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학력 및 현재 교육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93292" y="6199632"/>
            <a:ext cx="4430268" cy="370332"/>
            <a:chOff x="0" y="0"/>
            <a:chExt cx="5907024" cy="493776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907024" cy="493776"/>
            </a:xfrm>
            <a:custGeom>
              <a:avLst/>
              <a:gdLst/>
              <a:ahLst/>
              <a:cxnLst/>
              <a:rect l="l" t="t" r="r" b="b"/>
              <a:pathLst>
                <a:path w="5907024" h="493776">
                  <a:moveTo>
                    <a:pt x="0" y="0"/>
                  </a:moveTo>
                  <a:lnTo>
                    <a:pt x="5907024" y="0"/>
                  </a:lnTo>
                  <a:lnTo>
                    <a:pt x="590702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098" b="-183098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907024" cy="5128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129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대학원 · 석사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93292" y="6748272"/>
            <a:ext cx="4402836" cy="672084"/>
            <a:chOff x="0" y="0"/>
            <a:chExt cx="5870448" cy="896112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870448" cy="896112"/>
            </a:xfrm>
            <a:custGeom>
              <a:avLst/>
              <a:gdLst/>
              <a:ahLst/>
              <a:cxnLst/>
              <a:rect l="l" t="t" r="r" b="b"/>
              <a:pathLst>
                <a:path w="5870448" h="896112">
                  <a:moveTo>
                    <a:pt x="0" y="0"/>
                  </a:moveTo>
                  <a:lnTo>
                    <a:pt x="5870448" y="0"/>
                  </a:lnTo>
                  <a:lnTo>
                    <a:pt x="587044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646" b="-77646"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-19050"/>
              <a:ext cx="5870448" cy="9151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78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임산공학(목재 물리학)</a:t>
              </a:r>
            </a:p>
            <a:p>
              <a:pPr algn="l">
                <a:lnSpc>
                  <a:spcPts val="2378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2017.03–2019.02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1193292" y="7626096"/>
            <a:ext cx="4430268" cy="370332"/>
            <a:chOff x="0" y="0"/>
            <a:chExt cx="5907024" cy="493776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5907024" cy="493776"/>
            </a:xfrm>
            <a:custGeom>
              <a:avLst/>
              <a:gdLst/>
              <a:ahLst/>
              <a:cxnLst/>
              <a:rect l="l" t="t" r="r" b="b"/>
              <a:pathLst>
                <a:path w="5907024" h="493776">
                  <a:moveTo>
                    <a:pt x="0" y="0"/>
                  </a:moveTo>
                  <a:lnTo>
                    <a:pt x="5907024" y="0"/>
                  </a:lnTo>
                  <a:lnTo>
                    <a:pt x="590702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3098" b="-183098"/>
              </a:stretch>
            </a:blipFill>
          </p:spPr>
        </p:sp>
        <p:sp>
          <p:nvSpPr>
            <p:cNvPr id="33" name="TextBox 33"/>
            <p:cNvSpPr txBox="1"/>
            <p:nvPr/>
          </p:nvSpPr>
          <p:spPr>
            <a:xfrm>
              <a:off x="0" y="-19050"/>
              <a:ext cx="5907024" cy="5128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129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· 학사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193292" y="8147304"/>
            <a:ext cx="4430268" cy="301752"/>
            <a:chOff x="0" y="0"/>
            <a:chExt cx="5907024" cy="40233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5907024" cy="402336"/>
            </a:xfrm>
            <a:custGeom>
              <a:avLst/>
              <a:gdLst/>
              <a:ahLst/>
              <a:cxnLst/>
              <a:rect l="l" t="t" r="r" b="b"/>
              <a:pathLst>
                <a:path w="5907024" h="402336">
                  <a:moveTo>
                    <a:pt x="0" y="0"/>
                  </a:moveTo>
                  <a:lnTo>
                    <a:pt x="5907024" y="0"/>
                  </a:lnTo>
                  <a:lnTo>
                    <a:pt x="590702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075" b="-236075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9525"/>
              <a:ext cx="5907024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93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임산공학  |  2011.03–2017.02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1193292" y="8723376"/>
            <a:ext cx="4430268" cy="562356"/>
            <a:chOff x="0" y="0"/>
            <a:chExt cx="5907024" cy="74980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907024" cy="749808"/>
            </a:xfrm>
            <a:custGeom>
              <a:avLst/>
              <a:gdLst/>
              <a:ahLst/>
              <a:cxnLst/>
              <a:rect l="l" t="t" r="r" b="b"/>
              <a:pathLst>
                <a:path w="5907024" h="749808">
                  <a:moveTo>
                    <a:pt x="0" y="0"/>
                  </a:moveTo>
                  <a:lnTo>
                    <a:pt x="5907024" y="0"/>
                  </a:lnTo>
                  <a:lnTo>
                    <a:pt x="5907024" y="749808"/>
                  </a:lnTo>
                  <a:lnTo>
                    <a:pt x="0" y="7498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504" b="-103504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5907024" cy="7593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0"/>
                </a:lnSpc>
              </a:pPr>
              <a:r>
                <a:rPr lang="en-US" sz="1785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한국폴리텍대학 대구캠퍼스</a:t>
              </a:r>
            </a:p>
            <a:p>
              <a:pPr algn="l">
                <a:lnSpc>
                  <a:spcPts val="2270"/>
                </a:lnSpc>
              </a:pPr>
              <a:r>
                <a:rPr lang="en-US" sz="1785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AI 엔지니어링 과정 수강 중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28816" y="2852928"/>
            <a:ext cx="2414016" cy="672084"/>
            <a:chOff x="0" y="0"/>
            <a:chExt cx="3218688" cy="896112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218688" cy="896112"/>
            </a:xfrm>
            <a:custGeom>
              <a:avLst/>
              <a:gdLst/>
              <a:ahLst/>
              <a:cxnLst/>
              <a:rect l="l" t="t" r="r" b="b"/>
              <a:pathLst>
                <a:path w="3218688" h="896112">
                  <a:moveTo>
                    <a:pt x="0" y="0"/>
                  </a:moveTo>
                  <a:lnTo>
                    <a:pt x="3218688" y="0"/>
                  </a:lnTo>
                  <a:lnTo>
                    <a:pt x="3218688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987" b="-19987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38100"/>
              <a:ext cx="3218688" cy="934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43"/>
                </a:lnSpc>
              </a:pPr>
              <a:r>
                <a:rPr lang="en-US" sz="4200" spc="1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3편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542532" y="3717036"/>
            <a:ext cx="3086100" cy="301752"/>
            <a:chOff x="0" y="0"/>
            <a:chExt cx="4114800" cy="402336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4114800" cy="402336"/>
            </a:xfrm>
            <a:custGeom>
              <a:avLst/>
              <a:gdLst/>
              <a:ahLst/>
              <a:cxnLst/>
              <a:rect l="l" t="t" r="r" b="b"/>
              <a:pathLst>
                <a:path w="4114800" h="402336">
                  <a:moveTo>
                    <a:pt x="0" y="0"/>
                  </a:moveTo>
                  <a:lnTo>
                    <a:pt x="4114800" y="0"/>
                  </a:lnTo>
                  <a:lnTo>
                    <a:pt x="411480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9278" b="-149278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-9525"/>
              <a:ext cx="411480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57"/>
                </a:lnSpc>
              </a:pPr>
              <a:r>
                <a:rPr lang="en-US" sz="166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논문 · 학위논문 포함</a:t>
              </a:r>
            </a:p>
          </p:txBody>
        </p:sp>
      </p:grpSp>
      <p:sp>
        <p:nvSpPr>
          <p:cNvPr id="46" name="AutoShape 46"/>
          <p:cNvSpPr/>
          <p:nvPr/>
        </p:nvSpPr>
        <p:spPr>
          <a:xfrm rot="5358720">
            <a:off x="9292742" y="3437954"/>
            <a:ext cx="111069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7" name="Group 47"/>
          <p:cNvGrpSpPr/>
          <p:nvPr/>
        </p:nvGrpSpPr>
        <p:grpSpPr>
          <a:xfrm>
            <a:off x="10259568" y="2852928"/>
            <a:ext cx="2180844" cy="672084"/>
            <a:chOff x="0" y="0"/>
            <a:chExt cx="2907792" cy="896112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2907792" cy="896112"/>
            </a:xfrm>
            <a:custGeom>
              <a:avLst/>
              <a:gdLst/>
              <a:ahLst/>
              <a:cxnLst/>
              <a:rect l="l" t="t" r="r" b="b"/>
              <a:pathLst>
                <a:path w="2907792" h="896112">
                  <a:moveTo>
                    <a:pt x="0" y="0"/>
                  </a:moveTo>
                  <a:lnTo>
                    <a:pt x="2907792" y="0"/>
                  </a:lnTo>
                  <a:lnTo>
                    <a:pt x="2907792" y="896112"/>
                  </a:lnTo>
                  <a:lnTo>
                    <a:pt x="0" y="8961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26" b="-1322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38100"/>
              <a:ext cx="2907792" cy="93421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43"/>
                </a:lnSpc>
              </a:pPr>
              <a:r>
                <a:rPr lang="en-US" sz="4200" spc="1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1회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273284" y="3717036"/>
            <a:ext cx="2441448" cy="301752"/>
            <a:chOff x="0" y="0"/>
            <a:chExt cx="3255264" cy="40233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255264" cy="402336"/>
            </a:xfrm>
            <a:custGeom>
              <a:avLst/>
              <a:gdLst/>
              <a:ahLst/>
              <a:cxnLst/>
              <a:rect l="l" t="t" r="r" b="b"/>
              <a:pathLst>
                <a:path w="3255264" h="402336">
                  <a:moveTo>
                    <a:pt x="0" y="0"/>
                  </a:moveTo>
                  <a:lnTo>
                    <a:pt x="3255264" y="0"/>
                  </a:lnTo>
                  <a:lnTo>
                    <a:pt x="3255264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651" b="-10765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9525"/>
              <a:ext cx="3255264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57"/>
                </a:lnSpc>
              </a:pPr>
              <a:r>
                <a:rPr lang="en-US" sz="166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국제학회 발표</a:t>
              </a:r>
            </a:p>
          </p:txBody>
        </p:sp>
      </p:grpSp>
      <p:sp>
        <p:nvSpPr>
          <p:cNvPr id="53" name="AutoShape 53"/>
          <p:cNvSpPr/>
          <p:nvPr/>
        </p:nvSpPr>
        <p:spPr>
          <a:xfrm rot="5358720">
            <a:off x="12625730" y="3437954"/>
            <a:ext cx="111069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4" name="Group 54"/>
          <p:cNvGrpSpPr/>
          <p:nvPr/>
        </p:nvGrpSpPr>
        <p:grpSpPr>
          <a:xfrm>
            <a:off x="13606272" y="3017520"/>
            <a:ext cx="3607308" cy="411480"/>
            <a:chOff x="0" y="0"/>
            <a:chExt cx="4809744" cy="54864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4809744" cy="548640"/>
            </a:xfrm>
            <a:custGeom>
              <a:avLst/>
              <a:gdLst/>
              <a:ahLst/>
              <a:cxnLst/>
              <a:rect l="l" t="t" r="r" b="b"/>
              <a:pathLst>
                <a:path w="4809744" h="548640">
                  <a:moveTo>
                    <a:pt x="0" y="0"/>
                  </a:moveTo>
                  <a:lnTo>
                    <a:pt x="4809744" y="0"/>
                  </a:lnTo>
                  <a:lnTo>
                    <a:pt x="4809744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0818" b="-120818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28575"/>
              <a:ext cx="4809744" cy="57721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538"/>
                </a:lnSpc>
              </a:pPr>
              <a:r>
                <a:rPr lang="en-US" sz="2729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연구실 운영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13606272" y="3717036"/>
            <a:ext cx="3826764" cy="315468"/>
            <a:chOff x="0" y="0"/>
            <a:chExt cx="5102352" cy="42062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5102352" cy="420624"/>
            </a:xfrm>
            <a:custGeom>
              <a:avLst/>
              <a:gdLst/>
              <a:ahLst/>
              <a:cxnLst/>
              <a:rect l="l" t="t" r="r" b="b"/>
              <a:pathLst>
                <a:path w="5102352" h="420624">
                  <a:moveTo>
                    <a:pt x="0" y="0"/>
                  </a:moveTo>
                  <a:lnTo>
                    <a:pt x="5102352" y="0"/>
                  </a:lnTo>
                  <a:lnTo>
                    <a:pt x="5102352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6361" b="-186361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5102352" cy="4301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80"/>
                </a:lnSpc>
              </a:pPr>
              <a:r>
                <a:rPr lang="en-US" sz="1604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방장 · 학부생 졸업논문 지도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6528816" y="4509516"/>
            <a:ext cx="9326880" cy="329184"/>
            <a:chOff x="0" y="0"/>
            <a:chExt cx="12435840" cy="438912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2435840" cy="438912"/>
            </a:xfrm>
            <a:custGeom>
              <a:avLst/>
              <a:gdLst/>
              <a:ahLst/>
              <a:cxnLst/>
              <a:rect l="l" t="t" r="r" b="b"/>
              <a:pathLst>
                <a:path w="12435840" h="438912">
                  <a:moveTo>
                    <a:pt x="0" y="0"/>
                  </a:moveTo>
                  <a:lnTo>
                    <a:pt x="12435840" y="0"/>
                  </a:lnTo>
                  <a:lnTo>
                    <a:pt x="12435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2076" b="-502076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12435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핵심 역량과 수행 근거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6528816" y="4934489"/>
            <a:ext cx="576072" cy="329184"/>
            <a:chOff x="0" y="0"/>
            <a:chExt cx="768096" cy="43891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768096" cy="438912"/>
            </a:xfrm>
            <a:custGeom>
              <a:avLst/>
              <a:gdLst/>
              <a:ahLst/>
              <a:cxnLst/>
              <a:rect l="l" t="t" r="r" b="b"/>
              <a:pathLst>
                <a:path w="768096" h="438912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01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296912" y="4865909"/>
            <a:ext cx="2427732" cy="521208"/>
            <a:chOff x="0" y="0"/>
            <a:chExt cx="3236976" cy="694944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3236976" cy="694944"/>
            </a:xfrm>
            <a:custGeom>
              <a:avLst/>
              <a:gdLst/>
              <a:ahLst/>
              <a:cxnLst/>
              <a:rect l="l" t="t" r="r" b="b"/>
              <a:pathLst>
                <a:path w="3236976" h="694944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759" b="-40759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0"/>
                </a:lnSpc>
              </a:pPr>
              <a:r>
                <a:rPr lang="en-US" sz="2400" spc="9" dirty="0" err="1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연구·분석</a:t>
              </a:r>
              <a:endParaRPr lang="en-US" sz="2400" spc="9" dirty="0">
                <a:solidFill>
                  <a:srgbClr val="172B4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9875520" y="4797329"/>
            <a:ext cx="6309360" cy="781812"/>
            <a:chOff x="0" y="0"/>
            <a:chExt cx="8412480" cy="1042416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412480" cy="1042416"/>
            </a:xfrm>
            <a:custGeom>
              <a:avLst/>
              <a:gdLst/>
              <a:ahLst/>
              <a:cxnLst/>
              <a:rect l="l" t="t" r="r" b="b"/>
              <a:pathLst>
                <a:path w="8412480" h="1042416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247" b="-107247"/>
              </a:stretch>
            </a:blipFill>
          </p:spPr>
        </p:sp>
        <p:sp>
          <p:nvSpPr>
            <p:cNvPr id="71" name="TextBox 71"/>
            <p:cNvSpPr txBox="1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 분포·경사 비교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회귀분석을 통한 연구 결과 해석</a:t>
              </a:r>
            </a:p>
          </p:txBody>
        </p:sp>
      </p:grpSp>
      <p:sp>
        <p:nvSpPr>
          <p:cNvPr id="72" name="AutoShape 72"/>
          <p:cNvSpPr/>
          <p:nvPr/>
        </p:nvSpPr>
        <p:spPr>
          <a:xfrm rot="4200">
            <a:off x="6522149" y="5607378"/>
            <a:ext cx="1093128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3" name="Group 73"/>
          <p:cNvGrpSpPr/>
          <p:nvPr/>
        </p:nvGrpSpPr>
        <p:grpSpPr>
          <a:xfrm>
            <a:off x="6528816" y="5955040"/>
            <a:ext cx="576072" cy="329184"/>
            <a:chOff x="0" y="0"/>
            <a:chExt cx="768096" cy="438912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68096" cy="438912"/>
            </a:xfrm>
            <a:custGeom>
              <a:avLst/>
              <a:gdLst/>
              <a:ahLst/>
              <a:cxnLst/>
              <a:rect l="l" t="t" r="r" b="b"/>
              <a:pathLst>
                <a:path w="768096" h="438912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02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96912" y="5886460"/>
            <a:ext cx="2427732" cy="521208"/>
            <a:chOff x="0" y="0"/>
            <a:chExt cx="3236976" cy="694944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3236976" cy="694944"/>
            </a:xfrm>
            <a:custGeom>
              <a:avLst/>
              <a:gdLst/>
              <a:ahLst/>
              <a:cxnLst/>
              <a:rect l="l" t="t" r="r" b="b"/>
              <a:pathLst>
                <a:path w="3236976" h="694944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759" b="-40759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0"/>
                </a:lnSpc>
              </a:pPr>
              <a:r>
                <a:rPr lang="en-US" sz="240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구현·검증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9875520" y="5817880"/>
            <a:ext cx="6309360" cy="781812"/>
            <a:chOff x="0" y="0"/>
            <a:chExt cx="8412480" cy="1042416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8412480" cy="1042416"/>
            </a:xfrm>
            <a:custGeom>
              <a:avLst/>
              <a:gdLst/>
              <a:ahLst/>
              <a:cxnLst/>
              <a:rect l="l" t="t" r="r" b="b"/>
              <a:pathLst>
                <a:path w="8412480" h="1042416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247" b="-107247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분석과 로컬 LLM 연계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Python 코드 분석 프로토타입 시험</a:t>
              </a:r>
            </a:p>
          </p:txBody>
        </p:sp>
      </p:grpSp>
      <p:sp>
        <p:nvSpPr>
          <p:cNvPr id="82" name="AutoShape 82"/>
          <p:cNvSpPr/>
          <p:nvPr/>
        </p:nvSpPr>
        <p:spPr>
          <a:xfrm rot="4200">
            <a:off x="6522149" y="6674178"/>
            <a:ext cx="1093128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3" name="Group 83"/>
          <p:cNvGrpSpPr/>
          <p:nvPr/>
        </p:nvGrpSpPr>
        <p:grpSpPr>
          <a:xfrm>
            <a:off x="6528816" y="7021840"/>
            <a:ext cx="576072" cy="329184"/>
            <a:chOff x="0" y="0"/>
            <a:chExt cx="768096" cy="438912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768096" cy="438912"/>
            </a:xfrm>
            <a:custGeom>
              <a:avLst/>
              <a:gdLst/>
              <a:ahLst/>
              <a:cxnLst/>
              <a:rect l="l" t="t" r="r" b="b"/>
              <a:pathLst>
                <a:path w="768096" h="438912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03</a:t>
              </a:r>
            </a:p>
          </p:txBody>
        </p:sp>
      </p:grpSp>
      <p:grpSp>
        <p:nvGrpSpPr>
          <p:cNvPr id="86" name="Group 86"/>
          <p:cNvGrpSpPr/>
          <p:nvPr/>
        </p:nvGrpSpPr>
        <p:grpSpPr>
          <a:xfrm>
            <a:off x="7296912" y="6953260"/>
            <a:ext cx="2427732" cy="521208"/>
            <a:chOff x="0" y="0"/>
            <a:chExt cx="3236976" cy="694944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3236976" cy="694944"/>
            </a:xfrm>
            <a:custGeom>
              <a:avLst/>
              <a:gdLst/>
              <a:ahLst/>
              <a:cxnLst/>
              <a:rect l="l" t="t" r="r" b="b"/>
              <a:pathLst>
                <a:path w="3236976" h="694944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759" b="-40759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10"/>
                </a:lnSpc>
              </a:pPr>
              <a:r>
                <a:rPr lang="en-US" sz="2400" spc="9" dirty="0" err="1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데이터·학습</a:t>
              </a:r>
              <a:endParaRPr lang="en-US" sz="2400" spc="9" dirty="0">
                <a:solidFill>
                  <a:srgbClr val="172B4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875520" y="6884680"/>
            <a:ext cx="6309360" cy="781812"/>
            <a:chOff x="0" y="0"/>
            <a:chExt cx="8412480" cy="104241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8412480" cy="1042416"/>
            </a:xfrm>
            <a:custGeom>
              <a:avLst/>
              <a:gdLst/>
              <a:ahLst/>
              <a:cxnLst/>
              <a:rect l="l" t="t" r="r" b="b"/>
              <a:pathLst>
                <a:path w="8412480" h="1042416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247" b="-107247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파인튜닝 결과 분석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학습·평가 데이터셋 재구축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6505575" y="8892159"/>
            <a:ext cx="10950702" cy="499110"/>
            <a:chOff x="0" y="0"/>
            <a:chExt cx="14600936" cy="665480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4600937" cy="665480"/>
            </a:xfrm>
            <a:custGeom>
              <a:avLst/>
              <a:gdLst/>
              <a:ahLst/>
              <a:cxnLst/>
              <a:rect l="l" t="t" r="r" b="b"/>
              <a:pathLst>
                <a:path w="14600937" h="665480">
                  <a:moveTo>
                    <a:pt x="0" y="0"/>
                  </a:moveTo>
                  <a:lnTo>
                    <a:pt x="14600937" y="0"/>
                  </a:lnTo>
                  <a:lnTo>
                    <a:pt x="14600937" y="665480"/>
                  </a:lnTo>
                  <a:lnTo>
                    <a:pt x="0" y="665480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94" name="Group 94"/>
          <p:cNvGrpSpPr/>
          <p:nvPr/>
        </p:nvGrpSpPr>
        <p:grpSpPr>
          <a:xfrm>
            <a:off x="6761988" y="9011412"/>
            <a:ext cx="1522476" cy="233172"/>
            <a:chOff x="0" y="0"/>
            <a:chExt cx="2029968" cy="310896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2029968" cy="310896"/>
            </a:xfrm>
            <a:custGeom>
              <a:avLst/>
              <a:gdLst/>
              <a:ahLst/>
              <a:cxnLst/>
              <a:rect l="l" t="t" r="r" b="b"/>
              <a:pathLst>
                <a:path w="2029968" h="310896">
                  <a:moveTo>
                    <a:pt x="0" y="0"/>
                  </a:moveTo>
                  <a:lnTo>
                    <a:pt x="2029968" y="0"/>
                  </a:lnTo>
                  <a:lnTo>
                    <a:pt x="2029968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225" b="-77225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9525"/>
              <a:ext cx="2029968" cy="320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사용 도구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8490204" y="8983980"/>
            <a:ext cx="8627364" cy="496721"/>
            <a:chOff x="0" y="0"/>
            <a:chExt cx="11503152" cy="66229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11503152" cy="662294"/>
            </a:xfrm>
            <a:custGeom>
              <a:avLst/>
              <a:gdLst/>
              <a:ahLst/>
              <a:cxnLst/>
              <a:rect l="l" t="t" r="r" b="b"/>
              <a:pathLst>
                <a:path w="11503152" h="662294">
                  <a:moveTo>
                    <a:pt x="0" y="0"/>
                  </a:moveTo>
                  <a:lnTo>
                    <a:pt x="11503152" y="0"/>
                  </a:lnTo>
                  <a:lnTo>
                    <a:pt x="11503152" y="662294"/>
                  </a:lnTo>
                  <a:lnTo>
                    <a:pt x="0" y="66229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08054" b="-268802"/>
              </a:stretch>
            </a:blipFill>
          </p:spPr>
        </p:sp>
        <p:sp>
          <p:nvSpPr>
            <p:cNvPr id="99" name="TextBox 99"/>
            <p:cNvSpPr txBox="1"/>
            <p:nvPr/>
          </p:nvSpPr>
          <p:spPr>
            <a:xfrm>
              <a:off x="0" y="-19050"/>
              <a:ext cx="11503152" cy="68134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2"/>
                </a:lnSpc>
              </a:pPr>
              <a:r>
                <a:rPr lang="en-US" sz="1800" spc="6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Python  ·  PyTorch  ·  vLLM · Nvidia Rapids · GPU-based ML</a:t>
              </a:r>
            </a:p>
          </p:txBody>
        </p:sp>
      </p:grpSp>
      <p:sp>
        <p:nvSpPr>
          <p:cNvPr id="100" name="AutoShape 100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1" name="AutoShape 82"/>
          <p:cNvSpPr/>
          <p:nvPr/>
        </p:nvSpPr>
        <p:spPr>
          <a:xfrm rot="4200">
            <a:off x="6518523" y="7740978"/>
            <a:ext cx="1093128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2" name="Group 83"/>
          <p:cNvGrpSpPr/>
          <p:nvPr/>
        </p:nvGrpSpPr>
        <p:grpSpPr>
          <a:xfrm>
            <a:off x="6525190" y="8088640"/>
            <a:ext cx="576072" cy="329184"/>
            <a:chOff x="0" y="0"/>
            <a:chExt cx="768096" cy="438912"/>
          </a:xfrm>
        </p:grpSpPr>
        <p:sp>
          <p:nvSpPr>
            <p:cNvPr id="103" name="Freeform 84"/>
            <p:cNvSpPr/>
            <p:nvPr/>
          </p:nvSpPr>
          <p:spPr>
            <a:xfrm>
              <a:off x="0" y="0"/>
              <a:ext cx="768096" cy="438912"/>
            </a:xfrm>
            <a:custGeom>
              <a:avLst/>
              <a:gdLst/>
              <a:ahLst/>
              <a:cxnLst/>
              <a:rect l="l" t="t" r="r" b="b"/>
              <a:pathLst>
                <a:path w="768096" h="438912">
                  <a:moveTo>
                    <a:pt x="0" y="0"/>
                  </a:moveTo>
                  <a:lnTo>
                    <a:pt x="768096" y="0"/>
                  </a:lnTo>
                  <a:lnTo>
                    <a:pt x="768096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3316" r="-23316"/>
              </a:stretch>
            </a:blipFill>
          </p:spPr>
        </p:sp>
        <p:sp>
          <p:nvSpPr>
            <p:cNvPr id="104" name="TextBox 85"/>
            <p:cNvSpPr txBox="1"/>
            <p:nvPr/>
          </p:nvSpPr>
          <p:spPr>
            <a:xfrm>
              <a:off x="0" y="-9525"/>
              <a:ext cx="768096" cy="4484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6"/>
                </a:lnSpc>
              </a:pPr>
              <a:r>
                <a:rPr lang="en-US" sz="1695" spc="6" dirty="0" smtClean="0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04</a:t>
              </a:r>
              <a:endParaRPr lang="en-US" sz="1695" spc="6" dirty="0">
                <a:solidFill>
                  <a:srgbClr val="2859A6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105" name="Group 86"/>
          <p:cNvGrpSpPr/>
          <p:nvPr/>
        </p:nvGrpSpPr>
        <p:grpSpPr>
          <a:xfrm>
            <a:off x="7293286" y="8020060"/>
            <a:ext cx="2427732" cy="521208"/>
            <a:chOff x="0" y="0"/>
            <a:chExt cx="3236976" cy="694944"/>
          </a:xfrm>
        </p:grpSpPr>
        <p:sp>
          <p:nvSpPr>
            <p:cNvPr id="106" name="Freeform 87"/>
            <p:cNvSpPr/>
            <p:nvPr/>
          </p:nvSpPr>
          <p:spPr>
            <a:xfrm>
              <a:off x="0" y="0"/>
              <a:ext cx="3236976" cy="694944"/>
            </a:xfrm>
            <a:custGeom>
              <a:avLst/>
              <a:gdLst/>
              <a:ahLst/>
              <a:cxnLst/>
              <a:rect l="l" t="t" r="r" b="b"/>
              <a:pathLst>
                <a:path w="3236976" h="694944">
                  <a:moveTo>
                    <a:pt x="0" y="0"/>
                  </a:moveTo>
                  <a:lnTo>
                    <a:pt x="3236976" y="0"/>
                  </a:lnTo>
                  <a:lnTo>
                    <a:pt x="3236976" y="694944"/>
                  </a:lnTo>
                  <a:lnTo>
                    <a:pt x="0" y="6949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759" b="-40759"/>
              </a:stretch>
            </a:blipFill>
          </p:spPr>
        </p:sp>
        <p:sp>
          <p:nvSpPr>
            <p:cNvPr id="107" name="TextBox 88"/>
            <p:cNvSpPr txBox="1"/>
            <p:nvPr/>
          </p:nvSpPr>
          <p:spPr>
            <a:xfrm>
              <a:off x="0" y="-19050"/>
              <a:ext cx="3236976" cy="713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110"/>
                </a:lnSpc>
              </a:pPr>
              <a:r>
                <a:rPr lang="ko-KR" altLang="en-US" sz="2400" spc="9" dirty="0" smtClean="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스터디</a:t>
              </a:r>
              <a:r>
                <a:rPr lang="en-US" altLang="ko-KR" sz="2400" spc="9" dirty="0" smtClean="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·</a:t>
              </a:r>
              <a:r>
                <a:rPr lang="ko-KR" altLang="en-US" sz="2400" spc="9" dirty="0" smtClean="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개발</a:t>
              </a:r>
              <a:endParaRPr lang="en-US" sz="2400" spc="9" dirty="0">
                <a:solidFill>
                  <a:srgbClr val="172B4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grpSp>
        <p:nvGrpSpPr>
          <p:cNvPr id="108" name="Group 89"/>
          <p:cNvGrpSpPr/>
          <p:nvPr/>
        </p:nvGrpSpPr>
        <p:grpSpPr>
          <a:xfrm>
            <a:off x="9871894" y="7951480"/>
            <a:ext cx="6309360" cy="781812"/>
            <a:chOff x="0" y="0"/>
            <a:chExt cx="8412480" cy="1042416"/>
          </a:xfrm>
        </p:grpSpPr>
        <p:sp>
          <p:nvSpPr>
            <p:cNvPr id="109" name="Freeform 90"/>
            <p:cNvSpPr/>
            <p:nvPr/>
          </p:nvSpPr>
          <p:spPr>
            <a:xfrm>
              <a:off x="0" y="0"/>
              <a:ext cx="8412480" cy="1042416"/>
            </a:xfrm>
            <a:custGeom>
              <a:avLst/>
              <a:gdLst/>
              <a:ahLst/>
              <a:cxnLst/>
              <a:rect l="l" t="t" r="r" b="b"/>
              <a:pathLst>
                <a:path w="8412480" h="1042416">
                  <a:moveTo>
                    <a:pt x="0" y="0"/>
                  </a:moveTo>
                  <a:lnTo>
                    <a:pt x="8412480" y="0"/>
                  </a:lnTo>
                  <a:lnTo>
                    <a:pt x="8412480" y="1042416"/>
                  </a:lnTo>
                  <a:lnTo>
                    <a:pt x="0" y="10424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247" b="-107247"/>
              </a:stretch>
            </a:blipFill>
          </p:spPr>
        </p:sp>
        <p:sp>
          <p:nvSpPr>
            <p:cNvPr id="110" name="TextBox 91"/>
            <p:cNvSpPr txBox="1"/>
            <p:nvPr/>
          </p:nvSpPr>
          <p:spPr>
            <a:xfrm>
              <a:off x="0" y="-28575"/>
              <a:ext cx="8412480" cy="107099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파인튜닝 결과 분석</a:t>
              </a:r>
            </a:p>
            <a:p>
              <a:pPr algn="l">
                <a:lnSpc>
                  <a:spcPts val="2721"/>
                </a:lnSpc>
              </a:pPr>
              <a:r>
                <a:rPr lang="en-US" sz="202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학습·평가 데이터셋 재구축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93776"/>
            <a:ext cx="16596360" cy="301752"/>
            <a:chOff x="0" y="0"/>
            <a:chExt cx="22128480" cy="4023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02336"/>
            </a:xfrm>
            <a:custGeom>
              <a:avLst/>
              <a:gdLst/>
              <a:ahLst/>
              <a:cxnLst/>
              <a:rect l="l" t="t" r="r" b="b"/>
              <a:pathLst>
                <a:path w="22128480" h="402336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02  /  MASTER’S RESEARCH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24712"/>
            <a:ext cx="16596360" cy="685800"/>
            <a:chOff x="0" y="0"/>
            <a:chExt cx="2212848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914400"/>
            </a:xfrm>
            <a:custGeom>
              <a:avLst/>
              <a:gdLst/>
              <a:ahLst/>
              <a:cxnLst/>
              <a:rect l="l" t="t" r="r" b="b"/>
              <a:pathLst>
                <a:path w="22128480" h="91440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537" b="-4215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섬유포화점 이하에서의 목재 내 함수율 분포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0392" y="1920240"/>
            <a:ext cx="16459200" cy="411480"/>
            <a:chOff x="0" y="0"/>
            <a:chExt cx="219456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548640"/>
            </a:xfrm>
            <a:custGeom>
              <a:avLst/>
              <a:gdLst/>
              <a:ahLst/>
              <a:cxnLst/>
              <a:rect l="l" t="t" r="r" b="b"/>
              <a:pathLst>
                <a:path w="21945600" h="54864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경북대학교 대학원 · 임산공학(목재 물리학) · 석사 연구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91540" y="2811780"/>
            <a:ext cx="4183380" cy="329184"/>
            <a:chOff x="0" y="0"/>
            <a:chExt cx="5577840" cy="43891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577840" cy="438912"/>
            </a:xfrm>
            <a:custGeom>
              <a:avLst/>
              <a:gdLst/>
              <a:ahLst/>
              <a:cxnLst/>
              <a:rect l="l" t="t" r="r" b="b"/>
              <a:pathLst>
                <a:path w="5577840" h="438912">
                  <a:moveTo>
                    <a:pt x="0" y="0"/>
                  </a:moveTo>
                  <a:lnTo>
                    <a:pt x="5577840" y="0"/>
                  </a:lnTo>
                  <a:lnTo>
                    <a:pt x="5577840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7622" b="-197622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19050"/>
              <a:ext cx="5577840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연구 질문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1540" y="3374136"/>
            <a:ext cx="4155948" cy="1508760"/>
            <a:chOff x="0" y="0"/>
            <a:chExt cx="5541264" cy="201168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5541264" cy="2011680"/>
            </a:xfrm>
            <a:custGeom>
              <a:avLst/>
              <a:gdLst/>
              <a:ahLst/>
              <a:cxnLst/>
              <a:rect l="l" t="t" r="r" b="b"/>
              <a:pathLst>
                <a:path w="5541264" h="2011680">
                  <a:moveTo>
                    <a:pt x="0" y="0"/>
                  </a:moveTo>
                  <a:lnTo>
                    <a:pt x="5541264" y="0"/>
                  </a:lnTo>
                  <a:lnTo>
                    <a:pt x="5541264" y="2011680"/>
                  </a:lnTo>
                  <a:lnTo>
                    <a:pt x="0" y="20116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72" b="-3672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5541264" cy="2040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93"/>
                </a:lnSpc>
              </a:pPr>
              <a:r>
                <a:rPr lang="en-US" sz="270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목재 내 수분 이동의 구동력에 대해서 발견할 수 있을까?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91540" y="5294376"/>
            <a:ext cx="4197096" cy="329184"/>
            <a:chOff x="0" y="0"/>
            <a:chExt cx="5596128" cy="43891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596128" cy="438912"/>
            </a:xfrm>
            <a:custGeom>
              <a:avLst/>
              <a:gdLst/>
              <a:ahLst/>
              <a:cxnLst/>
              <a:rect l="l" t="t" r="r" b="b"/>
              <a:pathLst>
                <a:path w="5596128" h="438912">
                  <a:moveTo>
                    <a:pt x="0" y="0"/>
                  </a:moveTo>
                  <a:lnTo>
                    <a:pt x="5596128" y="0"/>
                  </a:lnTo>
                  <a:lnTo>
                    <a:pt x="5596128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98434" b="-198434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5596128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16"/>
                </a:lnSpc>
              </a:pPr>
              <a:r>
                <a:rPr lang="en-US" sz="1710" spc="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분석 접근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891540" y="5801868"/>
            <a:ext cx="4238244" cy="1234440"/>
            <a:chOff x="0" y="0"/>
            <a:chExt cx="5650992" cy="164592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5650992" cy="1645920"/>
            </a:xfrm>
            <a:custGeom>
              <a:avLst/>
              <a:gdLst/>
              <a:ahLst/>
              <a:cxnLst/>
              <a:rect l="l" t="t" r="r" b="b"/>
              <a:pathLst>
                <a:path w="5650992" h="1645920">
                  <a:moveTo>
                    <a:pt x="0" y="0"/>
                  </a:moveTo>
                  <a:lnTo>
                    <a:pt x="5650992" y="0"/>
                  </a:lnTo>
                  <a:lnTo>
                    <a:pt x="5650992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898" b="-16898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28575"/>
              <a:ext cx="5650992" cy="1674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함수율·수증기압·화학 포텐셜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에너지 경사를 비교하고,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회귀분석을 통해 구동력 규명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57523" y="7255764"/>
            <a:ext cx="3892553" cy="1248156"/>
            <a:chOff x="0" y="0"/>
            <a:chExt cx="5190071" cy="1664208"/>
          </a:xfrm>
        </p:grpSpPr>
        <p:sp>
          <p:nvSpPr>
            <p:cNvPr id="24" name="Freeform 24" descr="/mnt/data/work_major/assets/original_2.png"/>
            <p:cNvSpPr/>
            <p:nvPr/>
          </p:nvSpPr>
          <p:spPr>
            <a:xfrm>
              <a:off x="0" y="0"/>
              <a:ext cx="5190109" cy="1664208"/>
            </a:xfrm>
            <a:custGeom>
              <a:avLst/>
              <a:gdLst/>
              <a:ahLst/>
              <a:cxnLst/>
              <a:rect l="l" t="t" r="r" b="b"/>
              <a:pathLst>
                <a:path w="5190109" h="1664208">
                  <a:moveTo>
                    <a:pt x="0" y="0"/>
                  </a:moveTo>
                  <a:lnTo>
                    <a:pt x="5190109" y="0"/>
                  </a:lnTo>
                  <a:lnTo>
                    <a:pt x="5190109" y="1664208"/>
                  </a:lnTo>
                  <a:lnTo>
                    <a:pt x="0" y="166420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5" name="Group 25"/>
          <p:cNvGrpSpPr/>
          <p:nvPr/>
        </p:nvGrpSpPr>
        <p:grpSpPr>
          <a:xfrm>
            <a:off x="987552" y="8599932"/>
            <a:ext cx="4306824" cy="329184"/>
            <a:chOff x="0" y="0"/>
            <a:chExt cx="5742432" cy="43891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42432" cy="438912"/>
            </a:xfrm>
            <a:custGeom>
              <a:avLst/>
              <a:gdLst/>
              <a:ahLst/>
              <a:cxnLst/>
              <a:rect l="l" t="t" r="r" b="b"/>
              <a:pathLst>
                <a:path w="5742432" h="438912">
                  <a:moveTo>
                    <a:pt x="0" y="0"/>
                  </a:moveTo>
                  <a:lnTo>
                    <a:pt x="5742432" y="0"/>
                  </a:lnTo>
                  <a:lnTo>
                    <a:pt x="5742432" y="438912"/>
                  </a:lnTo>
                  <a:lnTo>
                    <a:pt x="0" y="43891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04929" b="-204929"/>
              </a:stretch>
            </a:blipFill>
          </p:spPr>
        </p:sp>
        <p:sp>
          <p:nvSpPr>
            <p:cNvPr id="27" name="TextBox 27"/>
            <p:cNvSpPr txBox="1"/>
            <p:nvPr/>
          </p:nvSpPr>
          <p:spPr>
            <a:xfrm>
              <a:off x="0" y="-19050"/>
              <a:ext cx="5742432" cy="45796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05"/>
                </a:lnSpc>
              </a:pPr>
              <a:r>
                <a:rPr lang="en-US" sz="147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D_c: 확산계수  ·  dc/dx: 농도경사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507164" y="2590714"/>
            <a:ext cx="3826383" cy="5033391"/>
            <a:chOff x="0" y="0"/>
            <a:chExt cx="5101844" cy="6711188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5101844" cy="6711188"/>
            </a:xfrm>
            <a:custGeom>
              <a:avLst/>
              <a:gdLst/>
              <a:ahLst/>
              <a:cxnLst/>
              <a:rect l="l" t="t" r="r" b="b"/>
              <a:pathLst>
                <a:path w="5101844" h="6711188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>
            <a:off x="5637276" y="2871702"/>
            <a:ext cx="3566160" cy="438912"/>
            <a:chOff x="0" y="0"/>
            <a:chExt cx="4754880" cy="585216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13"/>
                </a:lnSpc>
              </a:pPr>
              <a:r>
                <a:rPr lang="en-US" sz="232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함수율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650992" y="4124963"/>
            <a:ext cx="3538728" cy="2650684"/>
            <a:chOff x="0" y="0"/>
            <a:chExt cx="4718304" cy="3534245"/>
          </a:xfrm>
        </p:grpSpPr>
        <p:sp>
          <p:nvSpPr>
            <p:cNvPr id="34" name="Freeform 34" descr="/mnt/data/work_major/assets/plot_5.png"/>
            <p:cNvSpPr/>
            <p:nvPr/>
          </p:nvSpPr>
          <p:spPr>
            <a:xfrm>
              <a:off x="0" y="0"/>
              <a:ext cx="4718304" cy="3534283"/>
            </a:xfrm>
            <a:custGeom>
              <a:avLst/>
              <a:gdLst/>
              <a:ahLst/>
              <a:cxnLst/>
              <a:rect l="l" t="t" r="r" b="b"/>
              <a:pathLst>
                <a:path w="4718304" h="3534283">
                  <a:moveTo>
                    <a:pt x="0" y="0"/>
                  </a:moveTo>
                  <a:lnTo>
                    <a:pt x="4718304" y="0"/>
                  </a:lnTo>
                  <a:lnTo>
                    <a:pt x="4718304" y="3534283"/>
                  </a:lnTo>
                  <a:lnTo>
                    <a:pt x="0" y="35342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</p:sp>
      </p:grpSp>
      <p:grpSp>
        <p:nvGrpSpPr>
          <p:cNvPr id="35" name="Group 35"/>
          <p:cNvGrpSpPr/>
          <p:nvPr/>
        </p:nvGrpSpPr>
        <p:grpSpPr>
          <a:xfrm>
            <a:off x="9553384" y="2590714"/>
            <a:ext cx="3826383" cy="5033391"/>
            <a:chOff x="0" y="0"/>
            <a:chExt cx="5101844" cy="67111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5101844" cy="6711188"/>
            </a:xfrm>
            <a:custGeom>
              <a:avLst/>
              <a:gdLst/>
              <a:ahLst/>
              <a:cxnLst/>
              <a:rect l="l" t="t" r="r" b="b"/>
              <a:pathLst>
                <a:path w="5101844" h="6711188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9683496" y="2871702"/>
            <a:ext cx="3566160" cy="438912"/>
            <a:chOff x="0" y="0"/>
            <a:chExt cx="4754880" cy="58521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4754880" cy="6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013"/>
                </a:lnSpc>
              </a:pPr>
              <a:r>
                <a:rPr lang="en-US" sz="232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수증기압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9697212" y="4141508"/>
            <a:ext cx="3538728" cy="2617603"/>
            <a:chOff x="0" y="0"/>
            <a:chExt cx="4718304" cy="3490138"/>
          </a:xfrm>
        </p:grpSpPr>
        <p:sp>
          <p:nvSpPr>
            <p:cNvPr id="41" name="Freeform 41" descr="/mnt/data/work_major/assets/plot_4.png"/>
            <p:cNvSpPr/>
            <p:nvPr/>
          </p:nvSpPr>
          <p:spPr>
            <a:xfrm>
              <a:off x="0" y="0"/>
              <a:ext cx="4718304" cy="3490087"/>
            </a:xfrm>
            <a:custGeom>
              <a:avLst/>
              <a:gdLst/>
              <a:ahLst/>
              <a:cxnLst/>
              <a:rect l="l" t="t" r="r" b="b"/>
              <a:pathLst>
                <a:path w="4718304" h="3490087">
                  <a:moveTo>
                    <a:pt x="0" y="0"/>
                  </a:moveTo>
                  <a:lnTo>
                    <a:pt x="4718304" y="0"/>
                  </a:lnTo>
                  <a:lnTo>
                    <a:pt x="4718304" y="3490087"/>
                  </a:lnTo>
                  <a:lnTo>
                    <a:pt x="0" y="34900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b="-1"/>
              </a:stretch>
            </a:blipFill>
          </p:spPr>
        </p:sp>
      </p:grpSp>
      <p:grpSp>
        <p:nvGrpSpPr>
          <p:cNvPr id="42" name="Group 42"/>
          <p:cNvGrpSpPr/>
          <p:nvPr/>
        </p:nvGrpSpPr>
        <p:grpSpPr>
          <a:xfrm>
            <a:off x="13599604" y="2590714"/>
            <a:ext cx="3826383" cy="5033391"/>
            <a:chOff x="0" y="0"/>
            <a:chExt cx="5101844" cy="671118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5101844" cy="6711188"/>
            </a:xfrm>
            <a:custGeom>
              <a:avLst/>
              <a:gdLst/>
              <a:ahLst/>
              <a:cxnLst/>
              <a:rect l="l" t="t" r="r" b="b"/>
              <a:pathLst>
                <a:path w="5101844" h="6711188">
                  <a:moveTo>
                    <a:pt x="0" y="0"/>
                  </a:moveTo>
                  <a:lnTo>
                    <a:pt x="5101844" y="0"/>
                  </a:lnTo>
                  <a:lnTo>
                    <a:pt x="5101844" y="6711188"/>
                  </a:lnTo>
                  <a:lnTo>
                    <a:pt x="0" y="6711188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3729716" y="2871702"/>
            <a:ext cx="3566160" cy="438912"/>
            <a:chOff x="0" y="0"/>
            <a:chExt cx="4754880" cy="58521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754880" cy="585216"/>
            </a:xfrm>
            <a:custGeom>
              <a:avLst/>
              <a:gdLst/>
              <a:ahLst/>
              <a:cxnLst/>
              <a:rect l="l" t="t" r="r" b="b"/>
              <a:pathLst>
                <a:path w="4754880" h="585216">
                  <a:moveTo>
                    <a:pt x="0" y="0"/>
                  </a:moveTo>
                  <a:lnTo>
                    <a:pt x="4754880" y="0"/>
                  </a:lnTo>
                  <a:lnTo>
                    <a:pt x="4754880" y="585216"/>
                  </a:lnTo>
                  <a:lnTo>
                    <a:pt x="0" y="58521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8315" b="-10831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19050"/>
              <a:ext cx="4754880" cy="60426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66"/>
                </a:lnSpc>
              </a:pPr>
              <a:r>
                <a:rPr lang="en-US" sz="1979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화학 포텐셜 에너지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3743432" y="3709283"/>
            <a:ext cx="3538728" cy="3482045"/>
            <a:chOff x="0" y="0"/>
            <a:chExt cx="4718304" cy="4642726"/>
          </a:xfrm>
        </p:grpSpPr>
        <p:sp>
          <p:nvSpPr>
            <p:cNvPr id="48" name="Freeform 48" descr="/mnt/data/work_major/assets/plot_6.png"/>
            <p:cNvSpPr/>
            <p:nvPr/>
          </p:nvSpPr>
          <p:spPr>
            <a:xfrm>
              <a:off x="0" y="0"/>
              <a:ext cx="4718304" cy="4642739"/>
            </a:xfrm>
            <a:custGeom>
              <a:avLst/>
              <a:gdLst/>
              <a:ahLst/>
              <a:cxnLst/>
              <a:rect l="l" t="t" r="r" b="b"/>
              <a:pathLst>
                <a:path w="4718304" h="4642739">
                  <a:moveTo>
                    <a:pt x="0" y="0"/>
                  </a:moveTo>
                  <a:lnTo>
                    <a:pt x="4718304" y="0"/>
                  </a:lnTo>
                  <a:lnTo>
                    <a:pt x="4718304" y="4642739"/>
                  </a:lnTo>
                  <a:lnTo>
                    <a:pt x="0" y="46427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grpSp>
        <p:nvGrpSpPr>
          <p:cNvPr id="49" name="Group 49"/>
          <p:cNvGrpSpPr/>
          <p:nvPr/>
        </p:nvGrpSpPr>
        <p:grpSpPr>
          <a:xfrm>
            <a:off x="813435" y="9125331"/>
            <a:ext cx="16656558" cy="430530"/>
            <a:chOff x="0" y="0"/>
            <a:chExt cx="22208744" cy="57404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2208744" cy="574040"/>
            </a:xfrm>
            <a:custGeom>
              <a:avLst/>
              <a:gdLst/>
              <a:ahLst/>
              <a:cxnLst/>
              <a:rect l="l" t="t" r="r" b="b"/>
              <a:pathLst>
                <a:path w="22208744" h="574040">
                  <a:moveTo>
                    <a:pt x="0" y="0"/>
                  </a:moveTo>
                  <a:lnTo>
                    <a:pt x="22208744" y="0"/>
                  </a:lnTo>
                  <a:lnTo>
                    <a:pt x="22208744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162B43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056132" y="9210294"/>
            <a:ext cx="1536192" cy="219456"/>
            <a:chOff x="0" y="0"/>
            <a:chExt cx="2048256" cy="29260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2048256" cy="292608"/>
            </a:xfrm>
            <a:custGeom>
              <a:avLst/>
              <a:gdLst/>
              <a:ahLst/>
              <a:cxnLst/>
              <a:rect l="l" t="t" r="r" b="b"/>
              <a:pathLst>
                <a:path w="2048256" h="292608">
                  <a:moveTo>
                    <a:pt x="0" y="0"/>
                  </a:moveTo>
                  <a:lnTo>
                    <a:pt x="2048256" y="0"/>
                  </a:lnTo>
                  <a:lnTo>
                    <a:pt x="2048256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2048256" cy="31165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18"/>
                </a:lnSpc>
              </a:pPr>
              <a:r>
                <a:rPr lang="en-US" sz="1635" spc="6">
                  <a:solidFill>
                    <a:srgbClr val="C8D7E6"/>
                  </a:solidFill>
                  <a:latin typeface="Mandali"/>
                  <a:ea typeface="Mandali"/>
                  <a:cs typeface="Mandali"/>
                  <a:sym typeface="Mandali"/>
                </a:rPr>
                <a:t>핵심 결과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2770632" y="9196578"/>
            <a:ext cx="14374368" cy="274320"/>
            <a:chOff x="0" y="0"/>
            <a:chExt cx="19165824" cy="3657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165824" cy="365760"/>
            </a:xfrm>
            <a:custGeom>
              <a:avLst/>
              <a:gdLst/>
              <a:ahLst/>
              <a:cxnLst/>
              <a:rect l="l" t="t" r="r" b="b"/>
              <a:pathLst>
                <a:path w="19165824" h="365760">
                  <a:moveTo>
                    <a:pt x="0" y="0"/>
                  </a:moveTo>
                  <a:lnTo>
                    <a:pt x="19165824" y="0"/>
                  </a:lnTo>
                  <a:lnTo>
                    <a:pt x="19165824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71016" b="-97101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-9525"/>
              <a:ext cx="19165824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FFFFFF"/>
                  </a:solidFill>
                  <a:latin typeface="Mandali"/>
                  <a:ea typeface="Mandali"/>
                  <a:cs typeface="Mandali"/>
                  <a:sym typeface="Mandali"/>
                </a:rPr>
                <a:t>수분 이동의 구동력 규명을 회귀분석으로 설명 시도.</a:t>
              </a:r>
            </a:p>
          </p:txBody>
        </p:sp>
      </p:grpSp>
      <p:sp>
        <p:nvSpPr>
          <p:cNvPr id="57" name="AutoShape 57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8" name="Group 58"/>
          <p:cNvGrpSpPr/>
          <p:nvPr/>
        </p:nvGrpSpPr>
        <p:grpSpPr>
          <a:xfrm>
            <a:off x="5513832" y="7694676"/>
            <a:ext cx="11905488" cy="1234440"/>
            <a:chOff x="0" y="0"/>
            <a:chExt cx="15873984" cy="164592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15873985" cy="1645920"/>
            </a:xfrm>
            <a:custGeom>
              <a:avLst/>
              <a:gdLst/>
              <a:ahLst/>
              <a:cxnLst/>
              <a:rect l="l" t="t" r="r" b="b"/>
              <a:pathLst>
                <a:path w="15873985" h="1645920">
                  <a:moveTo>
                    <a:pt x="0" y="0"/>
                  </a:moveTo>
                  <a:lnTo>
                    <a:pt x="15873985" y="0"/>
                  </a:lnTo>
                  <a:lnTo>
                    <a:pt x="15873985" y="1645920"/>
                  </a:lnTo>
                  <a:lnTo>
                    <a:pt x="0" y="1645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7922" b="-137922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28575"/>
              <a:ext cx="15873984" cy="16744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정상 상태 (steady-state) 에서 상대 습도 조건이 수분 분포 형태를 표현하는 데 중요한 요인이었다.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정상 상태에서 정확한 확산 계수를 얻는다면, 비정상 상태(non-steady state) 조건에서 확산 계수를 확보할 수 있을 것이고, 확산계수를 활용해서 구동력을 규명할 수 있다.</a:t>
              </a:r>
            </a:p>
            <a:p>
              <a:pPr algn="l">
                <a:lnSpc>
                  <a:spcPts val="2688"/>
                </a:lnSpc>
              </a:pPr>
              <a:r>
                <a:rPr lang="en-US" sz="1964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이 과정을 위해서 더욱 치밀한 실험 설계와 더 많은 데이터를 확보하는 것이 요구된다.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93776"/>
            <a:ext cx="16596360" cy="301752"/>
            <a:chOff x="0" y="0"/>
            <a:chExt cx="22128480" cy="4023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02336"/>
            </a:xfrm>
            <a:custGeom>
              <a:avLst/>
              <a:gdLst/>
              <a:ahLst/>
              <a:cxnLst/>
              <a:rect l="l" t="t" r="r" b="b"/>
              <a:pathLst>
                <a:path w="22128480" h="402336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03  /  SYSTEM DEVELOPMENT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24712"/>
            <a:ext cx="16596360" cy="685800"/>
            <a:chOff x="0" y="0"/>
            <a:chExt cx="2212848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914400"/>
            </a:xfrm>
            <a:custGeom>
              <a:avLst/>
              <a:gdLst/>
              <a:ahLst/>
              <a:cxnLst/>
              <a:rect l="l" t="t" r="r" b="b"/>
              <a:pathLst>
                <a:path w="22128480" h="91440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537" b="-4215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 기반 악성 코드 분석 시스템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0392" y="1920240"/>
            <a:ext cx="16459200" cy="411480"/>
            <a:chOff x="0" y="0"/>
            <a:chExt cx="219456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548640"/>
            </a:xfrm>
            <a:custGeom>
              <a:avLst/>
              <a:gdLst/>
              <a:ahLst/>
              <a:cxnLst/>
              <a:rect l="l" t="t" r="r" b="b"/>
              <a:pathLst>
                <a:path w="21945600" h="54864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공개 프로젝트 구조를 프로젝트 요구에 맞게 재구성하고, 임의의 Python code를 테스트하는 프로토타입 구현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6293" y="2750248"/>
            <a:ext cx="10506075" cy="6624447"/>
            <a:chOff x="0" y="0"/>
            <a:chExt cx="14008100" cy="883259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4008100" cy="8832596"/>
            </a:xfrm>
            <a:custGeom>
              <a:avLst/>
              <a:gdLst/>
              <a:ahLst/>
              <a:cxnLst/>
              <a:rect l="l" t="t" r="r" b="b"/>
              <a:pathLst>
                <a:path w="14008100" h="8832596">
                  <a:moveTo>
                    <a:pt x="0" y="0"/>
                  </a:moveTo>
                  <a:lnTo>
                    <a:pt x="14008100" y="0"/>
                  </a:lnTo>
                  <a:lnTo>
                    <a:pt x="14008100" y="8832596"/>
                  </a:lnTo>
                  <a:lnTo>
                    <a:pt x="0" y="8832596"/>
                  </a:ln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193292" y="3058668"/>
            <a:ext cx="9573768" cy="342900"/>
            <a:chOff x="0" y="0"/>
            <a:chExt cx="12765024" cy="4572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2765024" cy="457200"/>
            </a:xfrm>
            <a:custGeom>
              <a:avLst/>
              <a:gdLst/>
              <a:ahLst/>
              <a:cxnLst/>
              <a:rect l="l" t="t" r="r" b="b"/>
              <a:pathLst>
                <a:path w="12765024" h="457200">
                  <a:moveTo>
                    <a:pt x="0" y="0"/>
                  </a:moveTo>
                  <a:lnTo>
                    <a:pt x="12765024" y="0"/>
                  </a:lnTo>
                  <a:lnTo>
                    <a:pt x="12765024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022" b="-494022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-19050"/>
              <a:ext cx="12765024" cy="4762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85"/>
                </a:lnSpc>
              </a:pPr>
              <a:r>
                <a:rPr lang="en-US" sz="199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개발 구조  |  핵심 처리 흐름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0340" y="3902392"/>
            <a:ext cx="2591943" cy="932307"/>
            <a:chOff x="0" y="0"/>
            <a:chExt cx="3455924" cy="1243076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455924" cy="1243076"/>
            </a:xfrm>
            <a:custGeom>
              <a:avLst/>
              <a:gdLst/>
              <a:ahLst/>
              <a:cxnLst/>
              <a:rect l="l" t="t" r="r" b="b"/>
              <a:pathLst>
                <a:path w="3455924" h="1243076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307461" y="0"/>
                  </a:lnTo>
                  <a:cubicBezTo>
                    <a:pt x="3389376" y="0"/>
                    <a:pt x="3455924" y="66421"/>
                    <a:pt x="3455924" y="148463"/>
                  </a:cubicBezTo>
                  <a:lnTo>
                    <a:pt x="3455924" y="1094613"/>
                  </a:lnTo>
                  <a:cubicBezTo>
                    <a:pt x="3455924" y="1176528"/>
                    <a:pt x="3389503" y="1243076"/>
                    <a:pt x="3307461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F0F3F6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316736" y="4032504"/>
            <a:ext cx="2359152" cy="370332"/>
            <a:chOff x="0" y="0"/>
            <a:chExt cx="3145536" cy="49377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3145536" cy="493776"/>
            </a:xfrm>
            <a:custGeom>
              <a:avLst/>
              <a:gdLst/>
              <a:ahLst/>
              <a:cxnLst/>
              <a:rect l="l" t="t" r="r" b="b"/>
              <a:pathLst>
                <a:path w="3145536" h="493776">
                  <a:moveTo>
                    <a:pt x="0" y="0"/>
                  </a:moveTo>
                  <a:lnTo>
                    <a:pt x="3145536" y="0"/>
                  </a:lnTo>
                  <a:lnTo>
                    <a:pt x="3145536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4126" b="-7412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3145536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코드 · 기준 PDF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303020" y="4457700"/>
            <a:ext cx="2386584" cy="274320"/>
            <a:chOff x="0" y="0"/>
            <a:chExt cx="3182112" cy="3657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182112" cy="365760"/>
            </a:xfrm>
            <a:custGeom>
              <a:avLst/>
              <a:gdLst/>
              <a:ahLst/>
              <a:cxnLst/>
              <a:rect l="l" t="t" r="r" b="b"/>
              <a:pathLst>
                <a:path w="3182112" h="365760">
                  <a:moveTo>
                    <a:pt x="0" y="0"/>
                  </a:moveTo>
                  <a:lnTo>
                    <a:pt x="3182112" y="0"/>
                  </a:lnTo>
                  <a:lnTo>
                    <a:pt x="3182112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9519" b="-119519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3182112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입력 자료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4341304" y="3902392"/>
            <a:ext cx="2468499" cy="932307"/>
            <a:chOff x="0" y="0"/>
            <a:chExt cx="3291332" cy="1243076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3291332" cy="1243076"/>
            </a:xfrm>
            <a:custGeom>
              <a:avLst/>
              <a:gdLst/>
              <a:ahLst/>
              <a:cxnLst/>
              <a:rect l="l" t="t" r="r" b="b"/>
              <a:pathLst>
                <a:path w="3291332" h="1243076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3142869" y="0"/>
                  </a:lnTo>
                  <a:cubicBezTo>
                    <a:pt x="3224784" y="0"/>
                    <a:pt x="3291332" y="66421"/>
                    <a:pt x="3291332" y="148463"/>
                  </a:cubicBezTo>
                  <a:lnTo>
                    <a:pt x="3291332" y="1094613"/>
                  </a:lnTo>
                  <a:cubicBezTo>
                    <a:pt x="3291332" y="1176528"/>
                    <a:pt x="3224911" y="1243076"/>
                    <a:pt x="3142869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>
            <a:off x="4457700" y="4032504"/>
            <a:ext cx="2235708" cy="370332"/>
            <a:chOff x="0" y="0"/>
            <a:chExt cx="2980944" cy="493776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2980944" cy="493776"/>
            </a:xfrm>
            <a:custGeom>
              <a:avLst/>
              <a:gdLst/>
              <a:ahLst/>
              <a:cxnLst/>
              <a:rect l="l" t="t" r="r" b="b"/>
              <a:pathLst>
                <a:path w="2980944" h="493776">
                  <a:moveTo>
                    <a:pt x="0" y="0"/>
                  </a:moveTo>
                  <a:lnTo>
                    <a:pt x="2980944" y="0"/>
                  </a:lnTo>
                  <a:lnTo>
                    <a:pt x="298094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7631" b="-6763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2980944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MCP Server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443984" y="4457700"/>
            <a:ext cx="2263140" cy="274320"/>
            <a:chOff x="0" y="0"/>
            <a:chExt cx="3017520" cy="36576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17520" cy="365760"/>
            </a:xfrm>
            <a:custGeom>
              <a:avLst/>
              <a:gdLst/>
              <a:ahLst/>
              <a:cxnLst/>
              <a:rect l="l" t="t" r="r" b="b"/>
              <a:pathLst>
                <a:path w="3017520" h="365760">
                  <a:moveTo>
                    <a:pt x="0" y="0"/>
                  </a:moveTo>
                  <a:lnTo>
                    <a:pt x="3017520" y="0"/>
                  </a:lnTo>
                  <a:lnTo>
                    <a:pt x="301752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0751" b="-110751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19050"/>
              <a:ext cx="3017520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Jadx-ai-mcp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358825" y="3902392"/>
            <a:ext cx="3387471" cy="932307"/>
            <a:chOff x="0" y="0"/>
            <a:chExt cx="4516628" cy="1243076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516628" cy="1243076"/>
            </a:xfrm>
            <a:custGeom>
              <a:avLst/>
              <a:gdLst/>
              <a:ahLst/>
              <a:cxnLst/>
              <a:rect l="l" t="t" r="r" b="b"/>
              <a:pathLst>
                <a:path w="4516628" h="1243076">
                  <a:moveTo>
                    <a:pt x="0" y="148463"/>
                  </a:moveTo>
                  <a:cubicBezTo>
                    <a:pt x="0" y="66421"/>
                    <a:pt x="66421" y="0"/>
                    <a:pt x="148463" y="0"/>
                  </a:cubicBezTo>
                  <a:lnTo>
                    <a:pt x="4368165" y="0"/>
                  </a:lnTo>
                  <a:cubicBezTo>
                    <a:pt x="4450080" y="0"/>
                    <a:pt x="4516628" y="66421"/>
                    <a:pt x="4516628" y="148463"/>
                  </a:cubicBezTo>
                  <a:lnTo>
                    <a:pt x="4516628" y="1094613"/>
                  </a:lnTo>
                  <a:cubicBezTo>
                    <a:pt x="4516628" y="1176528"/>
                    <a:pt x="4450207" y="1243076"/>
                    <a:pt x="4368165" y="1243076"/>
                  </a:cubicBezTo>
                  <a:lnTo>
                    <a:pt x="148463" y="1243076"/>
                  </a:lnTo>
                  <a:cubicBezTo>
                    <a:pt x="66421" y="1243076"/>
                    <a:pt x="0" y="1176655"/>
                    <a:pt x="0" y="1094613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7475220" y="4032504"/>
            <a:ext cx="3154680" cy="370332"/>
            <a:chOff x="0" y="0"/>
            <a:chExt cx="4206240" cy="493776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206240" cy="493776"/>
            </a:xfrm>
            <a:custGeom>
              <a:avLst/>
              <a:gdLst/>
              <a:ahLst/>
              <a:cxnLst/>
              <a:rect l="l" t="t" r="r" b="b"/>
              <a:pathLst>
                <a:path w="4206240" h="493776">
                  <a:moveTo>
                    <a:pt x="0" y="0"/>
                  </a:moveTo>
                  <a:lnTo>
                    <a:pt x="4206240" y="0"/>
                  </a:lnTo>
                  <a:lnTo>
                    <a:pt x="420624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983" b="-11598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4206240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Remediation Service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7461504" y="4457700"/>
            <a:ext cx="3182112" cy="274320"/>
            <a:chOff x="0" y="0"/>
            <a:chExt cx="4242816" cy="36576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4242816" cy="365760"/>
            </a:xfrm>
            <a:custGeom>
              <a:avLst/>
              <a:gdLst/>
              <a:ahLst/>
              <a:cxnLst/>
              <a:rect l="l" t="t" r="r" b="b"/>
              <a:pathLst>
                <a:path w="4242816" h="365760">
                  <a:moveTo>
                    <a:pt x="0" y="0"/>
                  </a:moveTo>
                  <a:lnTo>
                    <a:pt x="4242816" y="0"/>
                  </a:lnTo>
                  <a:lnTo>
                    <a:pt x="42428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6026" b="-17602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424281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호출 · 결과 조정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rot="201240">
            <a:off x="3814020" y="4356926"/>
            <a:ext cx="423253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AutoShape 41"/>
          <p:cNvSpPr/>
          <p:nvPr/>
        </p:nvSpPr>
        <p:spPr>
          <a:xfrm rot="201240">
            <a:off x="6831540" y="4356926"/>
            <a:ext cx="423253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2" name="AutoShape 42"/>
          <p:cNvSpPr/>
          <p:nvPr/>
        </p:nvSpPr>
        <p:spPr>
          <a:xfrm rot="5209380">
            <a:off x="8849763" y="5029010"/>
            <a:ext cx="378152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rot="9780">
            <a:off x="2293791" y="5207318"/>
            <a:ext cx="7386476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1385316" y="4882896"/>
            <a:ext cx="3223260" cy="233172"/>
            <a:chOff x="0" y="0"/>
            <a:chExt cx="4297680" cy="310896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297680" cy="310896"/>
            </a:xfrm>
            <a:custGeom>
              <a:avLst/>
              <a:gdLst/>
              <a:ahLst/>
              <a:cxnLst/>
              <a:rect l="l" t="t" r="r" b="b"/>
              <a:pathLst>
                <a:path w="4297680" h="310896">
                  <a:moveTo>
                    <a:pt x="0" y="0"/>
                  </a:moveTo>
                  <a:lnTo>
                    <a:pt x="4297680" y="0"/>
                  </a:lnTo>
                  <a:lnTo>
                    <a:pt x="429768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19352" b="-219352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9525"/>
              <a:ext cx="4297680" cy="32042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7"/>
                </a:lnSpc>
              </a:pPr>
              <a:r>
                <a:rPr lang="en-US" sz="1395" spc="5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A2A / gRPC</a:t>
              </a:r>
            </a:p>
          </p:txBody>
        </p:sp>
      </p:grpSp>
      <p:sp>
        <p:nvSpPr>
          <p:cNvPr id="47" name="AutoShape 47"/>
          <p:cNvSpPr/>
          <p:nvPr/>
        </p:nvSpPr>
        <p:spPr>
          <a:xfrm rot="5177100">
            <a:off x="2157298" y="5344478"/>
            <a:ext cx="293989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48" name="Group 48"/>
          <p:cNvGrpSpPr/>
          <p:nvPr/>
        </p:nvGrpSpPr>
        <p:grpSpPr>
          <a:xfrm>
            <a:off x="1200340" y="5534596"/>
            <a:ext cx="2194179" cy="1014603"/>
            <a:chOff x="0" y="0"/>
            <a:chExt cx="2925572" cy="1352804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2925572" cy="1352804"/>
            </a:xfrm>
            <a:custGeom>
              <a:avLst/>
              <a:gdLst/>
              <a:ahLst/>
              <a:cxnLst/>
              <a:rect l="l" t="t" r="r" b="b"/>
              <a:pathLst>
                <a:path w="2925572" h="1352804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1316736" y="5664708"/>
            <a:ext cx="1961388" cy="370332"/>
            <a:chOff x="0" y="0"/>
            <a:chExt cx="2615184" cy="493776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2615184" cy="493776"/>
            </a:xfrm>
            <a:custGeom>
              <a:avLst/>
              <a:gdLst/>
              <a:ahLst/>
              <a:cxnLst/>
              <a:rect l="l" t="t" r="r" b="b"/>
              <a:pathLst>
                <a:path w="2615184" h="493776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8" b="-5319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Quick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303020" y="6089904"/>
            <a:ext cx="1988820" cy="274320"/>
            <a:chOff x="0" y="0"/>
            <a:chExt cx="2651760" cy="36576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2651760" cy="365760"/>
            </a:xfrm>
            <a:custGeom>
              <a:avLst/>
              <a:gdLst/>
              <a:ahLst/>
              <a:cxnLst/>
              <a:rect l="l" t="t" r="r" b="b"/>
              <a:pathLst>
                <a:path w="2651760" h="365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패턴 검사</a:t>
              </a:r>
            </a:p>
          </p:txBody>
        </p:sp>
      </p:grpSp>
      <p:sp>
        <p:nvSpPr>
          <p:cNvPr id="56" name="AutoShape 56"/>
          <p:cNvSpPr/>
          <p:nvPr/>
        </p:nvSpPr>
        <p:spPr>
          <a:xfrm rot="5198040">
            <a:off x="2158308" y="6688646"/>
            <a:ext cx="291970" cy="0"/>
          </a:xfrm>
          <a:prstGeom prst="line">
            <a:avLst/>
          </a:prstGeom>
          <a:ln w="9525" cap="rnd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7" name="AutoShape 57"/>
          <p:cNvSpPr/>
          <p:nvPr/>
        </p:nvSpPr>
        <p:spPr>
          <a:xfrm rot="5177100">
            <a:off x="4612462" y="5344478"/>
            <a:ext cx="293989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8" name="Group 58"/>
          <p:cNvGrpSpPr/>
          <p:nvPr/>
        </p:nvGrpSpPr>
        <p:grpSpPr>
          <a:xfrm>
            <a:off x="3655504" y="5534596"/>
            <a:ext cx="2194179" cy="1014603"/>
            <a:chOff x="0" y="0"/>
            <a:chExt cx="2925572" cy="135280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2925572" cy="1352804"/>
            </a:xfrm>
            <a:custGeom>
              <a:avLst/>
              <a:gdLst/>
              <a:ahLst/>
              <a:cxnLst/>
              <a:rect l="l" t="t" r="r" b="b"/>
              <a:pathLst>
                <a:path w="2925572" h="1352804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3771900" y="5664708"/>
            <a:ext cx="1961388" cy="370332"/>
            <a:chOff x="0" y="0"/>
            <a:chExt cx="2615184" cy="493776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615184" cy="493776"/>
            </a:xfrm>
            <a:custGeom>
              <a:avLst/>
              <a:gdLst/>
              <a:ahLst/>
              <a:cxnLst/>
              <a:rect l="l" t="t" r="r" b="b"/>
              <a:pathLst>
                <a:path w="2615184" h="493776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8" b="-53198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Secrets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3758184" y="6089904"/>
            <a:ext cx="1988820" cy="274320"/>
            <a:chOff x="0" y="0"/>
            <a:chExt cx="2651760" cy="36576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651760" cy="365760"/>
            </a:xfrm>
            <a:custGeom>
              <a:avLst/>
              <a:gdLst/>
              <a:ahLst/>
              <a:cxnLst/>
              <a:rect l="l" t="t" r="r" b="b"/>
              <a:pathLst>
                <a:path w="2651760" h="365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시크릿 탐지</a:t>
              </a:r>
            </a:p>
          </p:txBody>
        </p:sp>
      </p:grpSp>
      <p:sp>
        <p:nvSpPr>
          <p:cNvPr id="66" name="AutoShape 66"/>
          <p:cNvSpPr/>
          <p:nvPr/>
        </p:nvSpPr>
        <p:spPr>
          <a:xfrm rot="5198040">
            <a:off x="4613472" y="6688646"/>
            <a:ext cx="291970" cy="0"/>
          </a:xfrm>
          <a:prstGeom prst="line">
            <a:avLst/>
          </a:prstGeom>
          <a:ln w="9525" cap="rnd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 rot="5177100">
            <a:off x="7067626" y="5344478"/>
            <a:ext cx="293989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8" name="Group 68"/>
          <p:cNvGrpSpPr/>
          <p:nvPr/>
        </p:nvGrpSpPr>
        <p:grpSpPr>
          <a:xfrm>
            <a:off x="6110668" y="5534596"/>
            <a:ext cx="2194179" cy="1014603"/>
            <a:chOff x="0" y="0"/>
            <a:chExt cx="2925572" cy="135280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2925572" cy="1352804"/>
            </a:xfrm>
            <a:custGeom>
              <a:avLst/>
              <a:gdLst/>
              <a:ahLst/>
              <a:cxnLst/>
              <a:rect l="l" t="t" r="r" b="b"/>
              <a:pathLst>
                <a:path w="2925572" h="1352804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6227064" y="5664708"/>
            <a:ext cx="1961388" cy="370332"/>
            <a:chOff x="0" y="0"/>
            <a:chExt cx="2615184" cy="493776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2615184" cy="493776"/>
            </a:xfrm>
            <a:custGeom>
              <a:avLst/>
              <a:gdLst/>
              <a:ahLst/>
              <a:cxnLst/>
              <a:rect l="l" t="t" r="r" b="b"/>
              <a:pathLst>
                <a:path w="2615184" h="493776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8" b="-53198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Static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6213348" y="6089904"/>
            <a:ext cx="1988820" cy="274320"/>
            <a:chOff x="0" y="0"/>
            <a:chExt cx="2651760" cy="365760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2651760" cy="365760"/>
            </a:xfrm>
            <a:custGeom>
              <a:avLst/>
              <a:gdLst/>
              <a:ahLst/>
              <a:cxnLst/>
              <a:rect l="l" t="t" r="r" b="b"/>
              <a:pathLst>
                <a:path w="2651760" h="365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</a:t>
              </a:r>
            </a:p>
          </p:txBody>
        </p:sp>
      </p:grpSp>
      <p:sp>
        <p:nvSpPr>
          <p:cNvPr id="76" name="AutoShape 76"/>
          <p:cNvSpPr/>
          <p:nvPr/>
        </p:nvSpPr>
        <p:spPr>
          <a:xfrm rot="5198040">
            <a:off x="7068636" y="6688646"/>
            <a:ext cx="291970" cy="0"/>
          </a:xfrm>
          <a:prstGeom prst="line">
            <a:avLst/>
          </a:prstGeom>
          <a:ln w="9525" cap="rnd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7" name="AutoShape 77"/>
          <p:cNvSpPr/>
          <p:nvPr/>
        </p:nvSpPr>
        <p:spPr>
          <a:xfrm rot="5177100">
            <a:off x="9522790" y="5344478"/>
            <a:ext cx="293989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78" name="Group 78"/>
          <p:cNvGrpSpPr/>
          <p:nvPr/>
        </p:nvGrpSpPr>
        <p:grpSpPr>
          <a:xfrm>
            <a:off x="8565832" y="5534596"/>
            <a:ext cx="2194179" cy="1014603"/>
            <a:chOff x="0" y="0"/>
            <a:chExt cx="2925572" cy="1352804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2925572" cy="1352804"/>
            </a:xfrm>
            <a:custGeom>
              <a:avLst/>
              <a:gdLst/>
              <a:ahLst/>
              <a:cxnLst/>
              <a:rect l="l" t="t" r="r" b="b"/>
              <a:pathLst>
                <a:path w="2925572" h="1352804">
                  <a:moveTo>
                    <a:pt x="0" y="148209"/>
                  </a:moveTo>
                  <a:cubicBezTo>
                    <a:pt x="0" y="66421"/>
                    <a:pt x="66421" y="0"/>
                    <a:pt x="148209" y="0"/>
                  </a:cubicBezTo>
                  <a:lnTo>
                    <a:pt x="2777363" y="0"/>
                  </a:lnTo>
                  <a:cubicBezTo>
                    <a:pt x="2859278" y="0"/>
                    <a:pt x="2925572" y="66421"/>
                    <a:pt x="2925572" y="148209"/>
                  </a:cubicBezTo>
                  <a:lnTo>
                    <a:pt x="2925572" y="1204595"/>
                  </a:lnTo>
                  <a:cubicBezTo>
                    <a:pt x="2925572" y="1286510"/>
                    <a:pt x="2859151" y="1352804"/>
                    <a:pt x="2777363" y="1352804"/>
                  </a:cubicBezTo>
                  <a:lnTo>
                    <a:pt x="148209" y="1352804"/>
                  </a:lnTo>
                  <a:cubicBezTo>
                    <a:pt x="66421" y="1352804"/>
                    <a:pt x="0" y="1286383"/>
                    <a:pt x="0" y="1204595"/>
                  </a:cubicBezTo>
                  <a:close/>
                </a:path>
              </a:pathLst>
            </a:custGeom>
            <a:solidFill>
              <a:srgbClr val="FFFFFF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8682228" y="5664708"/>
            <a:ext cx="1961388" cy="370332"/>
            <a:chOff x="0" y="0"/>
            <a:chExt cx="2615184" cy="493776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615184" cy="493776"/>
            </a:xfrm>
            <a:custGeom>
              <a:avLst/>
              <a:gdLst/>
              <a:ahLst/>
              <a:cxnLst/>
              <a:rect l="l" t="t" r="r" b="b"/>
              <a:pathLst>
                <a:path w="2615184" h="493776">
                  <a:moveTo>
                    <a:pt x="0" y="0"/>
                  </a:moveTo>
                  <a:lnTo>
                    <a:pt x="2615184" y="0"/>
                  </a:lnTo>
                  <a:lnTo>
                    <a:pt x="2615184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3198" b="-53198"/>
              </a:stretch>
            </a:blipFill>
          </p:spPr>
        </p:sp>
        <p:sp>
          <p:nvSpPr>
            <p:cNvPr id="82" name="TextBox 82"/>
            <p:cNvSpPr txBox="1"/>
            <p:nvPr/>
          </p:nvSpPr>
          <p:spPr>
            <a:xfrm>
              <a:off x="0" y="-28575"/>
              <a:ext cx="2615184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Criteria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8668512" y="6089904"/>
            <a:ext cx="1988820" cy="274320"/>
            <a:chOff x="0" y="0"/>
            <a:chExt cx="2651760" cy="365760"/>
          </a:xfrm>
        </p:grpSpPr>
        <p:sp>
          <p:nvSpPr>
            <p:cNvPr id="84" name="Freeform 84"/>
            <p:cNvSpPr/>
            <p:nvPr/>
          </p:nvSpPr>
          <p:spPr>
            <a:xfrm>
              <a:off x="0" y="0"/>
              <a:ext cx="2651760" cy="365760"/>
            </a:xfrm>
            <a:custGeom>
              <a:avLst/>
              <a:gdLst/>
              <a:ahLst/>
              <a:cxnLst/>
              <a:rect l="l" t="t" r="r" b="b"/>
              <a:pathLst>
                <a:path w="2651760" h="365760">
                  <a:moveTo>
                    <a:pt x="0" y="0"/>
                  </a:moveTo>
                  <a:lnTo>
                    <a:pt x="2651760" y="0"/>
                  </a:lnTo>
                  <a:lnTo>
                    <a:pt x="2651760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1266" b="-91266"/>
              </a:stretch>
            </a:blipFill>
          </p:spPr>
        </p:sp>
        <p:sp>
          <p:nvSpPr>
            <p:cNvPr id="85" name="TextBox 85"/>
            <p:cNvSpPr txBox="1"/>
            <p:nvPr/>
          </p:nvSpPr>
          <p:spPr>
            <a:xfrm>
              <a:off x="0" y="-19050"/>
              <a:ext cx="2651760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PDF 기준 추출</a:t>
              </a:r>
            </a:p>
          </p:txBody>
        </p:sp>
      </p:grpSp>
      <p:sp>
        <p:nvSpPr>
          <p:cNvPr id="86" name="AutoShape 86"/>
          <p:cNvSpPr/>
          <p:nvPr/>
        </p:nvSpPr>
        <p:spPr>
          <a:xfrm rot="5198040">
            <a:off x="9523800" y="6688646"/>
            <a:ext cx="291970" cy="0"/>
          </a:xfrm>
          <a:prstGeom prst="line">
            <a:avLst/>
          </a:prstGeom>
          <a:ln w="9525" cap="rnd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AutoShape 87"/>
          <p:cNvSpPr/>
          <p:nvPr/>
        </p:nvSpPr>
        <p:spPr>
          <a:xfrm rot="7980">
            <a:off x="2295706" y="6825806"/>
            <a:ext cx="7382656" cy="0"/>
          </a:xfrm>
          <a:prstGeom prst="line">
            <a:avLst/>
          </a:prstGeom>
          <a:ln w="9525" cap="rnd">
            <a:solidFill>
              <a:srgbClr val="66728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8" name="AutoShape 88"/>
          <p:cNvSpPr/>
          <p:nvPr/>
        </p:nvSpPr>
        <p:spPr>
          <a:xfrm rot="5167200">
            <a:off x="2478624" y="6969824"/>
            <a:ext cx="309705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89" name="Group 89"/>
          <p:cNvGrpSpPr/>
          <p:nvPr/>
        </p:nvGrpSpPr>
        <p:grpSpPr>
          <a:xfrm>
            <a:off x="1200340" y="7194232"/>
            <a:ext cx="2907411" cy="1069467"/>
            <a:chOff x="0" y="0"/>
            <a:chExt cx="3876548" cy="1425956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3876548" cy="1426083"/>
            </a:xfrm>
            <a:custGeom>
              <a:avLst/>
              <a:gdLst/>
              <a:ahLst/>
              <a:cxnLst/>
              <a:rect l="l" t="t" r="r" b="b"/>
              <a:pathLst>
                <a:path w="3876548" h="1426083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728339" y="0"/>
                  </a:lnTo>
                  <a:cubicBezTo>
                    <a:pt x="3810127" y="0"/>
                    <a:pt x="3876548" y="66294"/>
                    <a:pt x="3876548" y="148209"/>
                  </a:cubicBezTo>
                  <a:lnTo>
                    <a:pt x="3876548" y="1277874"/>
                  </a:lnTo>
                  <a:cubicBezTo>
                    <a:pt x="3876548" y="1359662"/>
                    <a:pt x="3810254" y="1426083"/>
                    <a:pt x="372833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91" name="Group 91"/>
          <p:cNvGrpSpPr/>
          <p:nvPr/>
        </p:nvGrpSpPr>
        <p:grpSpPr>
          <a:xfrm>
            <a:off x="1316736" y="7324344"/>
            <a:ext cx="2674620" cy="370332"/>
            <a:chOff x="0" y="0"/>
            <a:chExt cx="3566160" cy="493776"/>
          </a:xfrm>
        </p:grpSpPr>
        <p:sp>
          <p:nvSpPr>
            <p:cNvPr id="92" name="Freeform 92"/>
            <p:cNvSpPr/>
            <p:nvPr/>
          </p:nvSpPr>
          <p:spPr>
            <a:xfrm>
              <a:off x="0" y="0"/>
              <a:ext cx="3566160" cy="493776"/>
            </a:xfrm>
            <a:custGeom>
              <a:avLst/>
              <a:gdLst/>
              <a:ahLst/>
              <a:cxnLst/>
              <a:rect l="l" t="t" r="r" b="b"/>
              <a:pathLst>
                <a:path w="3566160" h="493776">
                  <a:moveTo>
                    <a:pt x="0" y="0"/>
                  </a:moveTo>
                  <a:lnTo>
                    <a:pt x="3566160" y="0"/>
                  </a:lnTo>
                  <a:lnTo>
                    <a:pt x="35661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725" b="-90725"/>
              </a:stretch>
            </a:blipFill>
          </p:spPr>
        </p:sp>
        <p:sp>
          <p:nvSpPr>
            <p:cNvPr id="93" name="TextBox 93"/>
            <p:cNvSpPr txBox="1"/>
            <p:nvPr/>
          </p:nvSpPr>
          <p:spPr>
            <a:xfrm>
              <a:off x="0" y="-28575"/>
              <a:ext cx="3566160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로컬 LLM</a:t>
              </a:r>
            </a:p>
          </p:txBody>
        </p:sp>
      </p:grpSp>
      <p:grpSp>
        <p:nvGrpSpPr>
          <p:cNvPr id="94" name="Group 94"/>
          <p:cNvGrpSpPr/>
          <p:nvPr/>
        </p:nvGrpSpPr>
        <p:grpSpPr>
          <a:xfrm>
            <a:off x="1303020" y="7749540"/>
            <a:ext cx="2702052" cy="274320"/>
            <a:chOff x="0" y="0"/>
            <a:chExt cx="3602736" cy="365760"/>
          </a:xfrm>
        </p:grpSpPr>
        <p:sp>
          <p:nvSpPr>
            <p:cNvPr id="95" name="Freeform 95"/>
            <p:cNvSpPr/>
            <p:nvPr/>
          </p:nvSpPr>
          <p:spPr>
            <a:xfrm>
              <a:off x="0" y="0"/>
              <a:ext cx="3602736" cy="365760"/>
            </a:xfrm>
            <a:custGeom>
              <a:avLst/>
              <a:gdLst/>
              <a:ahLst/>
              <a:cxnLst/>
              <a:rect l="l" t="t" r="r" b="b"/>
              <a:pathLst>
                <a:path w="3602736" h="365760">
                  <a:moveTo>
                    <a:pt x="0" y="0"/>
                  </a:moveTo>
                  <a:lnTo>
                    <a:pt x="3602736" y="0"/>
                  </a:lnTo>
                  <a:lnTo>
                    <a:pt x="3602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7" b="-141927"/>
              </a:stretch>
            </a:blipFill>
          </p:spPr>
        </p:sp>
        <p:sp>
          <p:nvSpPr>
            <p:cNvPr id="96" name="TextBox 96"/>
            <p:cNvSpPr txBox="1"/>
            <p:nvPr/>
          </p:nvSpPr>
          <p:spPr>
            <a:xfrm>
              <a:off x="0" y="-19050"/>
              <a:ext cx="360273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종합 분석 · 수정</a:t>
              </a:r>
            </a:p>
          </p:txBody>
        </p:sp>
      </p:grpSp>
      <p:grpSp>
        <p:nvGrpSpPr>
          <p:cNvPr id="97" name="Group 97"/>
          <p:cNvGrpSpPr/>
          <p:nvPr/>
        </p:nvGrpSpPr>
        <p:grpSpPr>
          <a:xfrm>
            <a:off x="4656772" y="7194232"/>
            <a:ext cx="2907411" cy="1069467"/>
            <a:chOff x="0" y="0"/>
            <a:chExt cx="3876548" cy="1425956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3876548" cy="1426083"/>
            </a:xfrm>
            <a:custGeom>
              <a:avLst/>
              <a:gdLst/>
              <a:ahLst/>
              <a:cxnLst/>
              <a:rect l="l" t="t" r="r" b="b"/>
              <a:pathLst>
                <a:path w="3876548" h="1426083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728339" y="0"/>
                  </a:lnTo>
                  <a:cubicBezTo>
                    <a:pt x="3810127" y="0"/>
                    <a:pt x="3876548" y="66294"/>
                    <a:pt x="3876548" y="148209"/>
                  </a:cubicBezTo>
                  <a:lnTo>
                    <a:pt x="3876548" y="1277874"/>
                  </a:lnTo>
                  <a:cubicBezTo>
                    <a:pt x="3876548" y="1359662"/>
                    <a:pt x="3810254" y="1426083"/>
                    <a:pt x="372833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4773168" y="7324344"/>
            <a:ext cx="2674620" cy="370332"/>
            <a:chOff x="0" y="0"/>
            <a:chExt cx="3566160" cy="493776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566160" cy="493776"/>
            </a:xfrm>
            <a:custGeom>
              <a:avLst/>
              <a:gdLst/>
              <a:ahLst/>
              <a:cxnLst/>
              <a:rect l="l" t="t" r="r" b="b"/>
              <a:pathLst>
                <a:path w="3566160" h="493776">
                  <a:moveTo>
                    <a:pt x="0" y="0"/>
                  </a:moveTo>
                  <a:lnTo>
                    <a:pt x="3566160" y="0"/>
                  </a:lnTo>
                  <a:lnTo>
                    <a:pt x="356616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0725" b="-90725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28575"/>
              <a:ext cx="3566160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Summary Agent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4759452" y="7749540"/>
            <a:ext cx="2702052" cy="274320"/>
            <a:chOff x="0" y="0"/>
            <a:chExt cx="3602736" cy="365760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3602736" cy="365760"/>
            </a:xfrm>
            <a:custGeom>
              <a:avLst/>
              <a:gdLst/>
              <a:ahLst/>
              <a:cxnLst/>
              <a:rect l="l" t="t" r="r" b="b"/>
              <a:pathLst>
                <a:path w="3602736" h="365760">
                  <a:moveTo>
                    <a:pt x="0" y="0"/>
                  </a:moveTo>
                  <a:lnTo>
                    <a:pt x="3602736" y="0"/>
                  </a:lnTo>
                  <a:lnTo>
                    <a:pt x="36027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1927" b="-141927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19050"/>
              <a:ext cx="360273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리포트 생성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8099488" y="7194232"/>
            <a:ext cx="2633091" cy="1069467"/>
            <a:chOff x="0" y="0"/>
            <a:chExt cx="3510788" cy="1425956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3510788" cy="1426083"/>
            </a:xfrm>
            <a:custGeom>
              <a:avLst/>
              <a:gdLst/>
              <a:ahLst/>
              <a:cxnLst/>
              <a:rect l="l" t="t" r="r" b="b"/>
              <a:pathLst>
                <a:path w="3510788" h="1426083">
                  <a:moveTo>
                    <a:pt x="0" y="148209"/>
                  </a:moveTo>
                  <a:cubicBezTo>
                    <a:pt x="0" y="66294"/>
                    <a:pt x="66294" y="0"/>
                    <a:pt x="148209" y="0"/>
                  </a:cubicBezTo>
                  <a:lnTo>
                    <a:pt x="3362579" y="0"/>
                  </a:lnTo>
                  <a:cubicBezTo>
                    <a:pt x="3444367" y="0"/>
                    <a:pt x="3510788" y="66294"/>
                    <a:pt x="3510788" y="148209"/>
                  </a:cubicBezTo>
                  <a:lnTo>
                    <a:pt x="3510788" y="1277874"/>
                  </a:lnTo>
                  <a:cubicBezTo>
                    <a:pt x="3510788" y="1359662"/>
                    <a:pt x="3444494" y="1426083"/>
                    <a:pt x="3362579" y="1426083"/>
                  </a:cubicBezTo>
                  <a:lnTo>
                    <a:pt x="148209" y="1426083"/>
                  </a:lnTo>
                  <a:cubicBezTo>
                    <a:pt x="66294" y="1425956"/>
                    <a:pt x="0" y="1359662"/>
                    <a:pt x="0" y="1277747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107" name="Group 107"/>
          <p:cNvGrpSpPr/>
          <p:nvPr/>
        </p:nvGrpSpPr>
        <p:grpSpPr>
          <a:xfrm>
            <a:off x="8215884" y="7324344"/>
            <a:ext cx="2400300" cy="370332"/>
            <a:chOff x="0" y="0"/>
            <a:chExt cx="3200400" cy="493776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3200400" cy="493776"/>
            </a:xfrm>
            <a:custGeom>
              <a:avLst/>
              <a:gdLst/>
              <a:ahLst/>
              <a:cxnLst/>
              <a:rect l="l" t="t" r="r" b="b"/>
              <a:pathLst>
                <a:path w="3200400" h="493776">
                  <a:moveTo>
                    <a:pt x="0" y="0"/>
                  </a:moveTo>
                  <a:lnTo>
                    <a:pt x="3200400" y="0"/>
                  </a:lnTo>
                  <a:lnTo>
                    <a:pt x="3200400" y="493776"/>
                  </a:lnTo>
                  <a:lnTo>
                    <a:pt x="0" y="4937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6291" b="-76291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-28575"/>
              <a:ext cx="3200400" cy="52235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07"/>
                </a:lnSpc>
              </a:pPr>
              <a:r>
                <a:rPr lang="en-US" sz="193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결과 반환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8202168" y="7749540"/>
            <a:ext cx="2427732" cy="274320"/>
            <a:chOff x="0" y="0"/>
            <a:chExt cx="3236976" cy="365760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3236976" cy="365760"/>
            </a:xfrm>
            <a:custGeom>
              <a:avLst/>
              <a:gdLst/>
              <a:ahLst/>
              <a:cxnLst/>
              <a:rect l="l" t="t" r="r" b="b"/>
              <a:pathLst>
                <a:path w="3236976" h="365760">
                  <a:moveTo>
                    <a:pt x="0" y="0"/>
                  </a:moveTo>
                  <a:lnTo>
                    <a:pt x="3236976" y="0"/>
                  </a:lnTo>
                  <a:lnTo>
                    <a:pt x="323697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2442" b="-122442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19050"/>
              <a:ext cx="3236976" cy="3848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21"/>
                </a:lnSpc>
              </a:pPr>
              <a:r>
                <a:rPr lang="en-US" sz="156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요약 · 코드 · 경로</a:t>
              </a:r>
            </a:p>
          </p:txBody>
        </p:sp>
      </p:grpSp>
      <p:sp>
        <p:nvSpPr>
          <p:cNvPr id="113" name="AutoShape 113"/>
          <p:cNvSpPr/>
          <p:nvPr/>
        </p:nvSpPr>
        <p:spPr>
          <a:xfrm rot="201240">
            <a:off x="4129488" y="7717346"/>
            <a:ext cx="423253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14" name="AutoShape 114"/>
          <p:cNvSpPr/>
          <p:nvPr/>
        </p:nvSpPr>
        <p:spPr>
          <a:xfrm rot="201240">
            <a:off x="7585920" y="7717346"/>
            <a:ext cx="423253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115" name="Group 115"/>
          <p:cNvGrpSpPr/>
          <p:nvPr/>
        </p:nvGrpSpPr>
        <p:grpSpPr>
          <a:xfrm>
            <a:off x="1207008" y="8737092"/>
            <a:ext cx="9532620" cy="301752"/>
            <a:chOff x="0" y="0"/>
            <a:chExt cx="12710160" cy="402336"/>
          </a:xfrm>
        </p:grpSpPr>
        <p:sp>
          <p:nvSpPr>
            <p:cNvPr id="116" name="Freeform 116"/>
            <p:cNvSpPr/>
            <p:nvPr/>
          </p:nvSpPr>
          <p:spPr>
            <a:xfrm>
              <a:off x="0" y="0"/>
              <a:ext cx="12710160" cy="402336"/>
            </a:xfrm>
            <a:custGeom>
              <a:avLst/>
              <a:gdLst/>
              <a:ahLst/>
              <a:cxnLst/>
              <a:rect l="l" t="t" r="r" b="b"/>
              <a:pathLst>
                <a:path w="12710160" h="402336">
                  <a:moveTo>
                    <a:pt x="0" y="0"/>
                  </a:moveTo>
                  <a:lnTo>
                    <a:pt x="12710160" y="0"/>
                  </a:lnTo>
                  <a:lnTo>
                    <a:pt x="1271016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5550" b="-565550"/>
              </a:stretch>
            </a:blipFill>
          </p:spPr>
        </p:sp>
        <p:sp>
          <p:nvSpPr>
            <p:cNvPr id="117" name="TextBox 117"/>
            <p:cNvSpPr txBox="1"/>
            <p:nvPr/>
          </p:nvSpPr>
          <p:spPr>
            <a:xfrm>
              <a:off x="0" y="-9525"/>
              <a:ext cx="1271016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구조 참고: A2A-MCP / </a:t>
              </a:r>
              <a:r>
                <a:rPr lang="en-US" sz="1500" u="sng" spc="5">
                  <a:solidFill>
                    <a:srgbClr val="0563C1"/>
                  </a:solidFill>
                  <a:latin typeface="Mandali"/>
                  <a:ea typeface="Mandali"/>
                  <a:cs typeface="Mandali"/>
                  <a:sym typeface="Mandali"/>
                  <a:hlinkClick r:id="rId4" tooltip="https://github.com/gilbutITbook/080493/tree/main/Code_Vulnerability"/>
                </a:rPr>
                <a:t>Code_Vulnerability</a:t>
              </a:r>
            </a:p>
          </p:txBody>
        </p:sp>
      </p:grpSp>
      <p:grpSp>
        <p:nvGrpSpPr>
          <p:cNvPr id="118" name="Group 118"/>
          <p:cNvGrpSpPr/>
          <p:nvPr/>
        </p:nvGrpSpPr>
        <p:grpSpPr>
          <a:xfrm>
            <a:off x="11713464" y="2880360"/>
            <a:ext cx="5719572" cy="466344"/>
            <a:chOff x="0" y="0"/>
            <a:chExt cx="7626096" cy="621792"/>
          </a:xfrm>
        </p:grpSpPr>
        <p:sp>
          <p:nvSpPr>
            <p:cNvPr id="119" name="Freeform 119"/>
            <p:cNvSpPr/>
            <p:nvPr/>
          </p:nvSpPr>
          <p:spPr>
            <a:xfrm>
              <a:off x="0" y="0"/>
              <a:ext cx="7626096" cy="621792"/>
            </a:xfrm>
            <a:custGeom>
              <a:avLst/>
              <a:gdLst/>
              <a:ahLst/>
              <a:cxnLst/>
              <a:rect l="l" t="t" r="r" b="b"/>
              <a:pathLst>
                <a:path w="7626096" h="621792">
                  <a:moveTo>
                    <a:pt x="0" y="0"/>
                  </a:moveTo>
                  <a:lnTo>
                    <a:pt x="7626096" y="0"/>
                  </a:lnTo>
                  <a:lnTo>
                    <a:pt x="7626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978" b="-188978"/>
              </a:stretch>
            </a:blipFill>
          </p:spPr>
        </p:sp>
        <p:sp>
          <p:nvSpPr>
            <p:cNvPr id="120" name="TextBox 120"/>
            <p:cNvSpPr txBox="1"/>
            <p:nvPr/>
          </p:nvSpPr>
          <p:spPr>
            <a:xfrm>
              <a:off x="0" y="-28575"/>
              <a:ext cx="7626096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27"/>
                </a:lnSpc>
              </a:pPr>
              <a:r>
                <a:rPr lang="en-US" sz="2490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프로토타입 시험</a:t>
              </a: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11690223" y="3721227"/>
            <a:ext cx="1788414" cy="1555242"/>
            <a:chOff x="0" y="0"/>
            <a:chExt cx="2384552" cy="2073656"/>
          </a:xfrm>
        </p:grpSpPr>
        <p:sp>
          <p:nvSpPr>
            <p:cNvPr id="122" name="Freeform 122"/>
            <p:cNvSpPr/>
            <p:nvPr/>
          </p:nvSpPr>
          <p:spPr>
            <a:xfrm>
              <a:off x="0" y="0"/>
              <a:ext cx="2384552" cy="2073656"/>
            </a:xfrm>
            <a:custGeom>
              <a:avLst/>
              <a:gdLst/>
              <a:ahLst/>
              <a:cxnLst/>
              <a:rect l="l" t="t" r="r" b="b"/>
              <a:pathLst>
                <a:path w="2384552" h="2073656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123" name="Group 123"/>
          <p:cNvGrpSpPr/>
          <p:nvPr/>
        </p:nvGrpSpPr>
        <p:grpSpPr>
          <a:xfrm>
            <a:off x="11809476" y="3977640"/>
            <a:ext cx="1549908" cy="603504"/>
            <a:chOff x="0" y="0"/>
            <a:chExt cx="2066544" cy="804672"/>
          </a:xfrm>
        </p:grpSpPr>
        <p:sp>
          <p:nvSpPr>
            <p:cNvPr id="124" name="Freeform 124"/>
            <p:cNvSpPr/>
            <p:nvPr/>
          </p:nvSpPr>
          <p:spPr>
            <a:xfrm>
              <a:off x="0" y="0"/>
              <a:ext cx="2066544" cy="804672"/>
            </a:xfrm>
            <a:custGeom>
              <a:avLst/>
              <a:gdLst/>
              <a:ahLst/>
              <a:cxnLst/>
              <a:rect l="l" t="t" r="r" b="b"/>
              <a:pathLst>
                <a:path w="2066544" h="804672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" b="-41"/>
              </a:stretch>
            </a:blipFill>
          </p:spPr>
        </p:sp>
        <p:sp>
          <p:nvSpPr>
            <p:cNvPr id="125" name="TextBox 125"/>
            <p:cNvSpPr txBox="1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23/23</a:t>
              </a:r>
            </a:p>
          </p:txBody>
        </p:sp>
      </p:grpSp>
      <p:grpSp>
        <p:nvGrpSpPr>
          <p:cNvPr id="126" name="Group 126"/>
          <p:cNvGrpSpPr/>
          <p:nvPr/>
        </p:nvGrpSpPr>
        <p:grpSpPr>
          <a:xfrm>
            <a:off x="11754612" y="4800600"/>
            <a:ext cx="1659636" cy="246888"/>
            <a:chOff x="0" y="0"/>
            <a:chExt cx="2212848" cy="329184"/>
          </a:xfrm>
        </p:grpSpPr>
        <p:sp>
          <p:nvSpPr>
            <p:cNvPr id="127" name="Freeform 127"/>
            <p:cNvSpPr/>
            <p:nvPr/>
          </p:nvSpPr>
          <p:spPr>
            <a:xfrm>
              <a:off x="0" y="0"/>
              <a:ext cx="2212848" cy="329184"/>
            </a:xfrm>
            <a:custGeom>
              <a:avLst/>
              <a:gdLst/>
              <a:ahLst/>
              <a:cxnLst/>
              <a:rect l="l" t="t" r="r" b="b"/>
              <a:pathLst>
                <a:path w="2212848" h="329184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982" b="-80982"/>
              </a:stretch>
            </a:blipFill>
          </p:spPr>
        </p:sp>
        <p:sp>
          <p:nvSpPr>
            <p:cNvPr id="128" name="TextBox 128"/>
            <p:cNvSpPr txBox="1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분석 파일</a:t>
              </a:r>
            </a:p>
          </p:txBody>
        </p:sp>
      </p:grpSp>
      <p:grpSp>
        <p:nvGrpSpPr>
          <p:cNvPr id="129" name="Group 129"/>
          <p:cNvGrpSpPr/>
          <p:nvPr/>
        </p:nvGrpSpPr>
        <p:grpSpPr>
          <a:xfrm>
            <a:off x="13679043" y="3721227"/>
            <a:ext cx="1788414" cy="1555242"/>
            <a:chOff x="0" y="0"/>
            <a:chExt cx="2384552" cy="2073656"/>
          </a:xfrm>
        </p:grpSpPr>
        <p:sp>
          <p:nvSpPr>
            <p:cNvPr id="130" name="Freeform 130"/>
            <p:cNvSpPr/>
            <p:nvPr/>
          </p:nvSpPr>
          <p:spPr>
            <a:xfrm>
              <a:off x="0" y="0"/>
              <a:ext cx="2384552" cy="2073656"/>
            </a:xfrm>
            <a:custGeom>
              <a:avLst/>
              <a:gdLst/>
              <a:ahLst/>
              <a:cxnLst/>
              <a:rect l="l" t="t" r="r" b="b"/>
              <a:pathLst>
                <a:path w="2384552" h="2073656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131" name="Group 131"/>
          <p:cNvGrpSpPr/>
          <p:nvPr/>
        </p:nvGrpSpPr>
        <p:grpSpPr>
          <a:xfrm>
            <a:off x="13798296" y="3977640"/>
            <a:ext cx="1549908" cy="603504"/>
            <a:chOff x="0" y="0"/>
            <a:chExt cx="2066544" cy="804672"/>
          </a:xfrm>
        </p:grpSpPr>
        <p:sp>
          <p:nvSpPr>
            <p:cNvPr id="132" name="Freeform 132"/>
            <p:cNvSpPr/>
            <p:nvPr/>
          </p:nvSpPr>
          <p:spPr>
            <a:xfrm>
              <a:off x="0" y="0"/>
              <a:ext cx="2066544" cy="804672"/>
            </a:xfrm>
            <a:custGeom>
              <a:avLst/>
              <a:gdLst/>
              <a:ahLst/>
              <a:cxnLst/>
              <a:rect l="l" t="t" r="r" b="b"/>
              <a:pathLst>
                <a:path w="2066544" h="804672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" b="-41"/>
              </a:stretch>
            </a:blipFill>
          </p:spPr>
        </p:sp>
        <p:sp>
          <p:nvSpPr>
            <p:cNvPr id="133" name="TextBox 133"/>
            <p:cNvSpPr txBox="1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3,524</a:t>
              </a:r>
            </a:p>
          </p:txBody>
        </p:sp>
      </p:grpSp>
      <p:grpSp>
        <p:nvGrpSpPr>
          <p:cNvPr id="134" name="Group 134"/>
          <p:cNvGrpSpPr/>
          <p:nvPr/>
        </p:nvGrpSpPr>
        <p:grpSpPr>
          <a:xfrm>
            <a:off x="13743432" y="4800600"/>
            <a:ext cx="1659636" cy="246888"/>
            <a:chOff x="0" y="0"/>
            <a:chExt cx="2212848" cy="329184"/>
          </a:xfrm>
        </p:grpSpPr>
        <p:sp>
          <p:nvSpPr>
            <p:cNvPr id="135" name="Freeform 135"/>
            <p:cNvSpPr/>
            <p:nvPr/>
          </p:nvSpPr>
          <p:spPr>
            <a:xfrm>
              <a:off x="0" y="0"/>
              <a:ext cx="2212848" cy="329184"/>
            </a:xfrm>
            <a:custGeom>
              <a:avLst/>
              <a:gdLst/>
              <a:ahLst/>
              <a:cxnLst/>
              <a:rect l="l" t="t" r="r" b="b"/>
              <a:pathLst>
                <a:path w="2212848" h="329184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982" b="-80982"/>
              </a:stretch>
            </a:blipFill>
          </p:spPr>
        </p:sp>
        <p:sp>
          <p:nvSpPr>
            <p:cNvPr id="136" name="TextBox 136"/>
            <p:cNvSpPr txBox="1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코드 줄 수</a:t>
              </a:r>
            </a:p>
          </p:txBody>
        </p:sp>
      </p:grpSp>
      <p:grpSp>
        <p:nvGrpSpPr>
          <p:cNvPr id="137" name="Group 137"/>
          <p:cNvGrpSpPr/>
          <p:nvPr/>
        </p:nvGrpSpPr>
        <p:grpSpPr>
          <a:xfrm>
            <a:off x="15667863" y="3721227"/>
            <a:ext cx="1788414" cy="1555242"/>
            <a:chOff x="0" y="0"/>
            <a:chExt cx="2384552" cy="2073656"/>
          </a:xfrm>
        </p:grpSpPr>
        <p:sp>
          <p:nvSpPr>
            <p:cNvPr id="138" name="Freeform 138"/>
            <p:cNvSpPr/>
            <p:nvPr/>
          </p:nvSpPr>
          <p:spPr>
            <a:xfrm>
              <a:off x="0" y="0"/>
              <a:ext cx="2384552" cy="2073656"/>
            </a:xfrm>
            <a:custGeom>
              <a:avLst/>
              <a:gdLst/>
              <a:ahLst/>
              <a:cxnLst/>
              <a:rect l="l" t="t" r="r" b="b"/>
              <a:pathLst>
                <a:path w="2384552" h="2073656">
                  <a:moveTo>
                    <a:pt x="0" y="0"/>
                  </a:moveTo>
                  <a:lnTo>
                    <a:pt x="2384552" y="0"/>
                  </a:lnTo>
                  <a:lnTo>
                    <a:pt x="2384552" y="2073656"/>
                  </a:lnTo>
                  <a:lnTo>
                    <a:pt x="0" y="2073656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139" name="Group 139"/>
          <p:cNvGrpSpPr/>
          <p:nvPr/>
        </p:nvGrpSpPr>
        <p:grpSpPr>
          <a:xfrm>
            <a:off x="15787116" y="3977640"/>
            <a:ext cx="1549908" cy="603504"/>
            <a:chOff x="0" y="0"/>
            <a:chExt cx="2066544" cy="804672"/>
          </a:xfrm>
        </p:grpSpPr>
        <p:sp>
          <p:nvSpPr>
            <p:cNvPr id="140" name="Freeform 140"/>
            <p:cNvSpPr/>
            <p:nvPr/>
          </p:nvSpPr>
          <p:spPr>
            <a:xfrm>
              <a:off x="0" y="0"/>
              <a:ext cx="2066544" cy="804672"/>
            </a:xfrm>
            <a:custGeom>
              <a:avLst/>
              <a:gdLst/>
              <a:ahLst/>
              <a:cxnLst/>
              <a:rect l="l" t="t" r="r" b="b"/>
              <a:pathLst>
                <a:path w="2066544" h="804672">
                  <a:moveTo>
                    <a:pt x="0" y="0"/>
                  </a:moveTo>
                  <a:lnTo>
                    <a:pt x="2066544" y="0"/>
                  </a:lnTo>
                  <a:lnTo>
                    <a:pt x="2066544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1" b="-41"/>
              </a:stretch>
            </a:blipFill>
          </p:spPr>
        </p:sp>
        <p:sp>
          <p:nvSpPr>
            <p:cNvPr id="141" name="TextBox 141"/>
            <p:cNvSpPr txBox="1"/>
            <p:nvPr/>
          </p:nvSpPr>
          <p:spPr>
            <a:xfrm>
              <a:off x="0" y="-28575"/>
              <a:ext cx="2066544" cy="83324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665"/>
                </a:lnSpc>
              </a:pPr>
              <a:r>
                <a:rPr lang="en-US" sz="3600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18</a:t>
              </a:r>
            </a:p>
          </p:txBody>
        </p:sp>
      </p:grpSp>
      <p:grpSp>
        <p:nvGrpSpPr>
          <p:cNvPr id="142" name="Group 142"/>
          <p:cNvGrpSpPr/>
          <p:nvPr/>
        </p:nvGrpSpPr>
        <p:grpSpPr>
          <a:xfrm>
            <a:off x="15732252" y="4800600"/>
            <a:ext cx="1659636" cy="246888"/>
            <a:chOff x="0" y="0"/>
            <a:chExt cx="2212848" cy="329184"/>
          </a:xfrm>
        </p:grpSpPr>
        <p:sp>
          <p:nvSpPr>
            <p:cNvPr id="143" name="Freeform 143"/>
            <p:cNvSpPr/>
            <p:nvPr/>
          </p:nvSpPr>
          <p:spPr>
            <a:xfrm>
              <a:off x="0" y="0"/>
              <a:ext cx="2212848" cy="329184"/>
            </a:xfrm>
            <a:custGeom>
              <a:avLst/>
              <a:gdLst/>
              <a:ahLst/>
              <a:cxnLst/>
              <a:rect l="l" t="t" r="r" b="b"/>
              <a:pathLst>
                <a:path w="2212848" h="329184">
                  <a:moveTo>
                    <a:pt x="0" y="0"/>
                  </a:moveTo>
                  <a:lnTo>
                    <a:pt x="2212848" y="0"/>
                  </a:lnTo>
                  <a:lnTo>
                    <a:pt x="2212848" y="329184"/>
                  </a:lnTo>
                  <a:lnTo>
                    <a:pt x="0" y="3291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0982" b="-80982"/>
              </a:stretch>
            </a:blipFill>
          </p:spPr>
        </p:sp>
        <p:sp>
          <p:nvSpPr>
            <p:cNvPr id="144" name="TextBox 144"/>
            <p:cNvSpPr txBox="1"/>
            <p:nvPr/>
          </p:nvSpPr>
          <p:spPr>
            <a:xfrm>
              <a:off x="0" y="-19050"/>
              <a:ext cx="2212848" cy="3482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041"/>
                </a:lnSpc>
              </a:pPr>
              <a:r>
                <a:rPr lang="en-US" sz="157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정적 분석 신호</a:t>
              </a:r>
            </a:p>
          </p:txBody>
        </p:sp>
      </p:grpSp>
      <p:grpSp>
        <p:nvGrpSpPr>
          <p:cNvPr id="145" name="Group 145"/>
          <p:cNvGrpSpPr/>
          <p:nvPr/>
        </p:nvGrpSpPr>
        <p:grpSpPr>
          <a:xfrm>
            <a:off x="11713464" y="5623560"/>
            <a:ext cx="5719572" cy="384048"/>
            <a:chOff x="0" y="0"/>
            <a:chExt cx="7626096" cy="512064"/>
          </a:xfrm>
        </p:grpSpPr>
        <p:sp>
          <p:nvSpPr>
            <p:cNvPr id="146" name="Freeform 146"/>
            <p:cNvSpPr/>
            <p:nvPr/>
          </p:nvSpPr>
          <p:spPr>
            <a:xfrm>
              <a:off x="0" y="0"/>
              <a:ext cx="7626096" cy="512064"/>
            </a:xfrm>
            <a:custGeom>
              <a:avLst/>
              <a:gdLst/>
              <a:ahLst/>
              <a:cxnLst/>
              <a:rect l="l" t="t" r="r" b="b"/>
              <a:pathLst>
                <a:path w="7626096" h="512064">
                  <a:moveTo>
                    <a:pt x="0" y="0"/>
                  </a:moveTo>
                  <a:lnTo>
                    <a:pt x="7626096" y="0"/>
                  </a:lnTo>
                  <a:lnTo>
                    <a:pt x="7626096" y="512064"/>
                  </a:lnTo>
                  <a:lnTo>
                    <a:pt x="0" y="512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0187" b="-240187"/>
              </a:stretch>
            </a:blipFill>
          </p:spPr>
        </p:sp>
        <p:sp>
          <p:nvSpPr>
            <p:cNvPr id="147" name="TextBox 147"/>
            <p:cNvSpPr txBox="1"/>
            <p:nvPr/>
          </p:nvSpPr>
          <p:spPr>
            <a:xfrm>
              <a:off x="0" y="-19050"/>
              <a:ext cx="7626096" cy="53111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04"/>
                </a:lnSpc>
              </a:pPr>
              <a:r>
                <a:rPr lang="en-US" sz="2010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위험 호출 8건 · Secret 후보 10건</a:t>
              </a:r>
            </a:p>
          </p:txBody>
        </p:sp>
      </p:grpSp>
      <p:sp>
        <p:nvSpPr>
          <p:cNvPr id="148" name="AutoShape 148"/>
          <p:cNvSpPr/>
          <p:nvPr/>
        </p:nvSpPr>
        <p:spPr>
          <a:xfrm rot="8040">
            <a:off x="11706787" y="6290882"/>
            <a:ext cx="5719210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9" name="Group 149"/>
          <p:cNvGrpSpPr/>
          <p:nvPr/>
        </p:nvGrpSpPr>
        <p:grpSpPr>
          <a:xfrm>
            <a:off x="11713464" y="6665976"/>
            <a:ext cx="5719572" cy="466344"/>
            <a:chOff x="0" y="0"/>
            <a:chExt cx="7626096" cy="621792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7626096" cy="621792"/>
            </a:xfrm>
            <a:custGeom>
              <a:avLst/>
              <a:gdLst/>
              <a:ahLst/>
              <a:cxnLst/>
              <a:rect l="l" t="t" r="r" b="b"/>
              <a:pathLst>
                <a:path w="7626096" h="621792">
                  <a:moveTo>
                    <a:pt x="0" y="0"/>
                  </a:moveTo>
                  <a:lnTo>
                    <a:pt x="7626096" y="0"/>
                  </a:lnTo>
                  <a:lnTo>
                    <a:pt x="762609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8978" b="-188978"/>
              </a:stretch>
            </a:blipFill>
          </p:spPr>
        </p:sp>
        <p:sp>
          <p:nvSpPr>
            <p:cNvPr id="151" name="TextBox 151"/>
            <p:cNvSpPr txBox="1"/>
            <p:nvPr/>
          </p:nvSpPr>
          <p:spPr>
            <a:xfrm>
              <a:off x="0" y="-19050"/>
              <a:ext cx="7626096" cy="64084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04"/>
                </a:lnSpc>
              </a:pPr>
              <a:r>
                <a:rPr lang="en-US" sz="2550" spc="9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로컬 LLM 리뷰 18개 생성</a:t>
              </a:r>
            </a:p>
          </p:txBody>
        </p:sp>
      </p:grpSp>
      <p:grpSp>
        <p:nvGrpSpPr>
          <p:cNvPr id="152" name="Group 152"/>
          <p:cNvGrpSpPr/>
          <p:nvPr/>
        </p:nvGrpSpPr>
        <p:grpSpPr>
          <a:xfrm>
            <a:off x="11713464" y="7351776"/>
            <a:ext cx="5719572" cy="726948"/>
            <a:chOff x="0" y="0"/>
            <a:chExt cx="7626096" cy="969264"/>
          </a:xfrm>
        </p:grpSpPr>
        <p:sp>
          <p:nvSpPr>
            <p:cNvPr id="153" name="Freeform 153"/>
            <p:cNvSpPr/>
            <p:nvPr/>
          </p:nvSpPr>
          <p:spPr>
            <a:xfrm>
              <a:off x="0" y="0"/>
              <a:ext cx="7626096" cy="969264"/>
            </a:xfrm>
            <a:custGeom>
              <a:avLst/>
              <a:gdLst/>
              <a:ahLst/>
              <a:cxnLst/>
              <a:rect l="l" t="t" r="r" b="b"/>
              <a:pathLst>
                <a:path w="7626096" h="969264">
                  <a:moveTo>
                    <a:pt x="0" y="0"/>
                  </a:moveTo>
                  <a:lnTo>
                    <a:pt x="7626096" y="0"/>
                  </a:lnTo>
                  <a:lnTo>
                    <a:pt x="7626096" y="969264"/>
                  </a:lnTo>
                  <a:lnTo>
                    <a:pt x="0" y="9692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3306" b="-103306"/>
              </a:stretch>
            </a:blipFill>
          </p:spPr>
        </p:sp>
        <p:sp>
          <p:nvSpPr>
            <p:cNvPr id="154" name="TextBox 154"/>
            <p:cNvSpPr txBox="1"/>
            <p:nvPr/>
          </p:nvSpPr>
          <p:spPr>
            <a:xfrm>
              <a:off x="0" y="-28575"/>
              <a:ext cx="7626096" cy="99783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5"/>
                </a:lnSpc>
              </a:pPr>
              <a:r>
                <a:rPr lang="en-US" sz="182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LLM 리뷰에서 이 코드가 치명적인 이유, 권고사항까지는 Rule + LLM 추론을 통하여 도출 가능.</a:t>
              </a:r>
            </a:p>
            <a:p>
              <a:pPr algn="l">
                <a:lnSpc>
                  <a:spcPts val="2525"/>
                </a:lnSpc>
              </a:pPr>
              <a:r>
                <a:rPr lang="en-US" sz="1829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그러나 이 코드는 임의의 테스트 코드라는 점을 명시. </a:t>
              </a:r>
            </a:p>
          </p:txBody>
        </p:sp>
      </p:grpSp>
      <p:grpSp>
        <p:nvGrpSpPr>
          <p:cNvPr id="155" name="Group 155"/>
          <p:cNvGrpSpPr/>
          <p:nvPr/>
        </p:nvGrpSpPr>
        <p:grpSpPr>
          <a:xfrm>
            <a:off x="11690223" y="8384667"/>
            <a:ext cx="5766054" cy="979170"/>
            <a:chOff x="0" y="0"/>
            <a:chExt cx="7688072" cy="1305560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7688072" cy="1305560"/>
            </a:xfrm>
            <a:custGeom>
              <a:avLst/>
              <a:gdLst/>
              <a:ahLst/>
              <a:cxnLst/>
              <a:rect l="l" t="t" r="r" b="b"/>
              <a:pathLst>
                <a:path w="7688072" h="1305560">
                  <a:moveTo>
                    <a:pt x="0" y="0"/>
                  </a:moveTo>
                  <a:lnTo>
                    <a:pt x="7688072" y="0"/>
                  </a:lnTo>
                  <a:lnTo>
                    <a:pt x="7688072" y="1305560"/>
                  </a:lnTo>
                  <a:lnTo>
                    <a:pt x="0" y="1305560"/>
                  </a:lnTo>
                  <a:close/>
                </a:path>
              </a:pathLst>
            </a:custGeom>
            <a:solidFill>
              <a:srgbClr val="F8F1E7"/>
            </a:solidFill>
          </p:spPr>
        </p:sp>
      </p:grpSp>
      <p:grpSp>
        <p:nvGrpSpPr>
          <p:cNvPr id="157" name="Group 157"/>
          <p:cNvGrpSpPr/>
          <p:nvPr/>
        </p:nvGrpSpPr>
        <p:grpSpPr>
          <a:xfrm>
            <a:off x="11946636" y="8558784"/>
            <a:ext cx="5239512" cy="274320"/>
            <a:chOff x="0" y="0"/>
            <a:chExt cx="6986016" cy="365760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6986016" cy="365760"/>
            </a:xfrm>
            <a:custGeom>
              <a:avLst/>
              <a:gdLst/>
              <a:ahLst/>
              <a:cxnLst/>
              <a:rect l="l" t="t" r="r" b="b"/>
              <a:pathLst>
                <a:path w="6986016" h="365760">
                  <a:moveTo>
                    <a:pt x="0" y="0"/>
                  </a:moveTo>
                  <a:lnTo>
                    <a:pt x="6986016" y="0"/>
                  </a:lnTo>
                  <a:lnTo>
                    <a:pt x="698601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2164" b="-322164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-9525"/>
              <a:ext cx="6986016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별도 검증 과제</a:t>
              </a:r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11946636" y="8956548"/>
            <a:ext cx="5239512" cy="260604"/>
            <a:chOff x="0" y="0"/>
            <a:chExt cx="6986016" cy="347472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6986016" cy="347472"/>
            </a:xfrm>
            <a:custGeom>
              <a:avLst/>
              <a:gdLst/>
              <a:ahLst/>
              <a:cxnLst/>
              <a:rect l="l" t="t" r="r" b="b"/>
              <a:pathLst>
                <a:path w="6986016" h="347472">
                  <a:moveTo>
                    <a:pt x="0" y="0"/>
                  </a:moveTo>
                  <a:lnTo>
                    <a:pt x="6986016" y="0"/>
                  </a:lnTo>
                  <a:lnTo>
                    <a:pt x="6986016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1751" b="-341751"/>
              </a:stretch>
            </a:blipFill>
          </p:spPr>
        </p:sp>
        <p:sp>
          <p:nvSpPr>
            <p:cNvPr id="162" name="TextBox 162"/>
            <p:cNvSpPr txBox="1"/>
            <p:nvPr/>
          </p:nvSpPr>
          <p:spPr>
            <a:xfrm>
              <a:off x="0" y="-9525"/>
              <a:ext cx="6986016" cy="356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74"/>
                </a:lnSpc>
              </a:pPr>
              <a:r>
                <a:rPr lang="en-US" sz="1754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설명 근거의 타당성 · 권고사항의 적절성</a:t>
              </a:r>
            </a:p>
          </p:txBody>
        </p:sp>
      </p:grpSp>
      <p:sp>
        <p:nvSpPr>
          <p:cNvPr id="163" name="AutoShape 163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93776"/>
            <a:ext cx="16596360" cy="301752"/>
            <a:chOff x="0" y="0"/>
            <a:chExt cx="22128480" cy="4023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402336"/>
            </a:xfrm>
            <a:custGeom>
              <a:avLst/>
              <a:gdLst/>
              <a:ahLst/>
              <a:cxnLst/>
              <a:rect l="l" t="t" r="r" b="b"/>
              <a:pathLst>
                <a:path w="22128480" h="402336">
                  <a:moveTo>
                    <a:pt x="0" y="0"/>
                  </a:moveTo>
                  <a:lnTo>
                    <a:pt x="22128480" y="0"/>
                  </a:lnTo>
                  <a:lnTo>
                    <a:pt x="22128480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21677" b="-1021677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04  /  MODEL EXPERIMENTS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24712"/>
            <a:ext cx="16596360" cy="685800"/>
            <a:chOff x="0" y="0"/>
            <a:chExt cx="22128480" cy="914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914400"/>
            </a:xfrm>
            <a:custGeom>
              <a:avLst/>
              <a:gdLst/>
              <a:ahLst/>
              <a:cxnLst/>
              <a:rect l="l" t="t" r="r" b="b"/>
              <a:pathLst>
                <a:path w="22128480" h="914400">
                  <a:moveTo>
                    <a:pt x="0" y="0"/>
                  </a:moveTo>
                  <a:lnTo>
                    <a:pt x="22128480" y="0"/>
                  </a:lnTo>
                  <a:lnTo>
                    <a:pt x="22128480" y="914400"/>
                  </a:lnTo>
                  <a:lnTo>
                    <a:pt x="0" y="9144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1537" b="-42153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128480" cy="9525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LLM 파인튜닝: 평가 결과에서 데이터 설계로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0392" y="1920240"/>
            <a:ext cx="16459200" cy="411480"/>
            <a:chOff x="0" y="0"/>
            <a:chExt cx="21945600" cy="5486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548640"/>
            </a:xfrm>
            <a:custGeom>
              <a:avLst/>
              <a:gdLst/>
              <a:ahLst/>
              <a:cxnLst/>
              <a:rect l="l" t="t" r="r" b="b"/>
              <a:pathLst>
                <a:path w="21945600" h="548640">
                  <a:moveTo>
                    <a:pt x="0" y="0"/>
                  </a:moveTo>
                  <a:lnTo>
                    <a:pt x="21945600" y="0"/>
                  </a:lnTo>
                  <a:lnTo>
                    <a:pt x="2194560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29401" b="-7294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55816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1차 실험 데이터셋 : DiverseVul, BigVul, Cybersecurity QA v2, 2차 실험 데이터셋 : NIST SARD/Juliet C/C++ 1.3 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5391660">
            <a:off x="5437622" y="6002846"/>
            <a:ext cx="6269755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877824" y="2852928"/>
            <a:ext cx="7228332" cy="466344"/>
            <a:chOff x="0" y="0"/>
            <a:chExt cx="9637776" cy="62179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637776" cy="621792"/>
            </a:xfrm>
            <a:custGeom>
              <a:avLst/>
              <a:gdLst/>
              <a:ahLst/>
              <a:cxnLst/>
              <a:rect l="l" t="t" r="r" b="b"/>
              <a:pathLst>
                <a:path w="9637776" h="621792">
                  <a:moveTo>
                    <a:pt x="0" y="0"/>
                  </a:moveTo>
                  <a:lnTo>
                    <a:pt x="9637776" y="0"/>
                  </a:lnTo>
                  <a:lnTo>
                    <a:pt x="9637776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2018" b="-25201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9637776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15"/>
                </a:lnSpc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1차 실험  /  한계 확인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891540" y="3538728"/>
            <a:ext cx="7159752" cy="315468"/>
            <a:chOff x="0" y="0"/>
            <a:chExt cx="9546336" cy="42062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9546336" cy="420624"/>
            </a:xfrm>
            <a:custGeom>
              <a:avLst/>
              <a:gdLst/>
              <a:ahLst/>
              <a:cxnLst/>
              <a:rect l="l" t="t" r="r" b="b"/>
              <a:pathLst>
                <a:path w="9546336" h="420624">
                  <a:moveTo>
                    <a:pt x="0" y="0"/>
                  </a:moveTo>
                  <a:lnTo>
                    <a:pt x="9546336" y="0"/>
                  </a:lnTo>
                  <a:lnTo>
                    <a:pt x="9546336" y="420624"/>
                  </a:lnTo>
                  <a:lnTo>
                    <a:pt x="0" y="4206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92225" b="-392225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9546336" cy="4396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5"/>
                </a:lnSpc>
              </a:pPr>
              <a:r>
                <a:rPr lang="en-US" sz="172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DiverseVul 기반 · 취약 250 / 정상 250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68299" y="4118991"/>
            <a:ext cx="7178802" cy="663702"/>
            <a:chOff x="0" y="0"/>
            <a:chExt cx="9571736" cy="884936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9571736" cy="884936"/>
            </a:xfrm>
            <a:custGeom>
              <a:avLst/>
              <a:gdLst/>
              <a:ahLst/>
              <a:cxnLst/>
              <a:rect l="l" t="t" r="r" b="b"/>
              <a:pathLst>
                <a:path w="9571736" h="884936">
                  <a:moveTo>
                    <a:pt x="0" y="0"/>
                  </a:moveTo>
                  <a:lnTo>
                    <a:pt x="9571736" y="0"/>
                  </a:lnTo>
                  <a:lnTo>
                    <a:pt x="9571736" y="884936"/>
                  </a:lnTo>
                  <a:lnTo>
                    <a:pt x="0" y="884936"/>
                  </a:lnTo>
                  <a:close/>
                </a:path>
              </a:pathLst>
            </a:custGeom>
            <a:solidFill>
              <a:srgbClr val="F0F3F6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1124712" y="4306824"/>
            <a:ext cx="6665976" cy="260604"/>
            <a:chOff x="0" y="0"/>
            <a:chExt cx="8887968" cy="34747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887968" cy="347472"/>
            </a:xfrm>
            <a:custGeom>
              <a:avLst/>
              <a:gdLst/>
              <a:ahLst/>
              <a:cxnLst/>
              <a:rect l="l" t="t" r="r" b="b"/>
              <a:pathLst>
                <a:path w="8887968" h="347472">
                  <a:moveTo>
                    <a:pt x="0" y="0"/>
                  </a:moveTo>
                  <a:lnTo>
                    <a:pt x="8887968" y="0"/>
                  </a:lnTo>
                  <a:lnTo>
                    <a:pt x="8887968" y="347472"/>
                  </a:lnTo>
                  <a:lnTo>
                    <a:pt x="0" y="3474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48406" b="-448406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-9525"/>
              <a:ext cx="8887968" cy="3569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91"/>
                </a:lnSpc>
              </a:pPr>
              <a:r>
                <a:rPr lang="en-US" sz="1845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학습 332,807개 · 10,401 step · B200 × 2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124712" y="5225796"/>
            <a:ext cx="4128516" cy="356616"/>
            <a:chOff x="0" y="0"/>
            <a:chExt cx="5504688" cy="4754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504688" cy="475488"/>
            </a:xfrm>
            <a:custGeom>
              <a:avLst/>
              <a:gdLst/>
              <a:ahLst/>
              <a:cxnLst/>
              <a:rect l="l" t="t" r="r" b="b"/>
              <a:pathLst>
                <a:path w="5504688" h="4754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576" b="-17557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Precision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280660" y="5225796"/>
            <a:ext cx="2496312" cy="356616"/>
            <a:chOff x="0" y="0"/>
            <a:chExt cx="3328416" cy="475488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328416" cy="475488"/>
            </a:xfrm>
            <a:custGeom>
              <a:avLst/>
              <a:gdLst/>
              <a:ahLst/>
              <a:cxnLst/>
              <a:rect l="l" t="t" r="r" b="b"/>
              <a:pathLst>
                <a:path w="3328416" h="475488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42.00%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rot="6840">
            <a:off x="1104319" y="5728525"/>
            <a:ext cx="667932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1124712" y="5897880"/>
            <a:ext cx="4128516" cy="356616"/>
            <a:chOff x="0" y="0"/>
            <a:chExt cx="5504688" cy="47548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504688" cy="475488"/>
            </a:xfrm>
            <a:custGeom>
              <a:avLst/>
              <a:gdLst/>
              <a:ahLst/>
              <a:cxnLst/>
              <a:rect l="l" t="t" r="r" b="b"/>
              <a:pathLst>
                <a:path w="5504688" h="4754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576" b="-17557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Recall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280660" y="5897880"/>
            <a:ext cx="2496312" cy="356616"/>
            <a:chOff x="0" y="0"/>
            <a:chExt cx="3328416" cy="47548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328416" cy="475488"/>
            </a:xfrm>
            <a:custGeom>
              <a:avLst/>
              <a:gdLst/>
              <a:ahLst/>
              <a:cxnLst/>
              <a:rect l="l" t="t" r="r" b="b"/>
              <a:pathLst>
                <a:path w="3328416" h="475488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33.60%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rot="6840">
            <a:off x="1104319" y="6400610"/>
            <a:ext cx="667932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1124712" y="6569964"/>
            <a:ext cx="4128516" cy="356616"/>
            <a:chOff x="0" y="0"/>
            <a:chExt cx="5504688" cy="475488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504688" cy="475488"/>
            </a:xfrm>
            <a:custGeom>
              <a:avLst/>
              <a:gdLst/>
              <a:ahLst/>
              <a:cxnLst/>
              <a:rect l="l" t="t" r="r" b="b"/>
              <a:pathLst>
                <a:path w="5504688" h="475488">
                  <a:moveTo>
                    <a:pt x="0" y="0"/>
                  </a:moveTo>
                  <a:lnTo>
                    <a:pt x="5504688" y="0"/>
                  </a:lnTo>
                  <a:lnTo>
                    <a:pt x="5504688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5576" b="-175576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19050"/>
              <a:ext cx="5504688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18"/>
                </a:lnSpc>
              </a:pPr>
              <a:r>
                <a:rPr lang="en-US" sz="2175" spc="8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JSON 파싱 실패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5280660" y="6569964"/>
            <a:ext cx="2496312" cy="356616"/>
            <a:chOff x="0" y="0"/>
            <a:chExt cx="3328416" cy="475488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3328416" cy="475488"/>
            </a:xfrm>
            <a:custGeom>
              <a:avLst/>
              <a:gdLst/>
              <a:ahLst/>
              <a:cxnLst/>
              <a:rect l="l" t="t" r="r" b="b"/>
              <a:pathLst>
                <a:path w="3328416" h="475488">
                  <a:moveTo>
                    <a:pt x="0" y="0"/>
                  </a:moveTo>
                  <a:lnTo>
                    <a:pt x="3328416" y="0"/>
                  </a:lnTo>
                  <a:lnTo>
                    <a:pt x="3328416" y="475488"/>
                  </a:lnTo>
                  <a:lnTo>
                    <a:pt x="0" y="475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6395" b="-86395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-19050"/>
              <a:ext cx="3328416" cy="4945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324"/>
                </a:lnSpc>
              </a:pPr>
              <a:r>
                <a:rPr lang="en-US" sz="2565" spc="9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222 / 500</a:t>
              </a:r>
            </a:p>
          </p:txBody>
        </p:sp>
      </p:grpSp>
      <p:sp>
        <p:nvSpPr>
          <p:cNvPr id="43" name="AutoShape 43"/>
          <p:cNvSpPr/>
          <p:nvPr/>
        </p:nvSpPr>
        <p:spPr>
          <a:xfrm rot="6840">
            <a:off x="1104319" y="7072694"/>
            <a:ext cx="6679321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4" name="Group 44"/>
          <p:cNvGrpSpPr/>
          <p:nvPr/>
        </p:nvGrpSpPr>
        <p:grpSpPr>
          <a:xfrm>
            <a:off x="1110996" y="7612380"/>
            <a:ext cx="6858000" cy="891540"/>
            <a:chOff x="0" y="0"/>
            <a:chExt cx="9144000" cy="118872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9144000" cy="1188720"/>
            </a:xfrm>
            <a:custGeom>
              <a:avLst/>
              <a:gdLst/>
              <a:ahLst/>
              <a:cxnLst/>
              <a:rect l="l" t="t" r="r" b="b"/>
              <a:pathLst>
                <a:path w="9144000" h="1188720">
                  <a:moveTo>
                    <a:pt x="0" y="0"/>
                  </a:moveTo>
                  <a:lnTo>
                    <a:pt x="9144000" y="0"/>
                  </a:lnTo>
                  <a:lnTo>
                    <a:pt x="9144000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99884" b="-99884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-28575"/>
              <a:ext cx="9144000" cy="121729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286"/>
                </a:lnSpc>
              </a:pPr>
              <a:r>
                <a:rPr lang="en-US" sz="244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과적합 가능성 의심</a:t>
              </a:r>
            </a:p>
            <a:p>
              <a:pPr algn="l">
                <a:lnSpc>
                  <a:spcPts val="3286"/>
                </a:lnSpc>
              </a:pPr>
              <a:r>
                <a:rPr lang="en-US" sz="2445" spc="9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응답 형식 실패를 함께 확인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110996" y="8682228"/>
            <a:ext cx="6885432" cy="589788"/>
            <a:chOff x="0" y="0"/>
            <a:chExt cx="9180576" cy="786384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9180576" cy="786384"/>
            </a:xfrm>
            <a:custGeom>
              <a:avLst/>
              <a:gdLst/>
              <a:ahLst/>
              <a:cxnLst/>
              <a:rect l="l" t="t" r="r" b="b"/>
              <a:pathLst>
                <a:path w="9180576" h="786384">
                  <a:moveTo>
                    <a:pt x="0" y="0"/>
                  </a:moveTo>
                  <a:lnTo>
                    <a:pt x="9180576" y="0"/>
                  </a:lnTo>
                  <a:lnTo>
                    <a:pt x="9180576" y="786384"/>
                  </a:lnTo>
                  <a:lnTo>
                    <a:pt x="0" y="7863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77476" b="-17747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19050"/>
              <a:ext cx="9180576" cy="80543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36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낮은 학습 loss만으로 품질을 판단하지 않고</a:t>
              </a:r>
            </a:p>
            <a:p>
              <a:pPr algn="l">
                <a:lnSpc>
                  <a:spcPts val="2336"/>
                </a:lnSpc>
              </a:pPr>
              <a:r>
                <a:rPr lang="en-US" sz="1770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데이터 구성과 출력 형식을 재검토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107424" y="2852928"/>
            <a:ext cx="8339328" cy="466344"/>
            <a:chOff x="0" y="0"/>
            <a:chExt cx="11119104" cy="6217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1119104" cy="621792"/>
            </a:xfrm>
            <a:custGeom>
              <a:avLst/>
              <a:gdLst/>
              <a:ahLst/>
              <a:cxnLst/>
              <a:rect l="l" t="t" r="r" b="b"/>
              <a:pathLst>
                <a:path w="11119104" h="621792">
                  <a:moveTo>
                    <a:pt x="0" y="0"/>
                  </a:moveTo>
                  <a:lnTo>
                    <a:pt x="11119104" y="0"/>
                  </a:lnTo>
                  <a:lnTo>
                    <a:pt x="11119104" y="621792"/>
                  </a:lnTo>
                  <a:lnTo>
                    <a:pt x="0" y="6217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98438" b="-298438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-28575"/>
              <a:ext cx="11119104" cy="65036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15"/>
                </a:lnSpc>
              </a:pPr>
              <a:r>
                <a:rPr lang="en-US" sz="2790" spc="1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재설계  /  데이터·학습 목표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9121140" y="3511296"/>
            <a:ext cx="8311896" cy="891540"/>
            <a:chOff x="0" y="0"/>
            <a:chExt cx="11082528" cy="1188720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1082528" cy="1188720"/>
            </a:xfrm>
            <a:custGeom>
              <a:avLst/>
              <a:gdLst/>
              <a:ahLst/>
              <a:cxnLst/>
              <a:rect l="l" t="t" r="r" b="b"/>
              <a:pathLst>
                <a:path w="11082528" h="1188720">
                  <a:moveTo>
                    <a:pt x="0" y="0"/>
                  </a:moveTo>
                  <a:lnTo>
                    <a:pt x="11082528" y="0"/>
                  </a:lnTo>
                  <a:lnTo>
                    <a:pt x="11082528" y="1188720"/>
                  </a:lnTo>
                  <a:lnTo>
                    <a:pt x="0" y="1188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1660" b="-131660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19050"/>
              <a:ext cx="11082528" cy="12077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Qwen3-Coder-Next 80B · B200 × 2</a:t>
              </a:r>
            </a:p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학습/검증 구성 10,000 / 1,000개</a:t>
              </a:r>
            </a:p>
            <a:p>
              <a:pPr algn="l">
                <a:lnSpc>
                  <a:spcPts val="2257"/>
                </a:lnSpc>
              </a:pPr>
              <a:r>
                <a:rPr lang="en-US" sz="1679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정제 후 학습 사용 9,975 / 996개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9141904" y="4601908"/>
            <a:ext cx="2537079" cy="671703"/>
            <a:chOff x="0" y="0"/>
            <a:chExt cx="3382772" cy="895604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3382772" cy="895604"/>
            </a:xfrm>
            <a:custGeom>
              <a:avLst/>
              <a:gdLst/>
              <a:ahLst/>
              <a:cxnLst/>
              <a:rect l="l" t="t" r="r" b="b"/>
              <a:pathLst>
                <a:path w="3382772" h="89560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9230868" y="4786884"/>
            <a:ext cx="2359152" cy="274320"/>
            <a:chOff x="0" y="0"/>
            <a:chExt cx="3145536" cy="365760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3145536" cy="365760"/>
            </a:xfrm>
            <a:custGeom>
              <a:avLst/>
              <a:gdLst/>
              <a:ahLst/>
              <a:cxnLst/>
              <a:rect l="l" t="t" r="r" b="b"/>
              <a:pathLst>
                <a:path w="3145536" h="365760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60" name="TextBox 60"/>
            <p:cNvSpPr txBox="1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취약점 판단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 rot="316860">
            <a:off x="11716217" y="4919282"/>
            <a:ext cx="227657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2" name="Group 62"/>
          <p:cNvGrpSpPr/>
          <p:nvPr/>
        </p:nvGrpSpPr>
        <p:grpSpPr>
          <a:xfrm>
            <a:off x="12008548" y="4601908"/>
            <a:ext cx="2537079" cy="671703"/>
            <a:chOff x="0" y="0"/>
            <a:chExt cx="3382772" cy="895604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3382772" cy="895604"/>
            </a:xfrm>
            <a:custGeom>
              <a:avLst/>
              <a:gdLst/>
              <a:ahLst/>
              <a:cxnLst/>
              <a:rect l="l" t="t" r="r" b="b"/>
              <a:pathLst>
                <a:path w="3382772" h="89560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64" name="Group 64"/>
          <p:cNvGrpSpPr/>
          <p:nvPr/>
        </p:nvGrpSpPr>
        <p:grpSpPr>
          <a:xfrm>
            <a:off x="12097512" y="4786884"/>
            <a:ext cx="2359152" cy="274320"/>
            <a:chOff x="0" y="0"/>
            <a:chExt cx="3145536" cy="365760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3145536" cy="365760"/>
            </a:xfrm>
            <a:custGeom>
              <a:avLst/>
              <a:gdLst/>
              <a:ahLst/>
              <a:cxnLst/>
              <a:rect l="l" t="t" r="r" b="b"/>
              <a:pathLst>
                <a:path w="3145536" h="365760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66" name="TextBox 66"/>
            <p:cNvSpPr txBox="1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근거 line 선택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 rot="316860">
            <a:off x="14582861" y="4919282"/>
            <a:ext cx="227657" cy="0"/>
          </a:xfrm>
          <a:prstGeom prst="line">
            <a:avLst/>
          </a:prstGeom>
          <a:ln w="9525" cap="rnd">
            <a:solidFill>
              <a:srgbClr val="2859A6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8" name="Group 68"/>
          <p:cNvGrpSpPr/>
          <p:nvPr/>
        </p:nvGrpSpPr>
        <p:grpSpPr>
          <a:xfrm>
            <a:off x="14875193" y="4601908"/>
            <a:ext cx="2537079" cy="671703"/>
            <a:chOff x="0" y="0"/>
            <a:chExt cx="3382772" cy="895604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3382772" cy="895604"/>
            </a:xfrm>
            <a:custGeom>
              <a:avLst/>
              <a:gdLst/>
              <a:ahLst/>
              <a:cxnLst/>
              <a:rect l="l" t="t" r="r" b="b"/>
              <a:pathLst>
                <a:path w="3382772" h="895604">
                  <a:moveTo>
                    <a:pt x="0" y="149225"/>
                  </a:moveTo>
                  <a:cubicBezTo>
                    <a:pt x="0" y="66802"/>
                    <a:pt x="66802" y="0"/>
                    <a:pt x="149225" y="0"/>
                  </a:cubicBezTo>
                  <a:lnTo>
                    <a:pt x="3233547" y="0"/>
                  </a:lnTo>
                  <a:cubicBezTo>
                    <a:pt x="3315970" y="0"/>
                    <a:pt x="3382772" y="66802"/>
                    <a:pt x="3382772" y="149225"/>
                  </a:cubicBezTo>
                  <a:lnTo>
                    <a:pt x="3382772" y="746379"/>
                  </a:lnTo>
                  <a:cubicBezTo>
                    <a:pt x="3382772" y="828802"/>
                    <a:pt x="3315970" y="895604"/>
                    <a:pt x="3233547" y="895604"/>
                  </a:cubicBezTo>
                  <a:lnTo>
                    <a:pt x="149225" y="895604"/>
                  </a:lnTo>
                  <a:cubicBezTo>
                    <a:pt x="66802" y="895604"/>
                    <a:pt x="0" y="828802"/>
                    <a:pt x="0" y="746379"/>
                  </a:cubicBezTo>
                  <a:close/>
                </a:path>
              </a:pathLst>
            </a:custGeom>
            <a:solidFill>
              <a:srgbClr val="EDF3FA"/>
            </a:solidFill>
            <a:ln w="13335" cap="sq">
              <a:solidFill>
                <a:srgbClr val="DDE3E9"/>
              </a:solidFill>
              <a:prstDash val="solid"/>
              <a:miter/>
            </a:ln>
          </p:spPr>
        </p:sp>
      </p:grpSp>
      <p:grpSp>
        <p:nvGrpSpPr>
          <p:cNvPr id="70" name="Group 70"/>
          <p:cNvGrpSpPr/>
          <p:nvPr/>
        </p:nvGrpSpPr>
        <p:grpSpPr>
          <a:xfrm>
            <a:off x="14964156" y="4786884"/>
            <a:ext cx="2359152" cy="274320"/>
            <a:chOff x="0" y="0"/>
            <a:chExt cx="3145536" cy="365760"/>
          </a:xfrm>
        </p:grpSpPr>
        <p:sp>
          <p:nvSpPr>
            <p:cNvPr id="71" name="Freeform 71"/>
            <p:cNvSpPr/>
            <p:nvPr/>
          </p:nvSpPr>
          <p:spPr>
            <a:xfrm>
              <a:off x="0" y="0"/>
              <a:ext cx="3145536" cy="365760"/>
            </a:xfrm>
            <a:custGeom>
              <a:avLst/>
              <a:gdLst/>
              <a:ahLst/>
              <a:cxnLst/>
              <a:rect l="l" t="t" r="r" b="b"/>
              <a:pathLst>
                <a:path w="3145536" h="365760">
                  <a:moveTo>
                    <a:pt x="0" y="0"/>
                  </a:moveTo>
                  <a:lnTo>
                    <a:pt x="3145536" y="0"/>
                  </a:lnTo>
                  <a:lnTo>
                    <a:pt x="3145536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7571" b="-117571"/>
              </a:stretch>
            </a:blipFill>
          </p:spPr>
        </p:sp>
        <p:sp>
          <p:nvSpPr>
            <p:cNvPr id="72" name="TextBox 72"/>
            <p:cNvSpPr txBox="1"/>
            <p:nvPr/>
          </p:nvSpPr>
          <p:spPr>
            <a:xfrm>
              <a:off x="0" y="-9525"/>
              <a:ext cx="3145536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371"/>
                </a:lnSpc>
              </a:pPr>
              <a:r>
                <a:rPr lang="en-US" sz="1829" spc="7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원문 span 추출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9148572" y="5513832"/>
            <a:ext cx="8257032" cy="301752"/>
            <a:chOff x="0" y="0"/>
            <a:chExt cx="11009376" cy="402336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11009376" cy="402336"/>
            </a:xfrm>
            <a:custGeom>
              <a:avLst/>
              <a:gdLst/>
              <a:ahLst/>
              <a:cxnLst/>
              <a:rect l="l" t="t" r="r" b="b"/>
              <a:pathLst>
                <a:path w="11009376" h="402336">
                  <a:moveTo>
                    <a:pt x="0" y="0"/>
                  </a:moveTo>
                  <a:lnTo>
                    <a:pt x="11009376" y="0"/>
                  </a:lnTo>
                  <a:lnTo>
                    <a:pt x="1100937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3181" b="-483181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19050"/>
              <a:ext cx="11009376" cy="42138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235"/>
                </a:lnSpc>
              </a:pPr>
              <a:r>
                <a:rPr lang="en-US" sz="172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판단과 근거 추출의 학습 목표 분리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9111615" y="6094095"/>
            <a:ext cx="8317230" cy="2337054"/>
            <a:chOff x="0" y="0"/>
            <a:chExt cx="11089640" cy="3116072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1089640" cy="3116072"/>
            </a:xfrm>
            <a:custGeom>
              <a:avLst/>
              <a:gdLst/>
              <a:ahLst/>
              <a:cxnLst/>
              <a:rect l="l" t="t" r="r" b="b"/>
              <a:pathLst>
                <a:path w="11089640" h="3116072">
                  <a:moveTo>
                    <a:pt x="0" y="0"/>
                  </a:moveTo>
                  <a:lnTo>
                    <a:pt x="11089640" y="0"/>
                  </a:lnTo>
                  <a:lnTo>
                    <a:pt x="11089640" y="3116072"/>
                  </a:lnTo>
                  <a:lnTo>
                    <a:pt x="0" y="3116072"/>
                  </a:lnTo>
                  <a:close/>
                </a:path>
              </a:pathLst>
            </a:custGeom>
            <a:solidFill>
              <a:srgbClr val="EDF3FA"/>
            </a:solidFill>
          </p:spPr>
        </p:sp>
      </p:grpSp>
      <p:grpSp>
        <p:nvGrpSpPr>
          <p:cNvPr id="78" name="Group 78"/>
          <p:cNvGrpSpPr/>
          <p:nvPr/>
        </p:nvGrpSpPr>
        <p:grpSpPr>
          <a:xfrm>
            <a:off x="9409176" y="6350508"/>
            <a:ext cx="7694676" cy="342900"/>
            <a:chOff x="0" y="0"/>
            <a:chExt cx="10259568" cy="457200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0259568" cy="457200"/>
            </a:xfrm>
            <a:custGeom>
              <a:avLst/>
              <a:gdLst/>
              <a:ahLst/>
              <a:cxnLst/>
              <a:rect l="l" t="t" r="r" b="b"/>
              <a:pathLst>
                <a:path w="10259568" h="457200">
                  <a:moveTo>
                    <a:pt x="0" y="0"/>
                  </a:moveTo>
                  <a:lnTo>
                    <a:pt x="10259568" y="0"/>
                  </a:lnTo>
                  <a:lnTo>
                    <a:pt x="10259568" y="457200"/>
                  </a:lnTo>
                  <a:lnTo>
                    <a:pt x="0" y="45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87244" b="-387244"/>
              </a:stretch>
            </a:blipFill>
          </p:spPr>
        </p:sp>
        <p:sp>
          <p:nvSpPr>
            <p:cNvPr id="80" name="TextBox 80"/>
            <p:cNvSpPr txBox="1"/>
            <p:nvPr/>
          </p:nvSpPr>
          <p:spPr>
            <a:xfrm>
              <a:off x="0" y="-28575"/>
              <a:ext cx="10259568" cy="4857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7"/>
                </a:lnSpc>
              </a:pPr>
              <a:r>
                <a:rPr lang="en-US" sz="1950" spc="7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2차 평가 기록</a:t>
              </a:r>
            </a:p>
          </p:txBody>
        </p:sp>
      </p:grpSp>
      <p:grpSp>
        <p:nvGrpSpPr>
          <p:cNvPr id="81" name="Group 81"/>
          <p:cNvGrpSpPr/>
          <p:nvPr/>
        </p:nvGrpSpPr>
        <p:grpSpPr>
          <a:xfrm>
            <a:off x="9409176" y="6830568"/>
            <a:ext cx="7694676" cy="274320"/>
            <a:chOff x="0" y="0"/>
            <a:chExt cx="10259568" cy="365760"/>
          </a:xfrm>
        </p:grpSpPr>
        <p:sp>
          <p:nvSpPr>
            <p:cNvPr id="82" name="Freeform 82"/>
            <p:cNvSpPr/>
            <p:nvPr/>
          </p:nvSpPr>
          <p:spPr>
            <a:xfrm>
              <a:off x="0" y="0"/>
              <a:ext cx="10259568" cy="365760"/>
            </a:xfrm>
            <a:custGeom>
              <a:avLst/>
              <a:gdLst/>
              <a:ahLst/>
              <a:cxnLst/>
              <a:rect l="l" t="t" r="r" b="b"/>
              <a:pathLst>
                <a:path w="10259568" h="365760">
                  <a:moveTo>
                    <a:pt x="0" y="0"/>
                  </a:moveTo>
                  <a:lnTo>
                    <a:pt x="10259568" y="0"/>
                  </a:lnTo>
                  <a:lnTo>
                    <a:pt x="10259568" y="365760"/>
                  </a:lnTo>
                  <a:lnTo>
                    <a:pt x="0" y="365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6555" b="-496555"/>
              </a:stretch>
            </a:blipFill>
          </p:spPr>
        </p:sp>
        <p:sp>
          <p:nvSpPr>
            <p:cNvPr id="83" name="TextBox 83"/>
            <p:cNvSpPr txBox="1"/>
            <p:nvPr/>
          </p:nvSpPr>
          <p:spPr>
            <a:xfrm>
              <a:off x="0" y="-9525"/>
              <a:ext cx="10259568" cy="37528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02"/>
                </a:lnSpc>
              </a:pPr>
              <a:r>
                <a:rPr lang="en-US" sz="154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NIST SARD/Juliet · C/C++ 함수 · 지정 CWE · 500건</a:t>
              </a:r>
            </a:p>
          </p:txBody>
        </p:sp>
      </p:grpSp>
      <p:grpSp>
        <p:nvGrpSpPr>
          <p:cNvPr id="84" name="Group 84"/>
          <p:cNvGrpSpPr/>
          <p:nvPr/>
        </p:nvGrpSpPr>
        <p:grpSpPr>
          <a:xfrm>
            <a:off x="9409176" y="7338060"/>
            <a:ext cx="2386584" cy="548640"/>
            <a:chOff x="0" y="0"/>
            <a:chExt cx="3182112" cy="731520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3182112" cy="731520"/>
            </a:xfrm>
            <a:custGeom>
              <a:avLst/>
              <a:gdLst/>
              <a:ahLst/>
              <a:cxnLst/>
              <a:rect l="l" t="t" r="r" b="b"/>
              <a:pathLst>
                <a:path w="3182112" h="731520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59" b="-34759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98.81%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409176" y="8078724"/>
            <a:ext cx="2386584" cy="219456"/>
            <a:chOff x="0" y="0"/>
            <a:chExt cx="3182112" cy="29260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3182112" cy="292608"/>
            </a:xfrm>
            <a:custGeom>
              <a:avLst/>
              <a:gdLst/>
              <a:ahLst/>
              <a:cxnLst/>
              <a:rect l="l" t="t" r="r" b="b"/>
              <a:pathLst>
                <a:path w="3182112" h="292608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899" b="-161899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Precision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2015216" y="7338060"/>
            <a:ext cx="2386584" cy="548640"/>
            <a:chOff x="0" y="0"/>
            <a:chExt cx="3182112" cy="73152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3182112" cy="731520"/>
            </a:xfrm>
            <a:custGeom>
              <a:avLst/>
              <a:gdLst/>
              <a:ahLst/>
              <a:cxnLst/>
              <a:rect l="l" t="t" r="r" b="b"/>
              <a:pathLst>
                <a:path w="3182112" h="731520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59" b="-34759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100%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2015216" y="8078724"/>
            <a:ext cx="2386584" cy="219456"/>
            <a:chOff x="0" y="0"/>
            <a:chExt cx="3182112" cy="29260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3182112" cy="292608"/>
            </a:xfrm>
            <a:custGeom>
              <a:avLst/>
              <a:gdLst/>
              <a:ahLst/>
              <a:cxnLst/>
              <a:rect l="l" t="t" r="r" b="b"/>
              <a:pathLst>
                <a:path w="3182112" h="292608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899" b="-161899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Recall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14621256" y="7338060"/>
            <a:ext cx="2386584" cy="548640"/>
            <a:chOff x="0" y="0"/>
            <a:chExt cx="3182112" cy="731520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182112" cy="731520"/>
            </a:xfrm>
            <a:custGeom>
              <a:avLst/>
              <a:gdLst/>
              <a:ahLst/>
              <a:cxnLst/>
              <a:rect l="l" t="t" r="r" b="b"/>
              <a:pathLst>
                <a:path w="3182112" h="731520">
                  <a:moveTo>
                    <a:pt x="0" y="0"/>
                  </a:moveTo>
                  <a:lnTo>
                    <a:pt x="3182112" y="0"/>
                  </a:lnTo>
                  <a:lnTo>
                    <a:pt x="3182112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759" b="-34759"/>
              </a:stretch>
            </a:blipFill>
          </p:spPr>
        </p:sp>
        <p:sp>
          <p:nvSpPr>
            <p:cNvPr id="98" name="TextBox 98"/>
            <p:cNvSpPr txBox="1"/>
            <p:nvPr/>
          </p:nvSpPr>
          <p:spPr>
            <a:xfrm>
              <a:off x="0" y="-47625"/>
              <a:ext cx="3182112" cy="7791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4510"/>
                </a:lnSpc>
              </a:pPr>
              <a:r>
                <a:rPr lang="en-US" sz="3479" spc="13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1.20%</a:t>
              </a:r>
            </a:p>
          </p:txBody>
        </p:sp>
      </p:grpSp>
      <p:grpSp>
        <p:nvGrpSpPr>
          <p:cNvPr id="99" name="Group 99"/>
          <p:cNvGrpSpPr/>
          <p:nvPr/>
        </p:nvGrpSpPr>
        <p:grpSpPr>
          <a:xfrm>
            <a:off x="14621256" y="8078724"/>
            <a:ext cx="2386584" cy="219456"/>
            <a:chOff x="0" y="0"/>
            <a:chExt cx="3182112" cy="29260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3182112" cy="292608"/>
            </a:xfrm>
            <a:custGeom>
              <a:avLst/>
              <a:gdLst/>
              <a:ahLst/>
              <a:cxnLst/>
              <a:rect l="l" t="t" r="r" b="b"/>
              <a:pathLst>
                <a:path w="3182112" h="292608">
                  <a:moveTo>
                    <a:pt x="0" y="0"/>
                  </a:moveTo>
                  <a:lnTo>
                    <a:pt x="3182112" y="0"/>
                  </a:lnTo>
                  <a:lnTo>
                    <a:pt x="3182112" y="292608"/>
                  </a:lnTo>
                  <a:lnTo>
                    <a:pt x="0" y="29260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61899" b="-161899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9525"/>
              <a:ext cx="3182112" cy="30213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44"/>
                </a:lnSpc>
              </a:pPr>
              <a:r>
                <a:rPr lang="en-US" sz="1500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FPR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134856" y="8627364"/>
            <a:ext cx="8243316" cy="288036"/>
            <a:chOff x="0" y="0"/>
            <a:chExt cx="10991088" cy="384048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991088" cy="384048"/>
            </a:xfrm>
            <a:custGeom>
              <a:avLst/>
              <a:gdLst/>
              <a:ahLst/>
              <a:cxnLst/>
              <a:rect l="l" t="t" r="r" b="b"/>
              <a:pathLst>
                <a:path w="10991088" h="384048">
                  <a:moveTo>
                    <a:pt x="0" y="0"/>
                  </a:moveTo>
                  <a:lnTo>
                    <a:pt x="10991088" y="0"/>
                  </a:lnTo>
                  <a:lnTo>
                    <a:pt x="10991088" y="384048"/>
                  </a:lnTo>
                  <a:lnTo>
                    <a:pt x="0" y="3840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7643" b="-507643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-9525"/>
              <a:ext cx="10991088" cy="3935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02"/>
                </a:lnSpc>
              </a:pPr>
              <a:r>
                <a:rPr lang="en-US" sz="1545" spc="6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모델 단독 평가 · HF 최초 blind 평가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9134856" y="9066276"/>
            <a:ext cx="8257032" cy="301752"/>
            <a:chOff x="0" y="0"/>
            <a:chExt cx="11009376" cy="402336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1009376" cy="402336"/>
            </a:xfrm>
            <a:custGeom>
              <a:avLst/>
              <a:gdLst/>
              <a:ahLst/>
              <a:cxnLst/>
              <a:rect l="l" t="t" r="r" b="b"/>
              <a:pathLst>
                <a:path w="11009376" h="402336">
                  <a:moveTo>
                    <a:pt x="0" y="0"/>
                  </a:moveTo>
                  <a:lnTo>
                    <a:pt x="11009376" y="0"/>
                  </a:lnTo>
                  <a:lnTo>
                    <a:pt x="11009376" y="402336"/>
                  </a:lnTo>
                  <a:lnTo>
                    <a:pt x="0" y="40233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83181" b="-483181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-9525"/>
              <a:ext cx="11009376" cy="41186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96"/>
                </a:lnSpc>
              </a:pPr>
              <a:r>
                <a:rPr lang="en-US" sz="1695" spc="6">
                  <a:solidFill>
                    <a:srgbClr val="8A5A24"/>
                  </a:solidFill>
                  <a:latin typeface="Mandali"/>
                  <a:ea typeface="Mandali"/>
                  <a:cs typeface="Mandali"/>
                  <a:sym typeface="Mandali"/>
                </a:rPr>
                <a:t>진행 상태: 데이터셋 구축 · 실증 테스트 예정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891540" y="9436608"/>
            <a:ext cx="16459200" cy="233172"/>
            <a:chOff x="0" y="0"/>
            <a:chExt cx="21945600" cy="310896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1945600" cy="310896"/>
            </a:xfrm>
            <a:custGeom>
              <a:avLst/>
              <a:gdLst/>
              <a:ahLst/>
              <a:cxnLst/>
              <a:rect l="l" t="t" r="r" b="b"/>
              <a:pathLst>
                <a:path w="21945600" h="310896">
                  <a:moveTo>
                    <a:pt x="0" y="0"/>
                  </a:moveTo>
                  <a:lnTo>
                    <a:pt x="21945600" y="0"/>
                  </a:lnTo>
                  <a:lnTo>
                    <a:pt x="21945600" y="310896"/>
                  </a:lnTo>
                  <a:lnTo>
                    <a:pt x="0" y="310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325414" b="-1325414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19050"/>
              <a:ext cx="21945600" cy="32994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66"/>
                </a:lnSpc>
              </a:pPr>
              <a:r>
                <a:rPr lang="en-US" sz="1439" spc="5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※ 1차를 진행하면서 정답 + 근거의 필요성을 느꼈고, 데이터셋을 재설계하면서 취약점 판단 + 근거 선택을 할 수 있도록 학습 데이터셋을 재구축함. 그 과정에서 원천 데이터셋 교체가 이루어짐.</a:t>
              </a:r>
            </a:p>
          </p:txBody>
        </p:sp>
      </p:grpSp>
      <p:sp>
        <p:nvSpPr>
          <p:cNvPr id="111" name="AutoShape 111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22960" y="493776"/>
            <a:ext cx="16596360" cy="438476"/>
            <a:chOff x="0" y="0"/>
            <a:chExt cx="22128480" cy="58463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128480" cy="584635"/>
            </a:xfrm>
            <a:custGeom>
              <a:avLst/>
              <a:gdLst/>
              <a:ahLst/>
              <a:cxnLst/>
              <a:rect l="l" t="t" r="r" b="b"/>
              <a:pathLst>
                <a:path w="22128480" h="584635">
                  <a:moveTo>
                    <a:pt x="0" y="0"/>
                  </a:moveTo>
                  <a:lnTo>
                    <a:pt x="22128480" y="0"/>
                  </a:lnTo>
                  <a:lnTo>
                    <a:pt x="22128480" y="584635"/>
                  </a:lnTo>
                  <a:lnTo>
                    <a:pt x="0" y="58463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03101" b="-671919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-9525"/>
              <a:ext cx="22128480" cy="5941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099"/>
                </a:lnSpc>
              </a:pPr>
              <a:r>
                <a:rPr lang="en-US" sz="1620" spc="126">
                  <a:solidFill>
                    <a:srgbClr val="2859A6"/>
                  </a:solidFill>
                  <a:latin typeface="Mandali"/>
                  <a:ea typeface="Mandali"/>
                  <a:cs typeface="Mandali"/>
                  <a:sym typeface="Mandali"/>
                </a:rPr>
                <a:t>05  /  FRAMEWORK DEVELOPMENT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22960" y="1124712"/>
            <a:ext cx="16596360" cy="1110478"/>
            <a:chOff x="0" y="0"/>
            <a:chExt cx="22128480" cy="148063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128480" cy="1480637"/>
            </a:xfrm>
            <a:custGeom>
              <a:avLst/>
              <a:gdLst/>
              <a:ahLst/>
              <a:cxnLst/>
              <a:rect l="l" t="t" r="r" b="b"/>
              <a:pathLst>
                <a:path w="22128480" h="1480637">
                  <a:moveTo>
                    <a:pt x="0" y="0"/>
                  </a:moveTo>
                  <a:lnTo>
                    <a:pt x="22128480" y="0"/>
                  </a:lnTo>
                  <a:lnTo>
                    <a:pt x="22128480" y="1480637"/>
                  </a:lnTo>
                  <a:lnTo>
                    <a:pt x="0" y="148063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60329" b="-222087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2128480" cy="151873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48"/>
                </a:lnSpc>
              </a:pPr>
              <a:r>
                <a:rPr lang="en-US" sz="4050" spc="15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GUAM GPU 기반 AutoML 프레임워크 개발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50392" y="1920240"/>
            <a:ext cx="16459200" cy="529201"/>
            <a:chOff x="0" y="0"/>
            <a:chExt cx="21945600" cy="70560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1945600" cy="705601"/>
            </a:xfrm>
            <a:custGeom>
              <a:avLst/>
              <a:gdLst/>
              <a:ahLst/>
              <a:cxnLst/>
              <a:rect l="l" t="t" r="r" b="b"/>
              <a:pathLst>
                <a:path w="21945600" h="705601">
                  <a:moveTo>
                    <a:pt x="0" y="0"/>
                  </a:moveTo>
                  <a:lnTo>
                    <a:pt x="21945600" y="0"/>
                  </a:lnTo>
                  <a:lnTo>
                    <a:pt x="21945600" y="705601"/>
                  </a:lnTo>
                  <a:lnTo>
                    <a:pt x="0" y="7056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67146" b="-54490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1945600" cy="71512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88"/>
                </a:lnSpc>
              </a:pPr>
              <a:r>
                <a:rPr lang="en-US" sz="1920" spc="7">
                  <a:solidFill>
                    <a:srgbClr val="667284"/>
                  </a:solidFill>
                  <a:latin typeface="Mandali"/>
                  <a:ea typeface="Mandali"/>
                  <a:cs typeface="Mandali"/>
                  <a:sym typeface="Mandali"/>
                </a:rPr>
                <a:t>LightAutoML 구조를 RAPIDS로 포팅하는 팀 프로젝트 · 비공개 알파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rot="5391660">
            <a:off x="5437622" y="6002846"/>
            <a:ext cx="6269755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2" name="Group 12"/>
          <p:cNvGrpSpPr/>
          <p:nvPr/>
        </p:nvGrpSpPr>
        <p:grpSpPr>
          <a:xfrm>
            <a:off x="9079992" y="2449441"/>
            <a:ext cx="8339328" cy="769441"/>
            <a:chOff x="0" y="0"/>
            <a:chExt cx="11119104" cy="102592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1119104" cy="1025921"/>
            </a:xfrm>
            <a:custGeom>
              <a:avLst/>
              <a:gdLst/>
              <a:ahLst/>
              <a:cxnLst/>
              <a:rect l="l" t="t" r="r" b="b"/>
              <a:pathLst>
                <a:path w="11119104" h="1025921">
                  <a:moveTo>
                    <a:pt x="0" y="0"/>
                  </a:moveTo>
                  <a:lnTo>
                    <a:pt x="11119104" y="0"/>
                  </a:lnTo>
                  <a:lnTo>
                    <a:pt x="11119104" y="1025921"/>
                  </a:lnTo>
                  <a:lnTo>
                    <a:pt x="0" y="102592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0877" b="-141486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11119104" cy="105449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marL="602361" lvl="1" indent="-301180" algn="l">
                <a:lnSpc>
                  <a:spcPts val="3615"/>
                </a:lnSpc>
                <a:buAutoNum type="arabicPeriod" startAt="2"/>
              </a:pPr>
              <a:r>
                <a:rPr lang="en-US" sz="2790" spc="10" dirty="0" err="1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프레임워크</a:t>
              </a:r>
              <a:r>
                <a:rPr lang="en-US" sz="2790" spc="10" dirty="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 </a:t>
              </a:r>
              <a:r>
                <a:rPr lang="en-US" sz="2790" spc="10" dirty="0" err="1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rPr>
                <a:t>개발</a:t>
              </a:r>
              <a:endParaRPr lang="en-US" sz="2790" spc="10" dirty="0">
                <a:solidFill>
                  <a:srgbClr val="172B43"/>
                </a:solidFill>
                <a:latin typeface="Mandali"/>
                <a:ea typeface="Mandali"/>
                <a:cs typeface="Mandali"/>
                <a:sym typeface="Mandali"/>
              </a:endParaRPr>
            </a:p>
          </p:txBody>
        </p:sp>
      </p:grpSp>
      <p:sp>
        <p:nvSpPr>
          <p:cNvPr id="15" name="AutoShape 15"/>
          <p:cNvSpPr/>
          <p:nvPr/>
        </p:nvSpPr>
        <p:spPr>
          <a:xfrm rot="2760">
            <a:off x="816293" y="9706166"/>
            <a:ext cx="16650853" cy="0"/>
          </a:xfrm>
          <a:prstGeom prst="line">
            <a:avLst/>
          </a:prstGeom>
          <a:ln w="9525" cap="rnd">
            <a:solidFill>
              <a:srgbClr val="DDE3E9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816295" y="2376678"/>
            <a:ext cx="7289861" cy="5612750"/>
            <a:chOff x="0" y="0"/>
            <a:chExt cx="9719814" cy="7483667"/>
          </a:xfrm>
        </p:grpSpPr>
        <p:grpSp>
          <p:nvGrpSpPr>
            <p:cNvPr id="17" name="Group 17"/>
            <p:cNvGrpSpPr/>
            <p:nvPr/>
          </p:nvGrpSpPr>
          <p:grpSpPr>
            <a:xfrm>
              <a:off x="82038" y="0"/>
              <a:ext cx="9637776" cy="1025921"/>
              <a:chOff x="0" y="0"/>
              <a:chExt cx="9637776" cy="102592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9637776" cy="1025921"/>
              </a:xfrm>
              <a:custGeom>
                <a:avLst/>
                <a:gdLst/>
                <a:ahLst/>
                <a:cxnLst/>
                <a:rect l="l" t="t" r="r" b="b"/>
                <a:pathLst>
                  <a:path w="9637776" h="1025921">
                    <a:moveTo>
                      <a:pt x="0" y="0"/>
                    </a:moveTo>
                    <a:lnTo>
                      <a:pt x="9637776" y="0"/>
                    </a:lnTo>
                    <a:lnTo>
                      <a:pt x="9637776" y="1025921"/>
                    </a:lnTo>
                    <a:lnTo>
                      <a:pt x="0" y="1025921"/>
                    </a:lnTo>
                    <a:close/>
                  </a:path>
                </a:pathLst>
              </a:custGeom>
              <a:blipFill>
                <a:blip r:embed="rId3">
                  <a:alphaModFix amt="0"/>
                </a:blip>
                <a:stretch>
                  <a:fillRect t="-152743" b="-113351"/>
                </a:stretch>
              </a:blip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28575"/>
                <a:ext cx="9637776" cy="1054496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marL="602361" lvl="1" indent="-301180" algn="l">
                  <a:lnSpc>
                    <a:spcPts val="3615"/>
                  </a:lnSpc>
                  <a:buAutoNum type="arabicPeriod"/>
                </a:pPr>
                <a:r>
                  <a:rPr lang="en-US" sz="2790" spc="10" dirty="0" err="1">
                    <a:solidFill>
                      <a:srgbClr val="172B43"/>
                    </a:solidFill>
                    <a:latin typeface="Mandali"/>
                    <a:ea typeface="Mandali"/>
                    <a:cs typeface="Mandali"/>
                    <a:sym typeface="Mandali"/>
                  </a:rPr>
                  <a:t>스터디</a:t>
                </a:r>
                <a:endParaRPr lang="en-US" sz="2790" spc="10" dirty="0">
                  <a:solidFill>
                    <a:srgbClr val="172B43"/>
                  </a:solidFill>
                  <a:latin typeface="Mandali"/>
                  <a:ea typeface="Mandali"/>
                  <a:cs typeface="Mandali"/>
                  <a:sym typeface="Mandali"/>
                </a:endParaRPr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82038" y="1012072"/>
              <a:ext cx="8718844" cy="2287791"/>
            </a:xfrm>
            <a:custGeom>
              <a:avLst/>
              <a:gdLst/>
              <a:ahLst/>
              <a:cxnLst/>
              <a:rect l="l" t="t" r="r" b="b"/>
              <a:pathLst>
                <a:path w="8718844" h="2287791">
                  <a:moveTo>
                    <a:pt x="0" y="0"/>
                  </a:moveTo>
                  <a:lnTo>
                    <a:pt x="8718844" y="0"/>
                  </a:lnTo>
                  <a:lnTo>
                    <a:pt x="8718844" y="2287791"/>
                  </a:lnTo>
                  <a:lnTo>
                    <a:pt x="0" y="22877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64" b="-64"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>
              <a:off x="82038" y="2325769"/>
              <a:ext cx="8718844" cy="2452800"/>
            </a:xfrm>
            <a:custGeom>
              <a:avLst/>
              <a:gdLst/>
              <a:ahLst/>
              <a:cxnLst/>
              <a:rect l="l" t="t" r="r" b="b"/>
              <a:pathLst>
                <a:path w="8718844" h="2452800">
                  <a:moveTo>
                    <a:pt x="0" y="0"/>
                  </a:moveTo>
                  <a:lnTo>
                    <a:pt x="8718844" y="0"/>
                  </a:lnTo>
                  <a:lnTo>
                    <a:pt x="8718844" y="2452800"/>
                  </a:lnTo>
                  <a:lnTo>
                    <a:pt x="0" y="245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68" b="-68"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>
              <a:off x="0" y="3705286"/>
              <a:ext cx="8800882" cy="2594404"/>
            </a:xfrm>
            <a:custGeom>
              <a:avLst/>
              <a:gdLst/>
              <a:ahLst/>
              <a:cxnLst/>
              <a:rect l="l" t="t" r="r" b="b"/>
              <a:pathLst>
                <a:path w="8800882" h="2594404">
                  <a:moveTo>
                    <a:pt x="0" y="0"/>
                  </a:moveTo>
                  <a:lnTo>
                    <a:pt x="8800882" y="0"/>
                  </a:lnTo>
                  <a:lnTo>
                    <a:pt x="8800882" y="2594404"/>
                  </a:lnTo>
                  <a:lnTo>
                    <a:pt x="0" y="25944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t="-71" b="-71"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>
              <a:off x="82038" y="5106835"/>
              <a:ext cx="8718844" cy="2376831"/>
            </a:xfrm>
            <a:custGeom>
              <a:avLst/>
              <a:gdLst/>
              <a:ahLst/>
              <a:cxnLst/>
              <a:rect l="l" t="t" r="r" b="b"/>
              <a:pathLst>
                <a:path w="8718844" h="2376831">
                  <a:moveTo>
                    <a:pt x="0" y="0"/>
                  </a:moveTo>
                  <a:lnTo>
                    <a:pt x="8718844" y="0"/>
                  </a:lnTo>
                  <a:lnTo>
                    <a:pt x="8718844" y="2376832"/>
                  </a:lnTo>
                  <a:lnTo>
                    <a:pt x="0" y="23768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t="-66" b="-66"/>
              </a:stretch>
            </a:blipFill>
          </p:spPr>
        </p:sp>
      </p:grpSp>
      <p:sp>
        <p:nvSpPr>
          <p:cNvPr id="24" name="TextBox 24"/>
          <p:cNvSpPr txBox="1"/>
          <p:nvPr/>
        </p:nvSpPr>
        <p:spPr>
          <a:xfrm>
            <a:off x="2173886" y="8065628"/>
            <a:ext cx="4574679" cy="118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엔비디아 수료증 4종 취득</a:t>
            </a:r>
          </a:p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 Kr"/>
                <a:ea typeface="Noto Sans Kr"/>
                <a:cs typeface="Noto Sans Kr"/>
                <a:sym typeface="Noto Sans Kr"/>
              </a:rPr>
              <a:t>AI / ML / DL 관련 수료증</a:t>
            </a:r>
          </a:p>
        </p:txBody>
      </p:sp>
      <p:sp>
        <p:nvSpPr>
          <p:cNvPr id="25" name="GUAM_PR213_lead">
            <a:extLst>
              <a:ext uri="{FF2B5EF4-FFF2-40B4-BE49-F238E27FC236}">
                <a16:creationId xmlns:a16="http://schemas.microsoft.com/office/drawing/2014/main" id="{F1921F51-6742-4DB7-A1F0-BF5ACA7939B0}"/>
              </a:ext>
            </a:extLst>
          </p:cNvPr>
          <p:cNvSpPr>
            <a:spLocks noGrp="1"/>
          </p:cNvSpPr>
          <p:nvPr/>
        </p:nvSpPr>
        <p:spPr>
          <a:xfrm>
            <a:off x="9382125" y="3343275"/>
            <a:ext cx="7905750" cy="5715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70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700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코드와 문서의 불일치를 실제로 정정</a:t>
            </a:r>
          </a:p>
        </p:txBody>
      </p:sp>
      <p:sp>
        <p:nvSpPr>
          <p:cNvPr id="26" name="GUAM_PR213_scope">
            <a:extLst>
              <a:ext uri="{FF2B5EF4-FFF2-40B4-BE49-F238E27FC236}">
                <a16:creationId xmlns:a16="http://schemas.microsoft.com/office/drawing/2014/main" id="{9E8C473C-5A3E-4B08-8BED-164CE571D6D3}"/>
              </a:ext>
            </a:extLst>
          </p:cNvPr>
          <p:cNvSpPr>
            <a:spLocks noGrp="1"/>
          </p:cNvSpPr>
          <p:nvPr/>
        </p:nvSpPr>
        <p:spPr>
          <a:xfrm>
            <a:off x="9382125" y="3990975"/>
            <a:ext cx="7905750" cy="4762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PR #213 실제 변경 전후 · docs/API-SPEC.md</a:t>
            </a:r>
          </a:p>
        </p:txBody>
      </p:sp>
      <p:sp>
        <p:nvSpPr>
          <p:cNvPr id="27" name="GUAM_PR213_example1">
            <a:extLst>
              <a:ext uri="{FF2B5EF4-FFF2-40B4-BE49-F238E27FC236}">
                <a16:creationId xmlns:a16="http://schemas.microsoft.com/office/drawing/2014/main" id="{82324F7A-3CE6-4C4A-9D65-0C8F2BD6E097}"/>
              </a:ext>
            </a:extLst>
          </p:cNvPr>
          <p:cNvSpPr>
            <a:spLocks noGrp="1"/>
          </p:cNvSpPr>
          <p:nvPr/>
        </p:nvSpPr>
        <p:spPr>
          <a:xfrm>
            <a:off x="9382125" y="4562475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사용 안내: 목표 API와 실행 가능한 예제 구분</a:t>
            </a:r>
          </a:p>
        </p:txBody>
      </p:sp>
      <p:sp>
        <p:nvSpPr>
          <p:cNvPr id="28" name="GUAM_PR213_before1">
            <a:extLst>
              <a:ext uri="{FF2B5EF4-FFF2-40B4-BE49-F238E27FC236}">
                <a16:creationId xmlns:a16="http://schemas.microsoft.com/office/drawing/2014/main" id="{03E37160-FAE5-43BA-B2C2-338C21C0F583}"/>
              </a:ext>
            </a:extLst>
          </p:cNvPr>
          <p:cNvSpPr>
            <a:spLocks noGrp="1"/>
          </p:cNvSpPr>
          <p:nvPr/>
        </p:nvSpPr>
        <p:spPr>
          <a:xfrm>
            <a:off x="9382125" y="5057775"/>
            <a:ext cx="7905750" cy="781050"/>
          </a:xfrm>
          <a:prstGeom prst="rect">
            <a:avLst/>
          </a:prstGeom>
          <a:solidFill>
            <a:srgbClr val="FFF0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− 아래는 GUAM이 완성되었을 때의</a:t>
            </a:r>
          </a:p>
          <a:p>
            <a:pPr>
              <a:def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   목표 사용자 API이다.</a:t>
            </a:r>
          </a:p>
        </p:txBody>
      </p:sp>
      <p:sp>
        <p:nvSpPr>
          <p:cNvPr id="29" name="GUAM_PR213_after1">
            <a:extLst>
              <a:ext uri="{FF2B5EF4-FFF2-40B4-BE49-F238E27FC236}">
                <a16:creationId xmlns:a16="http://schemas.microsoft.com/office/drawing/2014/main" id="{B7120B91-0752-411F-A8A1-B6932C5A5DFD}"/>
              </a:ext>
            </a:extLst>
          </p:cNvPr>
          <p:cNvSpPr>
            <a:spLocks noGrp="1"/>
          </p:cNvSpPr>
          <p:nvPr/>
        </p:nvSpPr>
        <p:spPr>
          <a:xfrm>
            <a:off x="9382125" y="5895975"/>
            <a:ext cx="7905750" cy="781050"/>
          </a:xfrm>
          <a:prstGeom prst="rect">
            <a:avLst/>
          </a:prstGeom>
          <a:solidFill>
            <a:srgbClr val="ECF6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아래는 현재 공개된 TabularAutoML 기본 프리셋의</a:t>
            </a:r>
          </a:p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   GPU 실행 예제다.</a:t>
            </a:r>
          </a:p>
        </p:txBody>
      </p:sp>
      <p:sp>
        <p:nvSpPr>
          <p:cNvPr id="30" name="GUAM_PR213_after2">
            <a:extLst>
              <a:ext uri="{FF2B5EF4-FFF2-40B4-BE49-F238E27FC236}">
                <a16:creationId xmlns:a16="http://schemas.microsoft.com/office/drawing/2014/main" id="{D60E5474-A8B7-42F5-BAD4-0AEE01F259B4}"/>
              </a:ext>
            </a:extLst>
          </p:cNvPr>
          <p:cNvSpPr>
            <a:spLocks noGrp="1"/>
          </p:cNvSpPr>
          <p:nvPr/>
        </p:nvSpPr>
        <p:spPr>
          <a:xfrm>
            <a:off x="9382125" y="6677025"/>
            <a:ext cx="7905750" cy="781050"/>
          </a:xfrm>
          <a:prstGeom prst="rect">
            <a:avLst/>
          </a:prstGeom>
          <a:solidFill>
            <a:srgbClr val="ECF6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GPU 런타임과 선택한 알고리즘 모듈이</a:t>
            </a:r>
          </a:p>
          <a:p>
            <a:pPr>
              <a:def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   준비되어 있어야 실행할 수 있다.</a:t>
            </a:r>
          </a:p>
        </p:txBody>
      </p:sp>
      <p:sp>
        <p:nvSpPr>
          <p:cNvPr id="31" name="GUAM_PR213_example2">
            <a:extLst>
              <a:ext uri="{FF2B5EF4-FFF2-40B4-BE49-F238E27FC236}">
                <a16:creationId xmlns:a16="http://schemas.microsoft.com/office/drawing/2014/main" id="{B0FB829E-CC08-4B2B-B23E-7EA28EAD9D73}"/>
              </a:ext>
            </a:extLst>
          </p:cNvPr>
          <p:cNvSpPr>
            <a:spLocks noGrp="1"/>
          </p:cNvSpPr>
          <p:nvPr/>
        </p:nvSpPr>
        <p:spPr>
          <a:xfrm>
            <a:off x="9382125" y="7620000"/>
            <a:ext cx="79057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>
                <a:solidFill>
                  <a:srgbClr val="1B3047"/>
                </a:solidFill>
                <a:latin typeface="Noto Sans Kr"/>
                <a:ea typeface="Noto Sans Kr"/>
                <a:cs typeface="Noto Sans Kr"/>
              </a:rPr>
              <a:t>모듈 상태: RandomForestGPU</a:t>
            </a:r>
          </a:p>
        </p:txBody>
      </p:sp>
      <p:sp>
        <p:nvSpPr>
          <p:cNvPr id="32" name="GUAM_PR213_before2">
            <a:extLst>
              <a:ext uri="{FF2B5EF4-FFF2-40B4-BE49-F238E27FC236}">
                <a16:creationId xmlns:a16="http://schemas.microsoft.com/office/drawing/2014/main" id="{00840FA5-1BBA-4457-88B3-3DB49F949F3B}"/>
              </a:ext>
            </a:extLst>
          </p:cNvPr>
          <p:cNvSpPr>
            <a:spLocks noGrp="1"/>
          </p:cNvSpPr>
          <p:nvPr/>
        </p:nvSpPr>
        <p:spPr>
          <a:xfrm>
            <a:off x="9382125" y="8077200"/>
            <a:ext cx="7905750" cy="419100"/>
          </a:xfrm>
          <a:prstGeom prst="rect">
            <a:avLst/>
          </a:prstGeom>
          <a:solidFill>
            <a:srgbClr val="FFF0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9C343B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9C343B"/>
                </a:solidFill>
                <a:latin typeface="Noto Sans Kr"/>
                <a:ea typeface="Noto Sans Kr"/>
                <a:cs typeface="Noto Sans Kr"/>
              </a:rPr>
              <a:t>− stub (ML-04에서 구현)</a:t>
            </a:r>
          </a:p>
        </p:txBody>
      </p:sp>
      <p:sp>
        <p:nvSpPr>
          <p:cNvPr id="33" name="GUAM_PR213_after3">
            <a:extLst>
              <a:ext uri="{FF2B5EF4-FFF2-40B4-BE49-F238E27FC236}">
                <a16:creationId xmlns:a16="http://schemas.microsoft.com/office/drawing/2014/main" id="{15CF88CE-388F-4246-A5B7-AD5511DE0D3C}"/>
              </a:ext>
            </a:extLst>
          </p:cNvPr>
          <p:cNvSpPr>
            <a:spLocks noGrp="1"/>
          </p:cNvSpPr>
          <p:nvPr/>
        </p:nvSpPr>
        <p:spPr>
          <a:xfrm>
            <a:off x="9382125" y="8496300"/>
            <a:ext cx="7905750" cy="419100"/>
          </a:xfrm>
          <a:prstGeom prst="rect">
            <a:avLst/>
          </a:prstGeom>
          <a:solidFill>
            <a:srgbClr val="ECF6EF"/>
          </a:solidFill>
          <a:ln w="0">
            <a:noFill/>
          </a:ln>
        </p:spPr>
        <p:txBody>
          <a:bodyPr>
            <a:noAutofit/>
          </a:bodyPr>
          <a:lstStyle/>
          <a:p>
            <a:pPr>
              <a:defRPr sz="1875" b="0">
                <a:solidFill>
                  <a:srgbClr val="216347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0">
                <a:solidFill>
                  <a:srgbClr val="216347"/>
                </a:solidFill>
                <a:latin typeface="Noto Sans Kr"/>
                <a:ea typeface="Noto Sans Kr"/>
                <a:cs typeface="Noto Sans Kr"/>
              </a:rPr>
              <a:t>+ 구현 완료 (guam/ml_algo/random_forest.py)</a:t>
            </a:r>
          </a:p>
        </p:txBody>
      </p:sp>
      <p:sp>
        <p:nvSpPr>
          <p:cNvPr id="34" name="GUAM_PR213_result">
            <a:extLst>
              <a:ext uri="{FF2B5EF4-FFF2-40B4-BE49-F238E27FC236}">
                <a16:creationId xmlns:a16="http://schemas.microsoft.com/office/drawing/2014/main" id="{517995E1-2D85-4622-BD1D-882A5EF344D4}"/>
              </a:ext>
            </a:extLst>
          </p:cNvPr>
          <p:cNvSpPr>
            <a:spLocks noGrp="1"/>
          </p:cNvSpPr>
          <p:nvPr/>
        </p:nvSpPr>
        <p:spPr>
          <a:xfrm>
            <a:off x="9382125" y="9086850"/>
            <a:ext cx="7905750" cy="4476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950" b="1">
                <a:solidFill>
                  <a:srgbClr val="3165A9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1">
                <a:solidFill>
                  <a:srgbClr val="3165A9"/>
                </a:solidFill>
                <a:latin typeface="Noto Sans Kr"/>
                <a:ea typeface="Noto Sans Kr"/>
                <a:cs typeface="Noto Sans Kr"/>
              </a:rPr>
              <a:t>31개 파일 정비 · 2026.09.01 PR 병합 완료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1142</Words>
  <Application>Microsoft Office PowerPoint</Application>
  <PresentationFormat>사용자 지정</PresentationFormat>
  <Paragraphs>201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Arial</vt:lpstr>
      <vt:lpstr>Mandali</vt:lpstr>
      <vt:lpstr>Calibri</vt:lpstr>
      <vt:lpstr>Noto Sans Kr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이정민_포트폴리오.pptx</dc:title>
  <cp:lastModifiedBy>AI-00</cp:lastModifiedBy>
  <cp:revision>2</cp:revision>
  <dcterms:created xsi:type="dcterms:W3CDTF">2006-08-16T00:00:00Z</dcterms:created>
  <dcterms:modified xsi:type="dcterms:W3CDTF">2026-09-21T07:37:25Z</dcterms:modified>
  <dc:identifier>DAHVzXPJomk</dc:identifier>
</cp:coreProperties>
</file>